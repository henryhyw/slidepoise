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c40e79226466b" /><Relationship Type="http://schemas.openxmlformats.org/officeDocument/2006/relationships/extended-properties" Target="/docProps/app.xml" Id="R073341257de64713" /><Relationship Type="http://schemas.openxmlformats.org/officeDocument/2006/relationships/officeDocument" Target="/ppt/presentation.xml" Id="Rd478f452b035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5733856d44762"/>
  </p:sldMasterIdLst>
  <p:notesMasterIdLst>
    <p:notesMasterId xmlns:r="http://schemas.openxmlformats.org/officeDocument/2006/relationships" r:id="R3fe755dbe1904b8b"/>
  </p:notesMasterIdLst>
  <p:sldIdLst>
    <p:sldId xmlns:r="http://schemas.openxmlformats.org/officeDocument/2006/relationships" id="256" r:id="R3f8d946c94c649e7"/>
    <p:sldId xmlns:r="http://schemas.openxmlformats.org/officeDocument/2006/relationships" id="257" r:id="Rc768d7f1ed054e58"/>
    <p:sldId xmlns:r="http://schemas.openxmlformats.org/officeDocument/2006/relationships" id="258" r:id="R9686969f724140ca"/>
    <p:sldId xmlns:r="http://schemas.openxmlformats.org/officeDocument/2006/relationships" id="259" r:id="R02195d2fabfa47ce"/>
    <p:sldId xmlns:r="http://schemas.openxmlformats.org/officeDocument/2006/relationships" id="260" r:id="Rc2de0d4e1fbe4992"/>
    <p:sldId xmlns:r="http://schemas.openxmlformats.org/officeDocument/2006/relationships" id="261" r:id="R732017fad11c4632"/>
    <p:sldId xmlns:r="http://schemas.openxmlformats.org/officeDocument/2006/relationships" id="262" r:id="R64d8a899cced4335"/>
    <p:sldId xmlns:r="http://schemas.openxmlformats.org/officeDocument/2006/relationships" id="263" r:id="R306105207c594b6b"/>
    <p:sldId xmlns:r="http://schemas.openxmlformats.org/officeDocument/2006/relationships" id="264" r:id="R8fb9bea528204fec"/>
    <p:sldId xmlns:r="http://schemas.openxmlformats.org/officeDocument/2006/relationships" id="265" r:id="R6d8daadd620441a6"/>
    <p:sldId xmlns:r="http://schemas.openxmlformats.org/officeDocument/2006/relationships" id="266" r:id="R2a03ba8f9ec9431c"/>
    <p:sldId xmlns:r="http://schemas.openxmlformats.org/officeDocument/2006/relationships" id="267" r:id="Re144d299a2bd475c"/>
    <p:sldId xmlns:r="http://schemas.openxmlformats.org/officeDocument/2006/relationships" id="268" r:id="Rd859bbb8ed4c49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131ba422e4faa" /><Relationship Type="http://schemas.openxmlformats.org/officeDocument/2006/relationships/slideMaster" Target="/ppt/slideMasters/slideMaster1.xml" Id="Ref95733856d44762" /><Relationship Type="http://schemas.openxmlformats.org/officeDocument/2006/relationships/notesMaster" Target="/ppt/notesMasters/notesMaster1.xml" Id="R3fe755dbe1904b8b" /><Relationship Type="http://schemas.openxmlformats.org/officeDocument/2006/relationships/presProps" Target="/ppt/presProps.xml" Id="R00789ec6c9a146e6" /><Relationship Type="http://schemas.openxmlformats.org/officeDocument/2006/relationships/tableStyles" Target="/ppt/tableStyles.xml" Id="R25b4c73cdb45424a" /><Relationship Type="http://schemas.openxmlformats.org/officeDocument/2006/relationships/slide" Target="/ppt/slides/slide1.xml" Id="R3f8d946c94c649e7" /><Relationship Type="http://schemas.openxmlformats.org/officeDocument/2006/relationships/slide" Target="/ppt/slides/slide2.xml" Id="Rc768d7f1ed054e58" /><Relationship Type="http://schemas.openxmlformats.org/officeDocument/2006/relationships/slide" Target="/ppt/slides/slide3.xml" Id="R9686969f724140ca" /><Relationship Type="http://schemas.openxmlformats.org/officeDocument/2006/relationships/slide" Target="/ppt/slides/slide4.xml" Id="R02195d2fabfa47ce" /><Relationship Type="http://schemas.openxmlformats.org/officeDocument/2006/relationships/slide" Target="/ppt/slides/slide5.xml" Id="Rc2de0d4e1fbe4992" /><Relationship Type="http://schemas.openxmlformats.org/officeDocument/2006/relationships/slide" Target="/ppt/slides/slide6.xml" Id="R732017fad11c4632" /><Relationship Type="http://schemas.openxmlformats.org/officeDocument/2006/relationships/slide" Target="/ppt/slides/slide7.xml" Id="R64d8a899cced4335" /><Relationship Type="http://schemas.openxmlformats.org/officeDocument/2006/relationships/slide" Target="/ppt/slides/slide8.xml" Id="R306105207c594b6b" /><Relationship Type="http://schemas.openxmlformats.org/officeDocument/2006/relationships/slide" Target="/ppt/slides/slide9.xml" Id="R8fb9bea528204fec" /><Relationship Type="http://schemas.openxmlformats.org/officeDocument/2006/relationships/slide" Target="/ppt/slides/slide10.xml" Id="R6d8daadd620441a6" /><Relationship Type="http://schemas.openxmlformats.org/officeDocument/2006/relationships/slide" Target="/ppt/slides/slide11.xml" Id="R2a03ba8f9ec9431c" /><Relationship Type="http://schemas.openxmlformats.org/officeDocument/2006/relationships/slide" Target="/ppt/slides/slide12.xml" Id="Re144d299a2bd475c" /><Relationship Type="http://schemas.openxmlformats.org/officeDocument/2006/relationships/slide" Target="/ppt/slides/slide13.xml" Id="Rd859bbb8ed4c49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3013908edf4a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8748c841e4514" /><Relationship Type="http://schemas.openxmlformats.org/officeDocument/2006/relationships/notesMaster" Target="/ppt/notesMasters/notesMaster1.xml" Id="R69965ddaae7f46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40f971c514503" /><Relationship Type="http://schemas.openxmlformats.org/officeDocument/2006/relationships/notesMaster" Target="/ppt/notesMasters/notesMaster1.xml" Id="Rf4ee9583ef6a4c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0e2f0a8924886" /><Relationship Type="http://schemas.openxmlformats.org/officeDocument/2006/relationships/notesMaster" Target="/ppt/notesMasters/notesMaster1.xml" Id="Rc4e5a615c5b547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3328b83674d11" /><Relationship Type="http://schemas.openxmlformats.org/officeDocument/2006/relationships/notesMaster" Target="/ppt/notesMasters/notesMaster1.xml" Id="R5fa7670e8034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66a9a31a14055" /><Relationship Type="http://schemas.openxmlformats.org/officeDocument/2006/relationships/notesMaster" Target="/ppt/notesMasters/notesMaster1.xml" Id="R95333b8b35c9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d1b045e31f407d" /><Relationship Type="http://schemas.openxmlformats.org/officeDocument/2006/relationships/notesMaster" Target="/ppt/notesMasters/notesMaster1.xml" Id="R718e8cb68b19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9bc7f36bc04226" /><Relationship Type="http://schemas.openxmlformats.org/officeDocument/2006/relationships/notesMaster" Target="/ppt/notesMasters/notesMaster1.xml" Id="R9cc6f410002e40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788581e634038" /><Relationship Type="http://schemas.openxmlformats.org/officeDocument/2006/relationships/notesMaster" Target="/ppt/notesMasters/notesMaster1.xml" Id="R9a95f67b1be34d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c2cd5af0d34931" /><Relationship Type="http://schemas.openxmlformats.org/officeDocument/2006/relationships/notesMaster" Target="/ppt/notesMasters/notesMaster1.xml" Id="Rfdf21af80a80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de967bb0234850" /><Relationship Type="http://schemas.openxmlformats.org/officeDocument/2006/relationships/notesMaster" Target="/ppt/notesMasters/notesMaster1.xml" Id="R655ac31d07d040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d90cb61b184456" /><Relationship Type="http://schemas.openxmlformats.org/officeDocument/2006/relationships/notesMaster" Target="/ppt/notesMasters/notesMaster1.xml" Id="R4472ddf7cac846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4a866448f0438b" /><Relationship Type="http://schemas.openxmlformats.org/officeDocument/2006/relationships/notesMaster" Target="/ppt/notesMasters/notesMaster1.xml" Id="R714cdf181e2f48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d4705c751a40d6" /><Relationship Type="http://schemas.openxmlformats.org/officeDocument/2006/relationships/notesMaster" Target="/ppt/notesMasters/notesMaster1.xml" Id="R8377fefc17084d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ce51b1b9143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7744b332554882" /><Relationship Type="http://schemas.openxmlformats.org/officeDocument/2006/relationships/slideLayout" Target="/ppt/slideLayouts/slideLayout1.xml" Id="R07535411496c4e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535411496c4e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5ceab4a754bcd" /><Relationship Type="http://schemas.openxmlformats.org/officeDocument/2006/relationships/chart" Target="/ppt/slides/charts/chart1.xml" Id="R7e9105d8cfc14255" /><Relationship Type="http://schemas.openxmlformats.org/officeDocument/2006/relationships/notesSlide" Target="/ppt/notesSlides/notesSlide1.xml" Id="R9591417a94c749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0a8735284f31" /><Relationship Type="http://schemas.openxmlformats.org/officeDocument/2006/relationships/chart" Target="/ppt/slides/charts/chart2.xml" Id="R7c19747dc64d48cc" /><Relationship Type="http://schemas.openxmlformats.org/officeDocument/2006/relationships/notesSlide" Target="/ppt/notesSlides/notesSlide2.xml" Id="R504882a4476c4c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1a1463b79496c" /><Relationship Type="http://schemas.openxmlformats.org/officeDocument/2006/relationships/chart" Target="/ppt/slides/charts/chart3.xml" Id="Reb0a315c98094428" /><Relationship Type="http://schemas.openxmlformats.org/officeDocument/2006/relationships/notesSlide" Target="/ppt/notesSlides/notesSlide3.xml" Id="R62bf6f7c856f46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7f8b294b4edb" /><Relationship Type="http://schemas.openxmlformats.org/officeDocument/2006/relationships/chart" Target="/ppt/slides/charts/chart4.xml" Id="R7768066acce84e1f" /><Relationship Type="http://schemas.openxmlformats.org/officeDocument/2006/relationships/notesSlide" Target="/ppt/notesSlides/notesSlide4.xml" Id="Rd0f25c4dcc3642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5e2d1a3f34e95" /><Relationship Type="http://schemas.openxmlformats.org/officeDocument/2006/relationships/chart" Target="/ppt/slides/charts/chart5.xml" Id="Rdcb8ef652b7f4ef2" /><Relationship Type="http://schemas.openxmlformats.org/officeDocument/2006/relationships/notesSlide" Target="/ppt/notesSlides/notesSlide5.xml" Id="R4720d988564f42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a07671eec45dc" /><Relationship Type="http://schemas.openxmlformats.org/officeDocument/2006/relationships/chart" Target="/ppt/slides/charts/chart6.xml" Id="R9a1b5d89612445d0" /><Relationship Type="http://schemas.openxmlformats.org/officeDocument/2006/relationships/notesSlide" Target="/ppt/notesSlides/notesSlide6.xml" Id="Reda5adfd6ed441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7c08c6214033" /><Relationship Type="http://schemas.openxmlformats.org/officeDocument/2006/relationships/chart" Target="/ppt/slides/charts/chart7.xml" Id="R2dab17c01b6a4676" /><Relationship Type="http://schemas.openxmlformats.org/officeDocument/2006/relationships/notesSlide" Target="/ppt/notesSlides/notesSlide7.xml" Id="R16d7c8a37ac64a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0a1d5e4dc4983" /><Relationship Type="http://schemas.openxmlformats.org/officeDocument/2006/relationships/chart" Target="/ppt/slides/charts/chart8.xml" Id="R10c533c7284d4929" /><Relationship Type="http://schemas.openxmlformats.org/officeDocument/2006/relationships/notesSlide" Target="/ppt/notesSlides/notesSlide8.xml" Id="R7276dc44902e4c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f7f8869f34ce4" /><Relationship Type="http://schemas.openxmlformats.org/officeDocument/2006/relationships/chart" Target="/ppt/slides/charts/chart9.xml" Id="R023b4a533ee84220" /><Relationship Type="http://schemas.openxmlformats.org/officeDocument/2006/relationships/notesSlide" Target="/ppt/notesSlides/notesSlide9.xml" Id="R2a1984e52e5e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d42867e2f421a" /><Relationship Type="http://schemas.openxmlformats.org/officeDocument/2006/relationships/notesSlide" Target="/ppt/notesSlides/notesSlide10.xml" Id="R08bace5c028140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922d9f14a46b7" /><Relationship Type="http://schemas.openxmlformats.org/officeDocument/2006/relationships/notesSlide" Target="/ppt/notesSlides/notesSlide11.xml" Id="R37d3d4243a1c46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7a7a454dc411e" /><Relationship Type="http://schemas.openxmlformats.org/officeDocument/2006/relationships/notesSlide" Target="/ppt/notesSlides/notesSlide12.xml" Id="R0112ca2eba9143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d64a061d2462f" /><Relationship Type="http://schemas.openxmlformats.org/officeDocument/2006/relationships/notesSlide" Target="/ppt/notesSlides/notesSlide13.xml" Id="R81f16e8ea46a4016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F05A28"/>
              </a:solidFill>
            </c:spPr>
          </c:dPt>
          <c:dPt>
            <c:idx val="1"/>
            <c:spPr>
              <a:solidFill xmlns:a="http://schemas.openxmlformats.org/drawingml/2006/main">
                <a:srgbClr val="F47B45"/>
              </a:solidFill>
            </c:spPr>
          </c:dPt>
          <c:dPt>
            <c:idx val="2"/>
            <c:spPr>
              <a:solidFill xmlns:a="http://schemas.openxmlformats.org/drawingml/2006/main">
                <a:srgbClr val="F7AA78"/>
              </a:solidFill>
            </c:spPr>
          </c:dPt>
          <c:dPt>
            <c:idx val="3"/>
            <c:spPr>
              <a:solidFill xmlns:a="http://schemas.openxmlformats.org/drawingml/2006/main">
                <a:srgbClr val="A5ABB3"/>
              </a:solidFill>
            </c:spPr>
          </c:dPt>
          <c:cat>
            <c:strLit>
              <c:ptCount val="4"/>
              <c:pt idx="0">
                <c:v>Core</c:v>
              </c:pt>
              <c:pt idx="1">
                <c:v>Growth</c:v>
              </c:pt>
              <c:pt idx="2">
                <c:v>Emerging</c:v>
              </c:pt>
              <c:pt idx="3">
                <c:v>Other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28</c:v>
              </c:pt>
              <c:pt idx="2">
                <c:v>18</c:v>
              </c:pt>
              <c:pt idx="3">
                <c:v>12</c:v>
              </c:pt>
            </c:numLit>
          </c:val>
        </c:ser>
        <c:holeSize val="72"/>
      </c:doughnut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171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719"/>
                </a:solidFill>
              </a:rPr>
              <a:t>Illustrative performance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719"/>
              </a:solidFill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Value</c:v>
          </c:tx>
          <c:dPt>
            <c:idx val="0"/>
            <c:invertIfNegative val="0"/>
            <c:spPr>
              <a:solidFill xmlns:a="http://schemas.openxmlformats.org/drawingml/2006/main">
                <a:srgbClr val="F05A2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7B4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7AA78"/>
              </a:solidFill>
            </c:spPr>
          </c:dPt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General</c:formatCode>
              <c:ptCount val="3"/>
              <c:pt idx="0">
                <c:v>23</c:v>
              </c:pt>
              <c:pt idx="1">
                <c:v>35</c:v>
              </c:pt>
              <c:pt idx="2">
                <c:v>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7171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F05A28"/>
            </a:solidFill>
          </c:spPr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19</c:v>
              </c:pt>
              <c:pt idx="1">
                <c:v>27</c:v>
              </c:pt>
              <c:pt idx="2">
                <c:v>31</c:v>
              </c:pt>
              <c:pt idx="3">
                <c:v>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7171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E5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area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F7AA78"/>
            </a:solidFill>
            <a:ln xmlns:a="http://schemas.openxmlformats.org/drawingml/2006/main" w="19050">
              <a:solidFill>
                <a:srgbClr val="F7AA78"/>
              </a:solidFill>
              <a:prstDash val="solid"/>
            </a:ln>
          </c:spPr>
          <c:cat>
            <c:strLit>
              <c:ptCount val="5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</c:strLit>
          </c:cat>
          <c:val>
            <c:numLit>
              <c:formatCode>General</c:formatCode>
              <c:ptCount val="5"/>
              <c:pt idx="0">
                <c:v>22</c:v>
              </c:pt>
              <c:pt idx="1">
                <c:v>27</c:v>
              </c:pt>
              <c:pt idx="2">
                <c:v>25</c:v>
              </c:pt>
              <c:pt idx="3">
                <c:v>34</c:v>
              </c:pt>
              <c:pt idx="4">
                <c:v>38</c:v>
              </c:pt>
            </c:numLit>
          </c:val>
        </c:ser>
        <c:ser>
          <c:idx val="1"/>
          <c:order val="1"/>
          <c:tx>
            <c:v>Growth</c:v>
          </c:tx>
          <c:spPr>
            <a:solidFill xmlns:a="http://schemas.openxmlformats.org/drawingml/2006/main">
              <a:srgbClr val="F05A28"/>
            </a:solidFill>
            <a:ln xmlns:a="http://schemas.openxmlformats.org/drawingml/2006/main" w="19050">
              <a:solidFill>
                <a:srgbClr val="F05A28"/>
              </a:solidFill>
              <a:prstDash val="solid"/>
            </a:ln>
          </c:spPr>
          <c:cat>
            <c:strLit>
              <c:ptCount val="5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</c:strLit>
          </c:cat>
          <c:val>
            <c:numLit>
              <c:formatCode>General</c:formatCode>
              <c:ptCount val="5"/>
              <c:pt idx="0">
                <c:v>13</c:v>
              </c:pt>
              <c:pt idx="1">
                <c:v>17</c:v>
              </c:pt>
              <c:pt idx="2">
                <c:v>21</c:v>
              </c:pt>
              <c:pt idx="3">
                <c:v>26</c:v>
              </c:pt>
              <c:pt idx="4">
                <c:v>32</c:v>
              </c:pt>
            </c:numLit>
          </c:val>
        </c:ser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171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Core</c:v>
          </c:tx>
          <c:spPr>
            <a:solidFill xmlns:a="http://schemas.openxmlformats.org/drawingml/2006/main">
              <a:srgbClr val="F05A28"/>
            </a:solidFill>
          </c:spPr>
          <c:cat>
            <c:strLit>
              <c:ptCount val="3"/>
              <c:pt idx="0">
                <c:v>North</c:v>
              </c:pt>
              <c:pt idx="1">
                <c:v>Central</c:v>
              </c:pt>
              <c:pt idx="2">
                <c:v>South</c:v>
              </c:pt>
            </c:strLit>
          </c:cat>
          <c:val>
            <c:numLit>
              <c:formatCode>General</c:formatCode>
              <c:ptCount val="3"/>
              <c:pt idx="0">
                <c:v>30</c:v>
              </c:pt>
              <c:pt idx="1">
                <c:v>26</c:v>
              </c:pt>
              <c:pt idx="2">
                <c:v>34</c:v>
              </c:pt>
            </c:numLit>
          </c:val>
        </c:ser>
        <c:ser>
          <c:idx val="1"/>
          <c:order val="1"/>
          <c:tx>
            <c:v>Growth</c:v>
          </c:tx>
          <c:spPr>
            <a:solidFill xmlns:a="http://schemas.openxmlformats.org/drawingml/2006/main">
              <a:srgbClr val="F47B45"/>
            </a:solidFill>
          </c:spPr>
          <c:cat>
            <c:strLit>
              <c:ptCount val="3"/>
              <c:pt idx="0">
                <c:v>North</c:v>
              </c:pt>
              <c:pt idx="1">
                <c:v>Central</c:v>
              </c:pt>
              <c:pt idx="2">
                <c:v>South</c:v>
              </c:pt>
            </c:strLit>
          </c:cat>
          <c:val>
            <c:numLit>
              <c:formatCode>General</c:formatCode>
              <c:ptCount val="3"/>
              <c:pt idx="0">
                <c:v>20</c:v>
              </c:pt>
              <c:pt idx="1">
                <c:v>22</c:v>
              </c:pt>
              <c:pt idx="2">
                <c:v>18</c:v>
              </c:pt>
            </c:numLit>
          </c:val>
        </c:ser>
        <c:ser>
          <c:idx val="2"/>
          <c:order val="2"/>
          <c:tx>
            <c:v>Other</c:v>
          </c:tx>
          <c:spPr>
            <a:solidFill xmlns:a="http://schemas.openxmlformats.org/drawingml/2006/main">
              <a:srgbClr val="F7AA78"/>
            </a:solidFill>
          </c:spPr>
          <c:cat>
            <c:strLit>
              <c:ptCount val="3"/>
              <c:pt idx="0">
                <c:v>North</c:v>
              </c:pt>
              <c:pt idx="1">
                <c:v>Central</c:v>
              </c:pt>
              <c:pt idx="2">
                <c:v>South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10</c:v>
              </c:pt>
              <c:pt idx="2">
                <c:v>14</c:v>
              </c:pt>
            </c:numLit>
          </c:val>
        </c:ser>
        <c:gapWidth val="7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171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Current</c:v>
          </c:tx>
          <c:spPr>
            <a:solidFill xmlns:a="http://schemas.openxmlformats.org/drawingml/2006/main">
              <a:srgbClr val="F05A28"/>
            </a:solidFill>
          </c:spPr>
          <c:cat>
            <c:strLit>
              <c:ptCount val="3"/>
              <c:pt idx="0">
                <c:v>North</c:v>
              </c:pt>
              <c:pt idx="1">
                <c:v>Central</c:v>
              </c:pt>
              <c:pt idx="2">
                <c:v>South</c:v>
              </c:pt>
            </c:strLit>
          </c:cat>
          <c:val>
            <c:numLit>
              <c:formatCode>General</c:formatCode>
              <c:ptCount val="3"/>
              <c:pt idx="0">
                <c:v>42</c:v>
              </c:pt>
              <c:pt idx="1">
                <c:v>35</c:v>
              </c:pt>
              <c:pt idx="2">
                <c:v>31</c:v>
              </c:pt>
            </c:numLit>
          </c:val>
        </c:ser>
        <c:ser>
          <c:idx val="1"/>
          <c:order val="1"/>
          <c:tx>
            <c:v>Target</c:v>
          </c:tx>
          <c:spPr>
            <a:solidFill xmlns:a="http://schemas.openxmlformats.org/drawingml/2006/main">
              <a:srgbClr val="F47B45"/>
            </a:solidFill>
          </c:spPr>
          <c:cat>
            <c:strLit>
              <c:ptCount val="3"/>
              <c:pt idx="0">
                <c:v>North</c:v>
              </c:pt>
              <c:pt idx="1">
                <c:v>Central</c:v>
              </c:pt>
              <c:pt idx="2">
                <c:v>South</c:v>
              </c:pt>
            </c:strLit>
          </c:cat>
          <c:val>
            <c:numLit>
              <c:formatCode>General</c:formatCode>
              <c:ptCount val="3"/>
              <c:pt idx="0">
                <c:v>47</c:v>
              </c:pt>
              <c:pt idx="1">
                <c:v>41</c:v>
              </c:pt>
              <c:pt idx="2">
                <c:v>39</c:v>
              </c:pt>
            </c:numLit>
          </c:val>
        </c:ser>
        <c:ser>
          <c:idx val="2"/>
          <c:order val="2"/>
          <c:tx>
            <c:v>Reference</c:v>
          </c:tx>
          <c:spPr>
            <a:solidFill xmlns:a="http://schemas.openxmlformats.org/drawingml/2006/main">
              <a:srgbClr val="A5ABB3"/>
            </a:solidFill>
          </c:spPr>
          <c:cat>
            <c:strLit>
              <c:ptCount val="3"/>
              <c:pt idx="0">
                <c:v>North</c:v>
              </c:pt>
              <c:pt idx="1">
                <c:v>Central</c:v>
              </c:pt>
              <c:pt idx="2">
                <c:v>South</c:v>
              </c:pt>
            </c:strLit>
          </c:cat>
          <c:val>
            <c:numLit>
              <c:formatCode>General</c:formatCode>
              <c:ptCount val="3"/>
              <c:pt idx="0">
                <c:v>38</c:v>
              </c:pt>
              <c:pt idx="1">
                <c:v>33</c:v>
              </c:pt>
              <c:pt idx="2">
                <c:v>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171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171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Current</c:v>
          </c:tx>
          <c:spPr>
            <a:solidFill xmlns:a="http://schemas.openxmlformats.org/drawingml/2006/main">
              <a:srgbClr val="F05A28"/>
            </a:solidFill>
          </c:spPr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22</c:v>
              </c:pt>
              <c:pt idx="1">
                <c:v>27</c:v>
              </c:pt>
              <c:pt idx="2">
                <c:v>31</c:v>
              </c:pt>
              <c:pt idx="3">
                <c:v>36</c:v>
              </c:pt>
            </c:numLit>
          </c:val>
        </c:ser>
        <c:ser>
          <c:idx val="1"/>
          <c:order val="1"/>
          <c:tx>
            <c:v>Target</c:v>
          </c:tx>
          <c:spPr>
            <a:solidFill xmlns:a="http://schemas.openxmlformats.org/drawingml/2006/main">
              <a:srgbClr val="F7AA78"/>
            </a:solidFill>
          </c:spPr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31</c:v>
              </c:pt>
              <c:pt idx="2">
                <c:v>35</c:v>
              </c:pt>
              <c:pt idx="3">
                <c:v>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171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171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F05A28"/>
              </a:solidFill>
            </c:spPr>
          </c:dPt>
          <c:dPt>
            <c:idx val="1"/>
            <c:spPr>
              <a:solidFill xmlns:a="http://schemas.openxmlformats.org/drawingml/2006/main">
                <a:srgbClr val="F47B45"/>
              </a:solidFill>
            </c:spPr>
          </c:dPt>
          <c:dPt>
            <c:idx val="2"/>
            <c:spPr>
              <a:solidFill xmlns:a="http://schemas.openxmlformats.org/drawingml/2006/main">
                <a:srgbClr val="F7AA78"/>
              </a:solidFill>
            </c:spPr>
          </c:dPt>
          <c:dPt>
            <c:idx val="3"/>
            <c:spPr>
              <a:solidFill xmlns:a="http://schemas.openxmlformats.org/drawingml/2006/main">
                <a:srgbClr val="A5ABB3"/>
              </a:solidFill>
            </c:spPr>
          </c:dPt>
          <c:cat>
            <c:strLit>
              <c:ptCount val="4"/>
              <c:pt idx="0">
                <c:v>Core</c:v>
              </c:pt>
              <c:pt idx="1">
                <c:v>Growth</c:v>
              </c:pt>
              <c:pt idx="2">
                <c:v>Emerging</c:v>
              </c:pt>
              <c:pt idx="3">
                <c:v>Other</c:v>
              </c:pt>
            </c:strLit>
          </c:cat>
          <c:val>
            <c:numLit>
              <c:formatCode>General</c:formatCode>
              <c:ptCount val="4"/>
              <c:pt idx="0">
                <c:v>41</c:v>
              </c:pt>
              <c:pt idx="1">
                <c:v>29</c:v>
              </c:pt>
              <c:pt idx="2">
                <c:v>19</c:v>
              </c:pt>
              <c:pt idx="3">
                <c:v>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71719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171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Progress</c:v>
          </c:tx>
          <c:dPt>
            <c:idx val="0"/>
            <c:spPr>
              <a:solidFill xmlns:a="http://schemas.openxmlformats.org/drawingml/2006/main">
                <a:srgbClr val="E5E7EA"/>
              </a:solidFill>
            </c:spPr>
          </c:dPt>
          <c:dPt>
            <c:idx val="1"/>
            <c:spPr>
              <a:solidFill xmlns:a="http://schemas.openxmlformats.org/drawingml/2006/main">
                <a:srgbClr val="F05A28"/>
              </a:solidFill>
            </c:spPr>
          </c:dPt>
          <c:cat>
            <c:strLit>
              <c:ptCount val="2"/>
              <c:pt idx="0">
                <c:v>Remaining</c:v>
              </c:pt>
              <c:pt idx="1">
                <c:v>Complete</c:v>
              </c:pt>
            </c:strLit>
          </c:cat>
          <c:val>
            <c:numLit>
              <c:formatCode>General</c:formatCode>
              <c:ptCount val="2"/>
              <c:pt idx="0">
                <c:v>36</c:v>
              </c:pt>
              <c:pt idx="1">
                <c:v>64</c:v>
              </c:pt>
            </c:numLit>
          </c:val>
        </c:ser>
        <c:holeSize val="75"/>
      </c:doughnut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F8F81383-583D-416C-8319-978E752F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A4A6AE-971E-4A5E-8CC1-12F0784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Part-to-whole with central context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9A39B1-B623-453C-9224-6D7C4D98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the centre for one concise point while the segments carry the comparison.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9105d8cfc14255"/>
          </a:graphicData>
        </a:graphic>
      </p:graphicFrame>
      <p:sp>
        <p:nvSpPr>
          <p:cNvPr id="5" name="center-context">
            <a:extLst xmlns:a="http://schemas.openxmlformats.org/drawingml/2006/main">
              <a:ext uri="{FF2B5EF4-FFF2-40B4-BE49-F238E27FC236}">
                <a16:creationId xmlns:a16="http://schemas.microsoft.com/office/drawing/2014/main" id="{19CE9BD1-AB1A-4FF5-AC45-6D3CD2E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480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719"/>
                </a:solidFill>
              </a:defRPr>
            </a:pPr>
            <a:r>
              <a:rPr sz="3600" b="1">
                <a:solidFill>
                  <a:srgbClr val="171719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18053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74F17ED8-D359-48F9-9156-88EAA348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E4040E-62B4-49B1-8E79-2AA70AC8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Category comparison with a clear chart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01072EB-D4E8-4FAF-A5CB-F4206BD8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direct labels and one warm progression across a small number of categories.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19747dc64d48cc"/>
          </a:graphicData>
        </a:graphic>
      </p:graphicFrame>
    </p:spTree>
    <p:extLst>
      <p:ext uri="{BB962C8B-B14F-4D97-AF65-F5344CB8AC3E}">
        <p14:creationId xmlns:p14="http://schemas.microsoft.com/office/powerpoint/2010/main" val="687556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D8A271B7-E8D1-455B-BB94-7339C796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D190C6-AC49-42C5-A1AB-267099D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Compact category comparison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9205DB8-0139-409E-AF6C-032FEF4F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Designed to sit inside a larger composition with little chart chrome.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733550" y="2076450"/>
          <a:ext xmlns:a="http://schemas.openxmlformats.org/drawingml/2006/main" cx="87249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0a315c98094428"/>
          </a:graphicData>
        </a:graphic>
      </p:graphicFrame>
    </p:spTree>
    <p:extLst>
      <p:ext uri="{BB962C8B-B14F-4D97-AF65-F5344CB8AC3E}">
        <p14:creationId xmlns:p14="http://schemas.microsoft.com/office/powerpoint/2010/main" val="218876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6BA8C144-C242-4CF0-A320-61C2941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C89707-047D-4ABA-8F1D-958BCC9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Two related trends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A042371-B775-44EE-87C5-5E18805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transparent warm layers when both series contribute to the same movement.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68066acce84e1f"/>
          </a:graphicData>
        </a:graphic>
      </p:graphicFrame>
    </p:spTree>
    <p:extLst>
      <p:ext uri="{BB962C8B-B14F-4D97-AF65-F5344CB8AC3E}">
        <p14:creationId xmlns:p14="http://schemas.microsoft.com/office/powerpoint/2010/main" val="1471033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FF8E8FC-E854-4371-A677-60922E6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58AB16-8645-4E2F-B192-3BB2DF4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Composition across categories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32CDEE-2416-452D-9DDB-0FC060C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Stack related measures to show total scale and the mix within each category.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b8ef652b7f4ef2"/>
          </a:graphicData>
        </a:graphic>
      </p:graphicFrame>
    </p:spTree>
    <p:extLst>
      <p:ext uri="{BB962C8B-B14F-4D97-AF65-F5344CB8AC3E}">
        <p14:creationId xmlns:p14="http://schemas.microsoft.com/office/powerpoint/2010/main" val="1048558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9C725205-D408-47F4-8DBB-FD660D9B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30B908-800C-4839-8B55-1B69C9F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Side-by-side comparison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1C7575-D4BF-43EA-8A0D-59462AF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Clustered bars keep a small set of measures directly comparable.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1b5d89612445d0"/>
          </a:graphicData>
        </a:graphic>
      </p:graphicFrame>
    </p:spTree>
    <p:extLst>
      <p:ext uri="{BB962C8B-B14F-4D97-AF65-F5344CB8AC3E}">
        <p14:creationId xmlns:p14="http://schemas.microsoft.com/office/powerpoint/2010/main" val="360962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761E9FC6-718D-4AD2-812A-08FF2CE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C18D1D-36BD-44BA-9CD8-A039303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Two-series column comparison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C3BDD87-17A6-464B-9BD4-87984454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when the category ordering matters and both measures deserve equal weight.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ab17c01b6a4676"/>
          </a:graphicData>
        </a:graphic>
      </p:graphicFrame>
    </p:spTree>
    <p:extLst>
      <p:ext uri="{BB962C8B-B14F-4D97-AF65-F5344CB8AC3E}">
        <p14:creationId xmlns:p14="http://schemas.microsoft.com/office/powerpoint/2010/main" val="1070478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AEA37CCA-BA53-4185-B412-B14F0521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0B3DD3-019E-4F6F-90C2-C8404A25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Share by category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F1DEB53-EA85-4751-9011-F1B2B580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Keep the number of slices small and label the percentages directly.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33450" y="1847850"/>
          <a:ext xmlns:a="http://schemas.openxmlformats.org/drawingml/2006/main" cx="103251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c533c7284d4929"/>
          </a:graphicData>
        </a:graphic>
      </p:graphicFrame>
    </p:spTree>
    <p:extLst>
      <p:ext uri="{BB962C8B-B14F-4D97-AF65-F5344CB8AC3E}">
        <p14:creationId xmlns:p14="http://schemas.microsoft.com/office/powerpoint/2010/main" val="1163545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A2B279BA-8565-44A9-B71D-BA564F8D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1FE1DE-CCB6-4E5E-869D-C92D7B27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KPI progress ring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A29DDC-6AE1-4BBF-9CA3-76668893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one ring and one central value for a single tracked outcome.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2857500" y="1905000"/>
          <a:ext xmlns:a="http://schemas.openxmlformats.org/drawingml/2006/main" cx="6477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3b4a533ee84220"/>
          </a:graphicData>
        </a:graphic>
      </p:graphicFrame>
      <p:sp>
        <p:nvSpPr>
          <p:cNvPr id="5" name="kpi-value">
            <a:extLst xmlns:a="http://schemas.openxmlformats.org/drawingml/2006/main">
              <a:ext uri="{FF2B5EF4-FFF2-40B4-BE49-F238E27FC236}">
                <a16:creationId xmlns:a16="http://schemas.microsoft.com/office/drawing/2014/main" id="{FF9DD3B9-8146-41E7-A164-FFF94DEE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71719"/>
                </a:solidFill>
              </a:defRPr>
            </a:pPr>
            <a:r>
              <a:rPr sz="4500" b="1">
                <a:solidFill>
                  <a:srgbClr val="171719"/>
                </a:solidFill>
              </a:rPr>
              <a:t>64%</a:t>
            </a:r>
          </a:p>
        </p:txBody>
      </p:sp>
    </p:spTree>
    <p:extLst>
      <p:ext uri="{BB962C8B-B14F-4D97-AF65-F5344CB8AC3E}">
        <p14:creationId xmlns:p14="http://schemas.microsoft.com/office/powerpoint/2010/main" val="1151054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77C6EBC-BBE9-42EB-82B2-74A504B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F685F7-1F07-4358-8A36-9EB7417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First-column emphasis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915BC8-227E-423B-8262-89CC455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the first column to anchor row meaning with a strong warm band.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53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7900"/>
                <a:gridCol w="2345267"/>
                <a:gridCol w="2345267"/>
                <a:gridCol w="2345267"/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Current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Change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Beta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+4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+3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814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F1CE02D-6F87-4E0B-B1BE-B5236DE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1D68D6-9F54-47A9-AAD7-2E6F4538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Neutral first-column emphasis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0E27EB7-CBDA-4D4F-A2F7-58EEAAF6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Use a quiet first column when the table should support the story without dominating it.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53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7900"/>
                <a:gridCol w="2345267"/>
                <a:gridCol w="2345267"/>
                <a:gridCol w="2345267"/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D9DD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Current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Change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D9DD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Beta</a:t>
                      </a:r>
                    </a:p>
                  </a:txBody>
                  <a:tcPr marL="91440" marR="91440" marT="45720" marB="45720">
                    <a:solidFill>
                      <a:srgbClr val="D9DD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+4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D9DD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+3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D9DD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99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F6640762-DD97-4956-80C6-8C453C2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5D60EE-78DF-41A4-A03A-8A936A1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Strong header hierarchy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90F11B0-2A2A-4D42-B3FB-83834465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A warm header separates labels from the body while keeping the table easy to scan.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53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7900"/>
                <a:gridCol w="2345267"/>
                <a:gridCol w="2345267"/>
                <a:gridCol w="2345267"/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Current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Change</a:t>
                      </a:r>
                    </a:p>
                  </a:txBody>
                  <a:tcPr marL="91440" marR="91440" marT="45720" marB="45720">
                    <a:solidFill>
                      <a:srgbClr val="F05A2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Alpha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+4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Gamma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+3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6785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A0B24B82-14D1-4BEE-BA10-33207DCB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0A0BF9-C8A8-4AB0-9326-3AFD3D6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9"/>
                </a:solidFill>
              </a:defRPr>
            </a:pPr>
            <a:r>
              <a:rPr sz="2550" b="1">
                <a:solidFill>
                  <a:srgbClr val="171719"/>
                </a:solidFill>
              </a:rPr>
              <a:t>Quiet zebra table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1133A3A-02ED-44DC-A54E-7F55F246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C"/>
                </a:solidFill>
              </a:defRPr>
            </a:pPr>
            <a:r>
              <a:rPr sz="1275">
                <a:solidFill>
                  <a:srgbClr val="66666C"/>
                </a:solidFill>
              </a:rPr>
              <a:t>Alternating neutral rows support longer scans without introducing extra rules.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0553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7900"/>
                <a:gridCol w="2345267"/>
                <a:gridCol w="2345267"/>
                <a:gridCol w="2345267"/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Category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Current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9"/>
                          </a:solidFill>
                        </a:rPr>
                        <a:t>Change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+4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+3</a:t>
                      </a:r>
                    </a:p>
                  </a:txBody>
                  <a:tcPr marL="91440" marR="91440" marT="45720" marB="45720">
                    <a:solidFill>
                      <a:srgbClr val="ECEE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Delta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719"/>
                          </a:solidFill>
                        </a:rPr>
                        <a:t>+6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370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2026-08-29T06:17:49.8310000Z</dcterms:created>
  <dcterms:modified xsi:type="dcterms:W3CDTF">2026-08-29T06:17:49.8310000Z</dcterms:modified>
</coreProperties>
</file>