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2.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6.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2.svg" ContentType="image/svg+xml"/>
  <Override PartName="/ppt/media/image-5-4.svg" ContentType="image/svg+xml"/>
  <Override PartName="/ppt/media/image-5-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Illustrative annual capacity hours</c:v>
                </c:pt>
              </c:strCache>
            </c:strRef>
          </c:tx>
          <c:spPr>
            <a:solidFill>
              <a:srgbClr val="FD5108"/>
            </a:solidFill>
            <a:effectLst/>
          </c:spPr>
          <c:invertIfNegative val="0"/>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FD5108"/>
              </a:solidFill>
              <a:effectLst/>
            </c:spPr>
          </c:dPt>
          <c:dPt>
            <c:idx val="1"/>
            <c:invertIfNegative val="0"/>
            <c:bubble3D val="0"/>
            <c:spPr>
              <a:solidFill>
                <a:srgbClr val="FF955F"/>
              </a:solidFill>
              <a:effectLst/>
            </c:spPr>
          </c:dPt>
          <c:dPt>
            <c:idx val="2"/>
            <c:invertIfNegative val="0"/>
            <c:bubble3D val="0"/>
            <c:spPr>
              <a:solidFill>
                <a:srgbClr val="FFC099"/>
              </a:solidFill>
              <a:effectLst/>
            </c:spPr>
          </c:dPt>
          <c:cat>
            <c:strRef>
              <c:f>Sheet1!$A$2:$A$4</c:f>
              <c:strCache>
                <c:ptCount val="3"/>
                <c:pt idx="0">
                  <c:v>Research
synthesis</c:v>
                </c:pt>
                <c:pt idx="1">
                  <c:v>Proposal
drafting</c:v>
                </c:pt>
                <c:pt idx="2">
                  <c:v>Knowledge
retrieval</c:v>
                </c:pt>
              </c:strCache>
            </c:strRef>
          </c:cat>
          <c:val>
            <c:numRef>
              <c:f>Sheet1!$B$2:$B$4</c:f>
              <c:numCache>
                <c:formatCode>General</c:formatCode>
                <c:ptCount val="3"/>
                <c:pt idx="0">
                  <c:v>1620</c:v>
                </c:pt>
                <c:pt idx="1">
                  <c:v>1440</c:v>
                </c:pt>
                <c:pt idx="2">
                  <c:v>1080</c:v>
                </c:pt>
              </c:numCache>
            </c:numRef>
          </c:val>
        </c:ser>
        <c:dLbls>
          <c:dLbl>
            <c:idx val="0"/>
            <c:numFmt formatCode="#,##0" sourceLinked="0"/>
            <c:txPr>
              <a:bodyPr wrap="none"/>
              <a:lstStyle/>
              <a:p>
                <a:pPr>
                  <a:defRPr b="1" i="0" strike="noStrike" sz="1400" u="none">
                    <a:solidFill>
                      <a:srgbClr val="FD5108"/>
                    </a:solidFill>
                    <a:latin typeface="Arial"/>
                  </a:defRPr>
                </a:pPr>
              </a:p>
            </c:txPr>
            <c:dLblPos val="outEnd"/>
            <c:showLegendKey val="0"/>
            <c:showVal val="1"/>
            <c:showCatName val="0"/>
            <c:showSerName val="0"/>
            <c:showPercent val="0"/>
            <c:showBubbleSize val="0"/>
          </c:dLbl>
          <c:dLbl>
            <c:idx val="1"/>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dLbl>
            <c:idx val="2"/>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dLbl>
          <c:numFmt formatCode="#,##0" sourceLinked="0"/>
          <c:txPr>
            <a:bodyPr wrap="none"/>
            <a:lstStyle/>
            <a:p>
              <a:pPr>
                <a:defRPr b="1" i="0" strike="noStrike" sz="1400" u="none">
                  <a:solidFill>
                    <a:srgbClr val="000000"/>
                  </a:solidFill>
                  <a:latin typeface="Arial"/>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12700" cap="flat">
              <a:solidFill>
                <a:srgbClr val="DFE3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quantities are illustrative planning assumptions. Capacity value is not a cash saving.
The 95% gate applies to a sampled test set. Each client release separately requires expert verification and engagement-lead approval.
At least 11 of 15 pilot users must be weekly active. One comparable research task is measured per pilot engagement.
[SlidePoise sources]
Generated target visual: /Users/henry/Codes/AI_slide_drafting/examples/consulting-ai-transformation/run/slides/s01-recommendation/work/accepted-slide.png
Canonical asset remix-focus-2-line: /Users/henry/Codes/AI_slide_drafting/examples/consulting-ai-transformation/run/work/icon-cache/focus-2/remix-focus-2-line.svg
Canonical asset remix-team-line: /Users/henry/Codes/AI_slide_drafting/examples/consulting-ai-transformation/run/work/icon-cache/team/remix-team-line.svg
Canonical asset remix-shield-check-line: /Users/henry/Codes/AI_slide_drafting/examples/consulting-ai-transformation/run/work/icon-cache/shield-check/remix-shield-check-line.svg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model for fictional Northstar Advisory. Annual capacity assumes 900 engagements. Research uses 900 x 12 baseline hours x 60% adoption x 30% time saved = 1,944 hours. The same formula produces 1,440 proposal hours and 1,080 retrieval hours from the displayed assumptions.
The three workflow estimates may overlap and cannot be added without checking task boundaries. Capacity released is not a cash saving. Control readiness determines the proposed sequence, and expert review remains required before any client release.
[SlidePoise sources]
Generated target visual: /Users/henry/Codes/AI_slide_drafting/examples/consulting-ai-transformation/run/slides/s02-opportunities/work/accepted-slide.png
Canonical asset remix-file-search-line: /Users/henry/Codes/AI_slide_drafting/examples/consulting-ai-transformation/run/work/icon-cache/file-search/remix-file-search-line.svg
Canonical asset remix-database-2-line: /Users/henry/Codes/AI_slide_drafting/examples/consulting-ai-transformation/run/work/icon-cache/database-2/remix-database-2-line.svg
Canonical asset remix-user-star-line: /Users/henry/Codes/AI_slide_drafting/examples/consulting-ai-transformation/run/work/icon-cache/user-star/remix-user-star-line.svg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scenario. Twenty paired tasks represent one research task from each of twenty pilot engagements, with ten tasks at the week-eight interim review. The sampled 95% claim-verification gate measures pilot quality. Every client claim still requires expert sign-off and every client release requires engagement-lead approval.
Rejected drafts return to the drafting team. Source exceptions return to the source steward. The editable feedback paths are regenerated from their named owners when the deck is rebuilt. Moving objects manually in PowerPoint does not reattach the paths.
[SlidePoise sources]
Generated target visual: /Users/henry/Codes/AI_slide_drafting/examples/consulting-ai-transformation/run/slides/s03-operating-model/work/accepted-slide.png
Canonical asset remix-file-search-line: /Users/henry/Codes/AI_slide_drafting/examples/consulting-ai-transformation/run/work/icon-cache/file-search/remix-file-search-line.svg
Canonical asset remix-draft-line: /Users/henry/Codes/AI_slide_drafting/examples/consulting-ai-transformation/run/work/icon-cache/draft/remix-draft-line.svg
Canonical asset remix-shield-check-line: /Users/henry/Codes/AI_slide_drafting/examples/consulting-ai-transformation/run/work/icon-cache/shield-check/remix-shield-check-line.svg
Canonical asset remix-send-plane-2-line: /Users/henry/Codes/AI_slide_drafting/examples/consulting-ai-transformation/run/work/icon-cache/send-plane-2/remix-send-plane-2-line.svg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pilot engagement supplies one research task. Twenty paired tasks correspond to twenty engagements.
The practice lead and CFO release scale funding only after the evidence gates are reviewed. Critical data exceptions stop expansion.
[SlidePoise sources]
Generated target visual: /Users/henry/Codes/AI_slide_drafting/examples/consulting-ai-transformation/run/slides/s04-delivery-roadmap/work/accepted-slide.png
Canonical asset remix-flag-line: /Users/henry/Codes/AI_slide_drafting/examples/consulting-ai-transformation/run/work/icon-cache/flag/remix-flag-line.svg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[SlidePoise sources]
Generated target visual: /Users/henry/Codes/AI_slide_drafting/examples/consulting-ai-transformation/run/slides/s05-investment-decision/work/accepted-slide.png
Canonical asset remix-play-circle-line: /Users/henry/Codes/AI_slide_drafting/examples/consulting-ai-transformation/run/work/icon-cache/play-circle/remix-play-circle-line.svg
Canonical asset remix-pause-circle-line: /Users/henry/Codes/AI_slide_drafting/examples/consulting-ai-transformation/run/work/icon-cache/pause-circle/remix-pause-circle-line.svg
Canonical asset remix-stop-circle-line: /Users/henry/Codes/AI_slide_drafting/examples/consulting-ai-transformation/run/work/icon-cache/stop-circle/remix-stop-circle-line.svg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image" Target="../media/image-1-5.png"/><Relationship Id="rId6" Type="http://schemas.openxmlformats.org/officeDocument/2006/relationships/image" Target="../media/image-1-6.sv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image" Target="../media/image-2-5.png"/><Relationship Id="rId7" Type="http://schemas.openxmlformats.org/officeDocument/2006/relationships/image" Target="../media/image-2-6.sv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image" Target="../media/image-4-5.png"/><Relationship Id="rId6" Type="http://schemas.openxmlformats.org/officeDocument/2006/relationships/image" Target="../media/image-4-6.svg"/><Relationship Id="rId7" Type="http://schemas.openxmlformats.org/officeDocument/2006/relationships/image" Target="../media/image-4-7.png"/><Relationship Id="rId8" Type="http://schemas.openxmlformats.org/officeDocument/2006/relationships/image" Target="../media/image-4-8.sv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metric-divider-1"/>
          <p:cNvSpPr/>
          <p:nvPr/>
        </p:nvSpPr>
        <p:spPr>
          <a:xfrm>
            <a:off x="4076700" y="1739900"/>
            <a:ext cx="6350" cy="889000"/>
          </a:xfrm>
          <a:prstGeom prst="rect">
            <a:avLst/>
          </a:prstGeom>
          <a:solidFill>
            <a:srgbClr val="D0D0D0"/>
          </a:solidFill>
          <a:ln w="12700">
            <a:solidFill>
              <a:srgbClr val="FFFFFF">
                <a:alpha val="0"/>
              </a:srgbClr>
            </a:solidFill>
            <a:prstDash val="solid"/>
          </a:ln>
        </p:spPr>
      </p:sp>
      <p:sp>
        <p:nvSpPr>
          <p:cNvPr id="3" name="metric-divider-2"/>
          <p:cNvSpPr/>
          <p:nvPr/>
        </p:nvSpPr>
        <p:spPr>
          <a:xfrm>
            <a:off x="8337550" y="1739900"/>
            <a:ext cx="6350" cy="889000"/>
          </a:xfrm>
          <a:prstGeom prst="rect">
            <a:avLst/>
          </a:prstGeom>
          <a:solidFill>
            <a:srgbClr val="D0D0D0"/>
          </a:solidFill>
          <a:ln w="12700">
            <a:solidFill>
              <a:srgbClr val="FFFFFF">
                <a:alpha val="0"/>
              </a:srgbClr>
            </a:solidFill>
            <a:prstDash val="solid"/>
          </a:ln>
        </p:spPr>
      </p:sp>
      <p:sp>
        <p:nvSpPr>
          <p:cNvPr id="4"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5"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6" name="scale-gate-table"/>
          <p:cNvGraphicFramePr>
            <a:graphicFrameLocks noGrp="1"/>
          </p:cNvGraphicFramePr>
          <p:nvPr>
            <p:extLst>
              <p:ext uri="{D42A27DB-BD31-4B8C-83A1-F6EECF244321}">
                <p14:modId xmlns:p14="http://schemas.microsoft.com/office/powerpoint/2010/main" val="1579011935"/>
              </p:ext>
            </p:extLst>
          </p:nvPr>
        </p:nvGraphicFramePr>
        <p:xfrm>
          <a:off x="6731000" y="3251200"/>
          <a:ext cx="5207000" cy="2120900"/>
        </p:xfrm>
        <a:graphic>
          <a:graphicData uri="http://schemas.openxmlformats.org/drawingml/2006/table">
            <a:tbl>
              <a:tblPr/>
              <a:tblGrid>
                <a:gridCol w="2857500"/>
                <a:gridCol w="2349500"/>
              </a:tblGrid>
              <a:tr h="3810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Minimum to scale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Cycle-time reduction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Sampled cited claims verified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Critical data exceptions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445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Weekly-active pilot users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70% · at least 11 of 15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sp>
        <p:nvSpPr>
          <p:cNvPr id="7"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Prove the research pilot before scaling AI</a:t>
            </a:r>
            <a:endParaRPr lang="en-US" sz="3200" dirty="0" spc="0"/>
          </a:p>
        </p:txBody>
      </p:sp>
      <p:sp>
        <p:nvSpPr>
          <p:cNvPr id="8"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One practice. 15 consultants. 20 paired research tasks. A 12-week, $25k pilot.</a:t>
            </a:r>
            <a:endParaRPr lang="en-US" sz="1600" dirty="0" spc="0"/>
          </a:p>
        </p:txBody>
      </p:sp>
      <p:sp>
        <p:nvSpPr>
          <p:cNvPr id="9" name="baseline"/>
          <p:cNvSpPr txBox="1"/>
          <p:nvPr/>
        </p:nvSpPr>
        <p:spPr>
          <a:xfrm>
            <a:off x="29845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10,800 h</a:t>
            </a:r>
            <a:endParaRPr lang="en-US" sz="4000" dirty="0" spc="0"/>
          </a:p>
        </p:txBody>
      </p:sp>
      <p:sp>
        <p:nvSpPr>
          <p:cNvPr id="10" name="baseline-label"/>
          <p:cNvSpPr txBox="1"/>
          <p:nvPr/>
        </p:nvSpPr>
        <p:spPr>
          <a:xfrm>
            <a:off x="29845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research baseline</a:t>
            </a:r>
            <a:endParaRPr lang="en-US" sz="1400" dirty="0" spc="0"/>
          </a:p>
        </p:txBody>
      </p:sp>
      <p:sp>
        <p:nvSpPr>
          <p:cNvPr id="11" name="baseline-formula"/>
          <p:cNvSpPr txBox="1"/>
          <p:nvPr/>
        </p:nvSpPr>
        <p:spPr>
          <a:xfrm>
            <a:off x="29845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900 engagements × 12 h</a:t>
            </a:r>
            <a:endParaRPr lang="en-US" sz="1300" dirty="0" spc="0"/>
          </a:p>
        </p:txBody>
      </p:sp>
      <p:sp>
        <p:nvSpPr>
          <p:cNvPr id="12" name="capacity"/>
          <p:cNvSpPr txBox="1"/>
          <p:nvPr/>
        </p:nvSpPr>
        <p:spPr>
          <a:xfrm>
            <a:off x="458470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1,944 h</a:t>
            </a:r>
            <a:endParaRPr lang="en-US" sz="4000" dirty="0" spc="0"/>
          </a:p>
        </p:txBody>
      </p:sp>
      <p:sp>
        <p:nvSpPr>
          <p:cNvPr id="13" name="capacity-label"/>
          <p:cNvSpPr txBox="1"/>
          <p:nvPr/>
        </p:nvSpPr>
        <p:spPr>
          <a:xfrm>
            <a:off x="458470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Potential annual capacity</a:t>
            </a:r>
            <a:endParaRPr lang="en-US" sz="1400" dirty="0" spc="0"/>
          </a:p>
        </p:txBody>
      </p:sp>
      <p:sp>
        <p:nvSpPr>
          <p:cNvPr id="14" name="capacity-formula"/>
          <p:cNvSpPr txBox="1"/>
          <p:nvPr/>
        </p:nvSpPr>
        <p:spPr>
          <a:xfrm>
            <a:off x="458470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60% adoption × 30% time reduction</a:t>
            </a:r>
            <a:endParaRPr lang="en-US" sz="1300" dirty="0" spc="0"/>
          </a:p>
        </p:txBody>
      </p:sp>
      <p:sp>
        <p:nvSpPr>
          <p:cNvPr id="15" name="value"/>
          <p:cNvSpPr txBox="1"/>
          <p:nvPr/>
        </p:nvSpPr>
        <p:spPr>
          <a:xfrm>
            <a:off x="8940800" y="1619250"/>
            <a:ext cx="3175000" cy="596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4000" b="1" dirty="0" spc="0">
                <a:solidFill>
                  <a:srgbClr val="FD5108"/>
                </a:solidFill>
                <a:latin typeface="Arial" pitchFamily="34" charset="0"/>
                <a:ea typeface="Arial" pitchFamily="34" charset="-122"/>
                <a:cs typeface="Arial" pitchFamily="34" charset="-120"/>
              </a:rPr>
              <a:t>$243k</a:t>
            </a:r>
            <a:endParaRPr lang="en-US" sz="4000" dirty="0" spc="0"/>
          </a:p>
        </p:txBody>
      </p:sp>
      <p:sp>
        <p:nvSpPr>
          <p:cNvPr id="16" name="value-label"/>
          <p:cNvSpPr txBox="1"/>
          <p:nvPr/>
        </p:nvSpPr>
        <p:spPr>
          <a:xfrm>
            <a:off x="8940800" y="2197100"/>
            <a:ext cx="317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capacity equivalent</a:t>
            </a:r>
            <a:endParaRPr lang="en-US" sz="1400" dirty="0" spc="0"/>
          </a:p>
        </p:txBody>
      </p:sp>
      <p:sp>
        <p:nvSpPr>
          <p:cNvPr id="17" name="value-formula"/>
          <p:cNvSpPr txBox="1"/>
          <p:nvPr/>
        </p:nvSpPr>
        <p:spPr>
          <a:xfrm>
            <a:off x="8940800" y="2476500"/>
            <a:ext cx="3175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1,944 h × $125 per hour</a:t>
            </a:r>
            <a:endParaRPr lang="en-US" sz="1300" dirty="0" spc="0"/>
          </a:p>
        </p:txBody>
      </p:sp>
      <p:sp>
        <p:nvSpPr>
          <p:cNvPr id="18" name="argument-heading"/>
          <p:cNvSpPr txBox="1"/>
          <p:nvPr/>
        </p:nvSpPr>
        <p:spPr>
          <a:xfrm>
            <a:off x="298450" y="2927350"/>
            <a:ext cx="57785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WHY THIS PILOT FIRST</a:t>
            </a:r>
            <a:endParaRPr lang="en-US" sz="1400" dirty="0" spc="0"/>
          </a:p>
        </p:txBody>
      </p:sp>
      <p:sp>
        <p:nvSpPr>
          <p:cNvPr id="19" name="reason-number-01"/>
          <p:cNvSpPr txBox="1"/>
          <p:nvPr/>
        </p:nvSpPr>
        <p:spPr>
          <a:xfrm>
            <a:off x="1358900" y="33020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01</a:t>
            </a:r>
            <a:endParaRPr lang="en-US" sz="1500" dirty="0" spc="0"/>
          </a:p>
        </p:txBody>
      </p:sp>
      <p:sp>
        <p:nvSpPr>
          <p:cNvPr id="20" name="reason-title-01"/>
          <p:cNvSpPr txBox="1"/>
          <p:nvPr/>
        </p:nvSpPr>
        <p:spPr>
          <a:xfrm>
            <a:off x="1936750" y="33147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Focus a repeatable task</a:t>
            </a:r>
            <a:endParaRPr lang="en-US" sz="1400" dirty="0" spc="0"/>
          </a:p>
        </p:txBody>
      </p:sp>
      <p:sp>
        <p:nvSpPr>
          <p:cNvPr id="21" name="reason-detail-01"/>
          <p:cNvSpPr txBox="1"/>
          <p:nvPr/>
        </p:nvSpPr>
        <p:spPr>
          <a:xfrm>
            <a:off x="1936750" y="35814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Approved sources, frequent use and comparable inputs.</a:t>
            </a:r>
            <a:endParaRPr lang="en-US" sz="1300" dirty="0" spc="0"/>
          </a:p>
        </p:txBody>
      </p:sp>
      <p:sp>
        <p:nvSpPr>
          <p:cNvPr id="22" name="reason-number-02"/>
          <p:cNvSpPr txBox="1"/>
          <p:nvPr/>
        </p:nvSpPr>
        <p:spPr>
          <a:xfrm>
            <a:off x="1358900" y="40894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02</a:t>
            </a:r>
            <a:endParaRPr lang="en-US" sz="1500" dirty="0" spc="0"/>
          </a:p>
        </p:txBody>
      </p:sp>
      <p:sp>
        <p:nvSpPr>
          <p:cNvPr id="23" name="reason-title-02"/>
          <p:cNvSpPr txBox="1"/>
          <p:nvPr/>
        </p:nvSpPr>
        <p:spPr>
          <a:xfrm>
            <a:off x="1936750" y="41021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Preserve expert review</a:t>
            </a:r>
            <a:endParaRPr lang="en-US" sz="1400" dirty="0" spc="0"/>
          </a:p>
        </p:txBody>
      </p:sp>
      <p:sp>
        <p:nvSpPr>
          <p:cNvPr id="24" name="reason-detail-02"/>
          <p:cNvSpPr txBox="1"/>
          <p:nvPr/>
        </p:nvSpPr>
        <p:spPr>
          <a:xfrm>
            <a:off x="1936750" y="43688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Verify every client claim before release.</a:t>
            </a:r>
            <a:endParaRPr lang="en-US" sz="1300" dirty="0" spc="0"/>
          </a:p>
        </p:txBody>
      </p:sp>
      <p:sp>
        <p:nvSpPr>
          <p:cNvPr id="25" name="reason-number-03"/>
          <p:cNvSpPr txBox="1"/>
          <p:nvPr/>
        </p:nvSpPr>
        <p:spPr>
          <a:xfrm>
            <a:off x="1358900" y="4851400"/>
            <a:ext cx="41275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500" b="1" dirty="0" spc="0">
                <a:solidFill>
                  <a:srgbClr val="000000"/>
                </a:solidFill>
                <a:latin typeface="Arial" pitchFamily="34" charset="0"/>
                <a:ea typeface="Arial" pitchFamily="34" charset="-122"/>
                <a:cs typeface="Arial" pitchFamily="34" charset="-120"/>
              </a:rPr>
              <a:t>03</a:t>
            </a:r>
            <a:endParaRPr lang="en-US" sz="1500" dirty="0" spc="0"/>
          </a:p>
        </p:txBody>
      </p:sp>
      <p:sp>
        <p:nvSpPr>
          <p:cNvPr id="26" name="reason-title-03"/>
          <p:cNvSpPr txBox="1"/>
          <p:nvPr/>
        </p:nvSpPr>
        <p:spPr>
          <a:xfrm>
            <a:off x="1936750" y="48641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Fund against evidence</a:t>
            </a:r>
            <a:endParaRPr lang="en-US" sz="1400" dirty="0" spc="0"/>
          </a:p>
        </p:txBody>
      </p:sp>
      <p:sp>
        <p:nvSpPr>
          <p:cNvPr id="27" name="reason-detail-03"/>
          <p:cNvSpPr txBox="1"/>
          <p:nvPr/>
        </p:nvSpPr>
        <p:spPr>
          <a:xfrm>
            <a:off x="1936750" y="5130800"/>
            <a:ext cx="4635500" cy="4127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Practice lead and CFO release $60k</a:t>
            </a:r>
            <a:endParaRPr lang="en-US" sz="1300" dirty="0" spc="0"/>
          </a:p>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only after the week-12 gate.</a:t>
            </a:r>
            <a:endParaRPr lang="en-US" sz="1300" dirty="0" spc="0"/>
          </a:p>
        </p:txBody>
      </p:sp>
      <p:sp>
        <p:nvSpPr>
          <p:cNvPr id="28" name="gate-heading"/>
          <p:cNvSpPr txBox="1"/>
          <p:nvPr/>
        </p:nvSpPr>
        <p:spPr>
          <a:xfrm>
            <a:off x="6731000" y="2927350"/>
            <a:ext cx="52070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WEEK-12 SCALE GATE</a:t>
            </a:r>
            <a:endParaRPr lang="en-US" sz="1400" dirty="0" spc="0"/>
          </a:p>
        </p:txBody>
      </p:sp>
      <p:sp>
        <p:nvSpPr>
          <p:cNvPr id="29"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DECISION REQUESTED</a:t>
            </a:r>
            <a:endParaRPr lang="en-US" sz="1400" dirty="0" spc="0"/>
          </a:p>
        </p:txBody>
      </p:sp>
      <p:sp>
        <p:nvSpPr>
          <p:cNvPr id="30"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Approve $25k and name a practice sponsor.</a:t>
            </a:r>
            <a:endParaRPr lang="en-US" sz="1400" dirty="0" spc="0"/>
          </a:p>
        </p:txBody>
      </p:sp>
      <p:pic>
        <p:nvPicPr>
          <p:cNvPr id="31" name="reason-icon-01" descr="remix-focus-2-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495300" y="3282950"/>
            <a:ext cx="546100" cy="546100"/>
          </a:xfrm>
          <a:prstGeom prst="rect">
            <a:avLst/>
          </a:prstGeom>
        </p:spPr>
      </p:pic>
      <p:pic>
        <p:nvPicPr>
          <p:cNvPr id="32" name="reason-icon-02" descr="remix-team-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5300" y="4070350"/>
            <a:ext cx="546100" cy="546100"/>
          </a:xfrm>
          <a:prstGeom prst="rect">
            <a:avLst/>
          </a:prstGeom>
        </p:spPr>
      </p:pic>
      <p:pic>
        <p:nvPicPr>
          <p:cNvPr id="33" name="reason-icon-03" descr="remix-shield-check-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95300" y="4832350"/>
            <a:ext cx="546100" cy="546100"/>
          </a:xfrm>
          <a:prstGeom prst="rect">
            <a:avLst/>
          </a:prstGeom>
        </p:spPr>
      </p:pic>
      <p:sp>
        <p:nvSpPr>
          <p:cNvPr id="34"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formula-strip"/>
          <p:cNvSpPr/>
          <p:nvPr/>
        </p:nvSpPr>
        <p:spPr>
          <a:xfrm>
            <a:off x="4826000" y="3149600"/>
            <a:ext cx="7048500" cy="381000"/>
          </a:xfrm>
          <a:prstGeom prst="rect">
            <a:avLst/>
          </a:prstGeom>
          <a:solidFill>
            <a:srgbClr val="F5F7F8"/>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5" name="annual-capacity-chart" descr=""/>
          <p:cNvGraphicFramePr/>
          <p:nvPr/>
        </p:nvGraphicFramePr>
        <p:xfrm>
          <a:off x="234950" y="1860550"/>
          <a:ext cx="4254500" cy="20447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value-model"/>
          <p:cNvGraphicFramePr>
            <a:graphicFrameLocks noGrp="1"/>
          </p:cNvGraphicFramePr>
          <p:nvPr>
            <p:extLst>
              <p:ext uri="{D42A27DB-BD31-4B8C-83A1-F6EECF244321}">
                <p14:modId xmlns:p14="http://schemas.microsoft.com/office/powerpoint/2010/main" val="1579011935"/>
              </p:ext>
            </p:extLst>
          </p:nvPr>
        </p:nvGraphicFramePr>
        <p:xfrm>
          <a:off x="4826000" y="1689100"/>
          <a:ext cx="7048500" cy="1460500"/>
        </p:xfrm>
        <a:graphic>
          <a:graphicData uri="http://schemas.openxmlformats.org/drawingml/2006/table">
            <a:tbl>
              <a:tblPr/>
              <a:tblGrid>
                <a:gridCol w="1809750"/>
                <a:gridCol w="1714500"/>
                <a:gridCol w="1714500"/>
                <a:gridCol w="1809750"/>
              </a:tblGrid>
              <a:tr h="3302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Baseline 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Adoption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Time saved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746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810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dirty="0">
                          <a:solidFill>
                            <a:srgbClr val="000000"/>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graphicFrame>
        <p:nvGraphicFramePr>
          <p:cNvPr id="7" name="pilot-sequencing"/>
          <p:cNvGraphicFramePr>
            <a:graphicFrameLocks noGrp="1"/>
          </p:cNvGraphicFramePr>
          <p:nvPr>
            <p:extLst>
              <p:ext uri="{D42A27DB-BD31-4B8C-83A1-F6EECF244321}">
                <p14:modId xmlns:p14="http://schemas.microsoft.com/office/powerpoint/2010/main" val="1579011935"/>
              </p:ext>
            </p:extLst>
          </p:nvPr>
        </p:nvGraphicFramePr>
        <p:xfrm>
          <a:off x="4826000" y="3835400"/>
          <a:ext cx="7048500" cy="1612900"/>
        </p:xfrm>
        <a:graphic>
          <a:graphicData uri="http://schemas.openxmlformats.org/drawingml/2006/table">
            <a:tbl>
              <a:tblPr/>
              <a:tblGrid>
                <a:gridCol w="1841500"/>
                <a:gridCol w="2286000"/>
                <a:gridCol w="1587500"/>
                <a:gridCol w="1333500"/>
              </a:tblGrid>
              <a:tr h="3175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Workflow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Control readiness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Sequence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Research synthesis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Explicit review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START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Proposal drafting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Claims and commitments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need controls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BD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NEXT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431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Knowledge retrieval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Permissions need</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cleanup</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Knowledge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200" b="1" dirty="0">
                          <a:solidFill>
                            <a:srgbClr val="FD5108"/>
                          </a:solidFill>
                          <a:latin typeface="Arial" pitchFamily="34" charset="0"/>
                          <a:ea typeface="Arial" pitchFamily="34" charset="-122"/>
                          <a:cs typeface="Arial" pitchFamily="34" charset="-120"/>
                        </a:rPr>
                        <a:t>LATER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8"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Revise the analysis without rebuilding the slide</a:t>
            </a:r>
            <a:endParaRPr lang="en-US" sz="3200" dirty="0" spc="0"/>
          </a:p>
        </p:txBody>
      </p:sp>
      <p:sp>
        <p:nvSpPr>
          <p:cNvPr id="9"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Capacity creates the opportunity. Control readiness sets the sequence.</a:t>
            </a:r>
            <a:endParaRPr lang="en-US" sz="1600" dirty="0" spc="0"/>
          </a:p>
        </p:txBody>
      </p:sp>
      <p:sp>
        <p:nvSpPr>
          <p:cNvPr id="10" name="capacity-heading"/>
          <p:cNvSpPr txBox="1"/>
          <p:nvPr/>
        </p:nvSpPr>
        <p:spPr>
          <a:xfrm>
            <a:off x="234950" y="1409700"/>
            <a:ext cx="4318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ANNUAL CAPACITY POTENTIAL</a:t>
            </a:r>
            <a:endParaRPr lang="en-US" sz="1400" dirty="0" spc="0"/>
          </a:p>
        </p:txBody>
      </p:sp>
      <p:sp>
        <p:nvSpPr>
          <p:cNvPr id="11" name="chart-unit"/>
          <p:cNvSpPr txBox="1"/>
          <p:nvPr/>
        </p:nvSpPr>
        <p:spPr>
          <a:xfrm>
            <a:off x="234950" y="1638300"/>
            <a:ext cx="190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Illustrative hours</a:t>
            </a:r>
            <a:endParaRPr lang="en-US" sz="1100" dirty="0" spc="0"/>
          </a:p>
        </p:txBody>
      </p:sp>
      <p:sp>
        <p:nvSpPr>
          <p:cNvPr id="12" name="value-model-heading"/>
          <p:cNvSpPr txBox="1"/>
          <p:nvPr/>
        </p:nvSpPr>
        <p:spPr>
          <a:xfrm>
            <a:off x="4826000" y="14097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WORKFLOW VALUE MODEL</a:t>
            </a:r>
            <a:endParaRPr lang="en-US" sz="1400" dirty="0" spc="0"/>
          </a:p>
        </p:txBody>
      </p:sp>
      <p:sp>
        <p:nvSpPr>
          <p:cNvPr id="13" name="capacity-formula"/>
          <p:cNvSpPr txBox="1"/>
          <p:nvPr/>
        </p:nvSpPr>
        <p:spPr>
          <a:xfrm>
            <a:off x="5016500" y="3200400"/>
            <a:ext cx="6667500" cy="279400"/>
          </a:xfrm>
          <a:prstGeom prst="rect">
            <a:avLst/>
          </a:prstGeom>
          <a:noFill/>
          <a:ln/>
        </p:spPr>
        <p:txBody>
          <a:bodyPr wrap="square" lIns="12700" tIns="12700" rIns="12700" bIns="12700" rtlCol="0" anchor="ctr">
            <a:noAutofit/>
          </a:bodyPr>
          <a:lstStyle/>
          <a:p>
            <a:pPr algn="ctr" indent="0" marL="0">
              <a:lnSpc>
                <a:spcPct val="100000"/>
              </a:lnSpc>
              <a:buNone/>
              <a:defRPr spc="0"/>
            </a:pPr>
            <a:r>
              <a:rPr lang="en-US" sz="1200" b="1" dirty="0" spc="0">
                <a:solidFill>
                  <a:srgbClr val="000000"/>
                </a:solidFill>
                <a:latin typeface="Arial" pitchFamily="34" charset="0"/>
                <a:ea typeface="Arial" pitchFamily="34" charset="-122"/>
                <a:cs typeface="Arial" pitchFamily="34" charset="-120"/>
              </a:rPr>
              <a:t>Annual hours = 900 engagements × baseline h × adoption × time saved</a:t>
            </a:r>
            <a:endParaRPr lang="en-US" sz="1200" dirty="0" spc="0"/>
          </a:p>
        </p:txBody>
      </p:sp>
      <p:sp>
        <p:nvSpPr>
          <p:cNvPr id="14" name="reason-heading"/>
          <p:cNvSpPr txBox="1"/>
          <p:nvPr/>
        </p:nvSpPr>
        <p:spPr>
          <a:xfrm>
            <a:off x="234950" y="4064000"/>
            <a:ext cx="44450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WHY RESEARCH WINS FIRST</a:t>
            </a:r>
            <a:endParaRPr lang="en-US" sz="1400" dirty="0" spc="0"/>
          </a:p>
        </p:txBody>
      </p:sp>
      <p:sp>
        <p:nvSpPr>
          <p:cNvPr id="15" name="reason-file"/>
          <p:cNvSpPr txBox="1"/>
          <p:nvPr/>
        </p:nvSpPr>
        <p:spPr>
          <a:xfrm>
            <a:off x="1016000" y="43116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Frequent, comparable tasks</a:t>
            </a:r>
            <a:endParaRPr lang="en-US" sz="1400" dirty="0" spc="0"/>
          </a:p>
        </p:txBody>
      </p:sp>
      <p:sp>
        <p:nvSpPr>
          <p:cNvPr id="16" name="reason-corpus"/>
          <p:cNvSpPr txBox="1"/>
          <p:nvPr/>
        </p:nvSpPr>
        <p:spPr>
          <a:xfrm>
            <a:off x="1016000" y="48069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bounded source corpus</a:t>
            </a:r>
            <a:endParaRPr lang="en-US" sz="1400" dirty="0" spc="0"/>
          </a:p>
        </p:txBody>
      </p:sp>
      <p:sp>
        <p:nvSpPr>
          <p:cNvPr id="17" name="reason-reviewer"/>
          <p:cNvSpPr txBox="1"/>
          <p:nvPr/>
        </p:nvSpPr>
        <p:spPr>
          <a:xfrm>
            <a:off x="1016000" y="5302250"/>
            <a:ext cx="3505200" cy="2667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 named expert reviewer</a:t>
            </a:r>
            <a:endParaRPr lang="en-US" sz="1400" dirty="0" spc="0"/>
          </a:p>
        </p:txBody>
      </p:sp>
      <p:sp>
        <p:nvSpPr>
          <p:cNvPr id="18" name="sequencing-heading"/>
          <p:cNvSpPr txBox="1"/>
          <p:nvPr/>
        </p:nvSpPr>
        <p:spPr>
          <a:xfrm>
            <a:off x="4826000" y="3556000"/>
            <a:ext cx="70485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SEQUENCING TEST</a:t>
            </a:r>
            <a:endParaRPr lang="en-US" sz="1400" dirty="0" spc="0"/>
          </a:p>
        </p:txBody>
      </p:sp>
      <p:sp>
        <p:nvSpPr>
          <p:cNvPr id="19" name="overlap-note"/>
          <p:cNvSpPr txBox="1"/>
          <p:nvPr/>
        </p:nvSpPr>
        <p:spPr>
          <a:xfrm>
            <a:off x="4826000" y="5486400"/>
            <a:ext cx="6985000" cy="177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Check task overlap before adding workflow benefits.</a:t>
            </a:r>
            <a:endParaRPr lang="en-US" sz="1100" dirty="0" spc="0"/>
          </a:p>
        </p:txBody>
      </p:sp>
      <p:sp>
        <p:nvSpPr>
          <p:cNvPr id="20"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PILOT BOUNDARY</a:t>
            </a:r>
            <a:endParaRPr lang="en-US" sz="1400" dirty="0" spc="0"/>
          </a:p>
        </p:txBody>
      </p:sp>
      <p:sp>
        <p:nvSpPr>
          <p:cNvPr id="21"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Start with approved-source research synthesis.</a:t>
            </a:r>
            <a:endParaRPr lang="en-US" sz="1400" dirty="0" spc="0"/>
          </a:p>
        </p:txBody>
      </p:sp>
      <p:pic>
        <p:nvPicPr>
          <p:cNvPr id="22" name="reason-icon-file" descr="remix-file-search-line">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00" y="4273550"/>
            <a:ext cx="361950" cy="361950"/>
          </a:xfrm>
          <a:prstGeom prst="rect">
            <a:avLst/>
          </a:prstGeom>
        </p:spPr>
      </p:pic>
      <p:pic>
        <p:nvPicPr>
          <p:cNvPr id="23" name="reason-icon-corpus" descr="remix-database-2-line">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00" y="4768850"/>
            <a:ext cx="361950" cy="361950"/>
          </a:xfrm>
          <a:prstGeom prst="rect">
            <a:avLst/>
          </a:prstGeom>
        </p:spPr>
      </p:pic>
      <p:pic>
        <p:nvPicPr>
          <p:cNvPr id="24" name="reason-icon-reviewer" descr="remix-user-star-line">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55600" y="5264150"/>
            <a:ext cx="361950" cy="361950"/>
          </a:xfrm>
          <a:prstGeom prst="rect">
            <a:avLst/>
          </a:prstGeom>
        </p:spPr>
      </p:pic>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bottom-divider"/>
          <p:cNvSpPr/>
          <p:nvPr/>
        </p:nvSpPr>
        <p:spPr>
          <a:xfrm>
            <a:off x="6083300" y="5054600"/>
            <a:ext cx="6350" cy="615950"/>
          </a:xfrm>
          <a:prstGeom prst="rect">
            <a:avLst/>
          </a:prstGeom>
          <a:solidFill>
            <a:srgbClr val="B7BCC2"/>
          </a:solidFill>
          <a:ln w="12700">
            <a:solidFill>
              <a:srgbClr val="FFFFFF">
                <a:alpha val="0"/>
              </a:srgbClr>
            </a:solidFill>
            <a:prstDash val="solid"/>
          </a:ln>
        </p:spPr>
      </p:sp>
      <p:sp>
        <p:nvSpPr>
          <p:cNvPr id="3"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4"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sp>
        <p:nvSpPr>
          <p:cNvPr id="5" name="shared-controls-1-bullet"/>
          <p:cNvSpPr/>
          <p:nvPr/>
        </p:nvSpPr>
        <p:spPr>
          <a:xfrm>
            <a:off x="330200" y="5289550"/>
            <a:ext cx="63500" cy="63500"/>
          </a:xfrm>
          <a:prstGeom prst="ellipse">
            <a:avLst/>
          </a:prstGeom>
          <a:solidFill>
            <a:srgbClr val="FD5108"/>
          </a:solidFill>
          <a:ln w="12700">
            <a:solidFill>
              <a:srgbClr val="FFFFFF">
                <a:alpha val="0"/>
              </a:srgbClr>
            </a:solidFill>
            <a:prstDash val="solid"/>
          </a:ln>
        </p:spPr>
      </p:sp>
      <p:sp>
        <p:nvSpPr>
          <p:cNvPr id="6" name="shared-controls-2-bullet"/>
          <p:cNvSpPr/>
          <p:nvPr/>
        </p:nvSpPr>
        <p:spPr>
          <a:xfrm>
            <a:off x="330200" y="5505450"/>
            <a:ext cx="63500" cy="63500"/>
          </a:xfrm>
          <a:prstGeom prst="ellipse">
            <a:avLst/>
          </a:prstGeom>
          <a:solidFill>
            <a:srgbClr val="FD5108"/>
          </a:solidFill>
          <a:ln w="12700">
            <a:solidFill>
              <a:srgbClr val="FFFFFF">
                <a:alpha val="0"/>
              </a:srgbClr>
            </a:solidFill>
            <a:prstDash val="solid"/>
          </a:ln>
        </p:spPr>
      </p:sp>
      <p:sp>
        <p:nvSpPr>
          <p:cNvPr id="7" name="measurement-1-bullet"/>
          <p:cNvSpPr/>
          <p:nvPr/>
        </p:nvSpPr>
        <p:spPr>
          <a:xfrm>
            <a:off x="6369050" y="5289550"/>
            <a:ext cx="63500" cy="63500"/>
          </a:xfrm>
          <a:prstGeom prst="ellipse">
            <a:avLst/>
          </a:prstGeom>
          <a:solidFill>
            <a:srgbClr val="FD5108"/>
          </a:solidFill>
          <a:ln w="12700">
            <a:solidFill>
              <a:srgbClr val="FFFFFF">
                <a:alpha val="0"/>
              </a:srgbClr>
            </a:solidFill>
            <a:prstDash val="solid"/>
          </a:ln>
        </p:spPr>
      </p:sp>
      <p:sp>
        <p:nvSpPr>
          <p:cNvPr id="8" name="measurement-2-bullet"/>
          <p:cNvSpPr/>
          <p:nvPr/>
        </p:nvSpPr>
        <p:spPr>
          <a:xfrm>
            <a:off x="6369050" y="5505450"/>
            <a:ext cx="63500" cy="63500"/>
          </a:xfrm>
          <a:prstGeom prst="ellipse">
            <a:avLst/>
          </a:prstGeom>
          <a:solidFill>
            <a:srgbClr val="FD5108"/>
          </a:solidFill>
          <a:ln w="12700">
            <a:solidFill>
              <a:srgbClr val="FFFFFF">
                <a:alpha val="0"/>
              </a:srgbClr>
            </a:solidFill>
            <a:prstDash val="solid"/>
          </a:ln>
        </p:spPr>
      </p:sp>
      <p:graphicFrame>
        <p:nvGraphicFramePr>
          <p:cNvPr id="9" name="responsibility-matrix"/>
          <p:cNvGraphicFramePr>
            <a:graphicFrameLocks noGrp="1"/>
          </p:cNvGraphicFramePr>
          <p:nvPr>
            <p:extLst>
              <p:ext uri="{D42A27DB-BD31-4B8C-83A1-F6EECF244321}">
                <p14:modId xmlns:p14="http://schemas.microsoft.com/office/powerpoint/2010/main" val="1579011935"/>
              </p:ext>
            </p:extLst>
          </p:nvPr>
        </p:nvGraphicFramePr>
        <p:xfrm>
          <a:off x="215900" y="3035300"/>
          <a:ext cx="11760200" cy="1892300"/>
        </p:xfrm>
        <a:graphic>
          <a:graphicData uri="http://schemas.openxmlformats.org/drawingml/2006/table">
            <a:tbl>
              <a:tblPr/>
              <a:tblGrid>
                <a:gridCol w="1866900"/>
                <a:gridCol w="2317750"/>
                <a:gridCol w="2520950"/>
                <a:gridCol w="2514600"/>
                <a:gridCol w="2540000"/>
              </a:tblGrid>
              <a:tr h="330200">
                <a:tc>
                  <a:txBody>
                    <a:bodyPr>
                      <a:noAutofit/>
                    </a:bodyPr>
                    <a:lstStyle/>
                    <a:p>
                      <a:pPr algn="l" indent="0" marL="0">
                        <a:buNone/>
                      </a:pP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Approved sources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Expert review</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Client-ready output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302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INPUT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Corpus request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pack + task brief</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Draft + evidence trail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draft + resolved defects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556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OUTPUT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Versioned source pack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Cited draft + uncertainty flags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review or defect log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Authorized client deliverable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365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team</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397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RELEASE CONTROL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Verify permissions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dates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Check citations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evidence gaps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Validate claims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quality</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Confirm release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approval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10" name="SC_CONNECTOR__forward-1__0"/>
          <p:cNvCxnSpPr/>
          <p:nvPr/>
        </p:nvCxnSpPr>
        <p:spPr>
          <a:xfrm>
            <a:off x="2139950" y="2159000"/>
            <a:ext cx="2197100" cy="0"/>
          </a:xfrm>
          <a:prstGeom prst="line">
            <a:avLst/>
          </a:prstGeom>
          <a:noFill/>
          <a:ln w="19050">
            <a:solidFill>
              <a:srgbClr val="FD5108"/>
            </a:solidFill>
            <a:prstDash val="solid"/>
            <a:round/>
            <a:headEnd type="none"/>
            <a:tailEnd type="triangle" w="lg" len="lg"/>
          </a:ln>
        </p:spPr>
      </p:cxnSp>
      <p:cxnSp>
        <p:nvCxnSpPr>
          <p:cNvPr id="11" name="SC_CONNECTOR__forward-2__0"/>
          <p:cNvCxnSpPr/>
          <p:nvPr/>
        </p:nvCxnSpPr>
        <p:spPr>
          <a:xfrm>
            <a:off x="4997450" y="2159000"/>
            <a:ext cx="2292350" cy="0"/>
          </a:xfrm>
          <a:prstGeom prst="line">
            <a:avLst/>
          </a:prstGeom>
          <a:noFill/>
          <a:ln w="19050">
            <a:solidFill>
              <a:srgbClr val="FD5108"/>
            </a:solidFill>
            <a:prstDash val="solid"/>
            <a:round/>
            <a:headEnd type="none"/>
            <a:tailEnd type="triangle" w="lg" len="lg"/>
          </a:ln>
        </p:spPr>
      </p:cxnSp>
      <p:cxnSp>
        <p:nvCxnSpPr>
          <p:cNvPr id="12" name="SC_CONNECTOR__forward-3__0"/>
          <p:cNvCxnSpPr/>
          <p:nvPr/>
        </p:nvCxnSpPr>
        <p:spPr>
          <a:xfrm>
            <a:off x="7950200" y="2159000"/>
            <a:ext cx="2101850" cy="0"/>
          </a:xfrm>
          <a:prstGeom prst="line">
            <a:avLst/>
          </a:prstGeom>
          <a:noFill/>
          <a:ln w="19050">
            <a:solidFill>
              <a:srgbClr val="FD5108"/>
            </a:solidFill>
            <a:prstDash val="solid"/>
            <a:round/>
            <a:headEnd type="none"/>
            <a:tailEnd type="triangle" w="lg" len="lg"/>
          </a:ln>
        </p:spPr>
      </p:cxnSp>
      <p:sp>
        <p:nvSpPr>
          <p:cNvPr id="13" name="SC_FREEFORM_ROUTE__source-return__0"/>
          <p:cNvSpPr/>
          <p:nvPr/>
        </p:nvSpPr>
        <p:spPr>
          <a:xfrm>
            <a:off x="1809750" y="1612900"/>
            <a:ext cx="2758440" cy="215900"/>
          </a:xfrm>
          <a:custGeom>
            <a:avLst/>
            <a:gdLst/>
            <a:ahLst/>
            <a:cxnLst/>
            <a:rect l="l" t="t" r="r" b="b"/>
            <a:pathLst>
              <a:path w="2758440" h="215900">
                <a:moveTo>
                  <a:pt x="2758440" y="215900"/>
                </a:moveTo>
                <a:lnTo>
                  <a:pt x="2758440" y="0"/>
                </a:lnTo>
                <a:lnTo>
                  <a:pt x="0" y="0"/>
                </a:lnTo>
                <a:lnTo>
                  <a:pt x="0" y="215900"/>
                </a:lnTo>
              </a:path>
            </a:pathLst>
          </a:custGeom>
          <a:solidFill>
            <a:srgbClr val="FFFFFF">
              <a:alpha val="0"/>
            </a:srgbClr>
          </a:solidFill>
          <a:ln w="19050">
            <a:solidFill>
              <a:srgbClr val="FD5108"/>
            </a:solidFill>
            <a:prstDash val="solid"/>
            <a:round/>
            <a:headEnd type="none"/>
            <a:tailEnd type="triangle" w="lg" len="lg"/>
          </a:ln>
        </p:spPr>
      </p:sp>
      <p:sp>
        <p:nvSpPr>
          <p:cNvPr id="14" name="SC_FREEFORM_ROUTE__review-return__0"/>
          <p:cNvSpPr/>
          <p:nvPr/>
        </p:nvSpPr>
        <p:spPr>
          <a:xfrm>
            <a:off x="4832350" y="1612900"/>
            <a:ext cx="2787650" cy="215900"/>
          </a:xfrm>
          <a:custGeom>
            <a:avLst/>
            <a:gdLst/>
            <a:ahLst/>
            <a:cxnLst/>
            <a:rect l="l" t="t" r="r" b="b"/>
            <a:pathLst>
              <a:path w="2787650" h="215900">
                <a:moveTo>
                  <a:pt x="2787650" y="215900"/>
                </a:moveTo>
                <a:lnTo>
                  <a:pt x="2787650" y="0"/>
                </a:lnTo>
                <a:lnTo>
                  <a:pt x="0" y="0"/>
                </a:lnTo>
                <a:lnTo>
                  <a:pt x="0" y="215900"/>
                </a:lnTo>
              </a:path>
            </a:pathLst>
          </a:custGeom>
          <a:solidFill>
            <a:srgbClr val="FFFFFF">
              <a:alpha val="0"/>
            </a:srgbClr>
          </a:solidFill>
          <a:ln w="19050">
            <a:solidFill>
              <a:srgbClr val="FD5108"/>
            </a:solidFill>
            <a:prstDash val="solid"/>
            <a:round/>
            <a:headEnd type="none"/>
            <a:tailEnd type="triangle" w="lg" len="lg"/>
          </a:ln>
        </p:spPr>
      </p:sp>
      <p:sp>
        <p:nvSpPr>
          <p:cNvPr id="15"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Keep expert ownership at every release</a:t>
            </a:r>
            <a:endParaRPr lang="en-US" sz="3200" dirty="0" spc="0"/>
          </a:p>
        </p:txBody>
      </p:sp>
      <p:sp>
        <p:nvSpPr>
          <p:cNvPr id="16"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A controlled path from permissioned evidence to approved client work.</a:t>
            </a:r>
            <a:endParaRPr lang="en-US" sz="1600" dirty="0" spc="0"/>
          </a:p>
        </p:txBody>
      </p:sp>
      <p:sp>
        <p:nvSpPr>
          <p:cNvPr id="17" name="stage-label-sources"/>
          <p:cNvSpPr txBox="1"/>
          <p:nvPr/>
        </p:nvSpPr>
        <p:spPr>
          <a:xfrm>
            <a:off x="6032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Approved sources</a:t>
            </a:r>
            <a:endParaRPr lang="en-US" sz="1400" dirty="0" spc="0"/>
          </a:p>
        </p:txBody>
      </p:sp>
      <p:sp>
        <p:nvSpPr>
          <p:cNvPr id="18" name="stage-label-draft"/>
          <p:cNvSpPr txBox="1"/>
          <p:nvPr/>
        </p:nvSpPr>
        <p:spPr>
          <a:xfrm>
            <a:off x="34607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Grounded draft</a:t>
            </a:r>
            <a:endParaRPr lang="en-US" sz="1400" dirty="0" spc="0"/>
          </a:p>
        </p:txBody>
      </p:sp>
      <p:sp>
        <p:nvSpPr>
          <p:cNvPr id="19" name="stage-label-review"/>
          <p:cNvSpPr txBox="1"/>
          <p:nvPr/>
        </p:nvSpPr>
        <p:spPr>
          <a:xfrm>
            <a:off x="641350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Expert review</a:t>
            </a:r>
            <a:endParaRPr lang="en-US" sz="1400" dirty="0" spc="0"/>
          </a:p>
        </p:txBody>
      </p:sp>
      <p:sp>
        <p:nvSpPr>
          <p:cNvPr id="20" name="stage-label-output"/>
          <p:cNvSpPr txBox="1"/>
          <p:nvPr/>
        </p:nvSpPr>
        <p:spPr>
          <a:xfrm>
            <a:off x="9175750" y="2635250"/>
            <a:ext cx="2413000" cy="2730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Client-ready output</a:t>
            </a:r>
            <a:endParaRPr lang="en-US" sz="1400" dirty="0" spc="0"/>
          </a:p>
        </p:txBody>
      </p:sp>
      <p:sp>
        <p:nvSpPr>
          <p:cNvPr id="21" name="source-return-label"/>
          <p:cNvSpPr txBox="1"/>
          <p:nvPr/>
        </p:nvSpPr>
        <p:spPr>
          <a:xfrm>
            <a:off x="2019300" y="1365250"/>
            <a:ext cx="2527300" cy="2095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00" b="1" dirty="0" spc="0">
                <a:solidFill>
                  <a:srgbClr val="000000"/>
                </a:solidFill>
                <a:latin typeface="Arial" pitchFamily="34" charset="0"/>
                <a:ea typeface="Arial" pitchFamily="34" charset="-122"/>
                <a:cs typeface="Arial" pitchFamily="34" charset="-120"/>
              </a:rPr>
              <a:t>Correct sources via exception register</a:t>
            </a:r>
            <a:endParaRPr lang="en-US" sz="1000" dirty="0" spc="0"/>
          </a:p>
        </p:txBody>
      </p:sp>
      <p:sp>
        <p:nvSpPr>
          <p:cNvPr id="22" name="review-return-label"/>
          <p:cNvSpPr txBox="1"/>
          <p:nvPr/>
        </p:nvSpPr>
        <p:spPr>
          <a:xfrm>
            <a:off x="5060950" y="1365250"/>
            <a:ext cx="2571750" cy="2095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000" b="1" dirty="0" spc="0">
                <a:solidFill>
                  <a:srgbClr val="000000"/>
                </a:solidFill>
                <a:latin typeface="Arial" pitchFamily="34" charset="0"/>
                <a:ea typeface="Arial" pitchFamily="34" charset="-122"/>
                <a:cs typeface="Arial" pitchFamily="34" charset="-120"/>
              </a:rPr>
              <a:t>Reject with defect reasons</a:t>
            </a:r>
            <a:endParaRPr lang="en-US" sz="1000" dirty="0" spc="0"/>
          </a:p>
        </p:txBody>
      </p:sp>
      <p:sp>
        <p:nvSpPr>
          <p:cNvPr id="23" name="shared-controls-heading"/>
          <p:cNvSpPr txBox="1"/>
          <p:nvPr/>
        </p:nvSpPr>
        <p:spPr>
          <a:xfrm>
            <a:off x="292100" y="4978400"/>
            <a:ext cx="5016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SHARED CONTROLS</a:t>
            </a:r>
            <a:endParaRPr lang="en-US" sz="1400" dirty="0" spc="0"/>
          </a:p>
        </p:txBody>
      </p:sp>
      <p:sp>
        <p:nvSpPr>
          <p:cNvPr id="24" name="measurement-heading"/>
          <p:cNvSpPr txBox="1"/>
          <p:nvPr/>
        </p:nvSpPr>
        <p:spPr>
          <a:xfrm>
            <a:off x="6350000" y="4978400"/>
            <a:ext cx="5524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MEASUREMENT</a:t>
            </a:r>
            <a:endParaRPr lang="en-US" sz="1400" dirty="0" spc="0"/>
          </a:p>
        </p:txBody>
      </p:sp>
      <p:sp>
        <p:nvSpPr>
          <p:cNvPr id="25"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RELEASE RULE</a:t>
            </a:r>
            <a:endParaRPr lang="en-US" sz="1400" dirty="0" spc="0"/>
          </a:p>
        </p:txBody>
      </p:sp>
      <p:sp>
        <p:nvSpPr>
          <p:cNvPr id="26"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client use without expert and engagement-lead sign-off.</a:t>
            </a:r>
            <a:endParaRPr lang="en-US" sz="1400" dirty="0" spc="0"/>
          </a:p>
        </p:txBody>
      </p:sp>
      <p:sp>
        <p:nvSpPr>
          <p:cNvPr id="27" name="shared-controls-1"/>
          <p:cNvSpPr txBox="1"/>
          <p:nvPr/>
        </p:nvSpPr>
        <p:spPr>
          <a:xfrm>
            <a:off x="552450" y="5226050"/>
            <a:ext cx="537210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One register records defects, owners and disposition.</a:t>
            </a:r>
            <a:endParaRPr lang="en-US" sz="1200" dirty="0" spc="0"/>
          </a:p>
        </p:txBody>
      </p:sp>
      <p:sp>
        <p:nvSpPr>
          <p:cNvPr id="28" name="shared-controls-2"/>
          <p:cNvSpPr txBox="1"/>
          <p:nvPr/>
        </p:nvSpPr>
        <p:spPr>
          <a:xfrm>
            <a:off x="552450" y="5441950"/>
            <a:ext cx="537210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Platform team maintains access controls and audit logs.</a:t>
            </a:r>
            <a:endParaRPr lang="en-US" sz="1200" dirty="0" spc="0"/>
          </a:p>
        </p:txBody>
      </p:sp>
      <p:sp>
        <p:nvSpPr>
          <p:cNvPr id="29" name="measurement-1"/>
          <p:cNvSpPr txBox="1"/>
          <p:nvPr/>
        </p:nvSpPr>
        <p:spPr>
          <a:xfrm>
            <a:off x="6591300" y="5226050"/>
            <a:ext cx="530225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Compare 20 paired tasks with baseline time logs.</a:t>
            </a:r>
            <a:endParaRPr lang="en-US" sz="1200" dirty="0" spc="0"/>
          </a:p>
        </p:txBody>
      </p:sp>
      <p:sp>
        <p:nvSpPr>
          <p:cNvPr id="30" name="measurement-2"/>
          <p:cNvSpPr txBox="1"/>
          <p:nvPr/>
        </p:nvSpPr>
        <p:spPr>
          <a:xfrm>
            <a:off x="6591300" y="5441950"/>
            <a:ext cx="5302250" cy="21590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Verify claim samples and record expert review effort.</a:t>
            </a:r>
            <a:endParaRPr lang="en-US" sz="1200" dirty="0" spc="0"/>
          </a:p>
        </p:txBody>
      </p:sp>
      <p:pic>
        <p:nvPicPr>
          <p:cNvPr id="31" name="stage-icon-sources" descr="remix-file-search-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504950" y="1854200"/>
            <a:ext cx="609600" cy="609600"/>
          </a:xfrm>
          <a:prstGeom prst="rect">
            <a:avLst/>
          </a:prstGeom>
        </p:spPr>
      </p:pic>
      <p:pic>
        <p:nvPicPr>
          <p:cNvPr id="32" name="stage-icon-draft" descr="remix-draft-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62450" y="1854200"/>
            <a:ext cx="609600" cy="609600"/>
          </a:xfrm>
          <a:prstGeom prst="rect">
            <a:avLst/>
          </a:prstGeom>
        </p:spPr>
      </p:pic>
      <p:pic>
        <p:nvPicPr>
          <p:cNvPr id="33" name="stage-icon-review" descr="remix-shield-check-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0" y="1854200"/>
            <a:ext cx="609600" cy="609600"/>
          </a:xfrm>
          <a:prstGeom prst="rect">
            <a:avLst/>
          </a:prstGeom>
        </p:spPr>
      </p:pic>
      <p:pic>
        <p:nvPicPr>
          <p:cNvPr id="34" name="stage-icon-output" descr="remix-send-plane-2-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77450" y="1854200"/>
            <a:ext cx="609600" cy="609600"/>
          </a:xfrm>
          <a:prstGeom prst="rect">
            <a:avLst/>
          </a:prstGeom>
        </p:spPr>
      </p:pic>
      <p:sp>
        <p:nvSpPr>
          <p:cNvPr id="3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dependency-divider"/>
          <p:cNvSpPr/>
          <p:nvPr/>
        </p:nvSpPr>
        <p:spPr>
          <a:xfrm>
            <a:off x="8413750" y="4318000"/>
            <a:ext cx="6350" cy="1193800"/>
          </a:xfrm>
          <a:prstGeom prst="rect">
            <a:avLst/>
          </a:prstGeom>
          <a:solidFill>
            <a:srgbClr val="B7BCC2"/>
          </a:solidFill>
          <a:ln w="12700">
            <a:solidFill>
              <a:srgbClr val="FFFFFF">
                <a:alpha val="0"/>
              </a:srgbClr>
            </a:solidFill>
            <a:prstDash val="solid"/>
          </a:ln>
        </p:spPr>
      </p:sp>
      <p:sp>
        <p:nvSpPr>
          <p:cNvPr id="3" name="dependency-line"/>
          <p:cNvSpPr/>
          <p:nvPr/>
        </p:nvSpPr>
        <p:spPr>
          <a:xfrm>
            <a:off x="8890000" y="4692650"/>
            <a:ext cx="25400" cy="635000"/>
          </a:xfrm>
          <a:prstGeom prst="rect">
            <a:avLst/>
          </a:prstGeom>
          <a:solidFill>
            <a:srgbClr val="FD5108"/>
          </a:solidFill>
          <a:ln w="12700">
            <a:solidFill>
              <a:srgbClr val="FFFFFF">
                <a:alpha val="0"/>
              </a:srgbClr>
            </a:solidFill>
            <a:prstDash val="solid"/>
          </a:ln>
        </p:spPr>
      </p:sp>
      <p:sp>
        <p:nvSpPr>
          <p:cNvPr id="4"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5"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sp>
        <p:nvSpPr>
          <p:cNvPr id="6" name="dependency-node-1"/>
          <p:cNvSpPr/>
          <p:nvPr/>
        </p:nvSpPr>
        <p:spPr>
          <a:xfrm>
            <a:off x="8832850" y="4635500"/>
            <a:ext cx="139700" cy="139700"/>
          </a:xfrm>
          <a:prstGeom prst="ellipse">
            <a:avLst/>
          </a:prstGeom>
          <a:solidFill>
            <a:srgbClr val="FD5108"/>
          </a:solidFill>
          <a:ln w="12700">
            <a:solidFill>
              <a:srgbClr val="FFFFFF">
                <a:alpha val="0"/>
              </a:srgbClr>
            </a:solidFill>
            <a:prstDash val="solid"/>
          </a:ln>
        </p:spPr>
      </p:sp>
      <p:sp>
        <p:nvSpPr>
          <p:cNvPr id="7" name="dependency-node-2"/>
          <p:cNvSpPr/>
          <p:nvPr/>
        </p:nvSpPr>
        <p:spPr>
          <a:xfrm>
            <a:off x="8832850" y="4953000"/>
            <a:ext cx="139700" cy="139700"/>
          </a:xfrm>
          <a:prstGeom prst="ellipse">
            <a:avLst/>
          </a:prstGeom>
          <a:solidFill>
            <a:srgbClr val="FD5108"/>
          </a:solidFill>
          <a:ln w="12700">
            <a:solidFill>
              <a:srgbClr val="FFFFFF">
                <a:alpha val="0"/>
              </a:srgbClr>
            </a:solidFill>
            <a:prstDash val="solid"/>
          </a:ln>
        </p:spPr>
      </p:sp>
      <p:sp>
        <p:nvSpPr>
          <p:cNvPr id="8" name="dependency-node-3"/>
          <p:cNvSpPr/>
          <p:nvPr/>
        </p:nvSpPr>
        <p:spPr>
          <a:xfrm>
            <a:off x="8832850" y="5270500"/>
            <a:ext cx="139700" cy="139700"/>
          </a:xfrm>
          <a:prstGeom prst="ellipse">
            <a:avLst/>
          </a:prstGeom>
          <a:solidFill>
            <a:srgbClr val="FD5108"/>
          </a:solidFill>
          <a:ln w="12700">
            <a:solidFill>
              <a:srgbClr val="FFFFFF">
                <a:alpha val="0"/>
              </a:srgbClr>
            </a:solidFill>
            <a:prstDash val="solid"/>
          </a:ln>
        </p:spPr>
      </p:sp>
      <p:graphicFrame>
        <p:nvGraphicFramePr>
          <p:cNvPr id="9" name="roadmap-matrix"/>
          <p:cNvGraphicFramePr>
            <a:graphicFrameLocks noGrp="1"/>
          </p:cNvGraphicFramePr>
          <p:nvPr>
            <p:extLst>
              <p:ext uri="{D42A27DB-BD31-4B8C-83A1-F6EECF244321}">
                <p14:modId xmlns:p14="http://schemas.microsoft.com/office/powerpoint/2010/main" val="1579011935"/>
              </p:ext>
            </p:extLst>
          </p:nvPr>
        </p:nvGraphicFramePr>
        <p:xfrm>
          <a:off x="273050" y="1460500"/>
          <a:ext cx="11620500" cy="2743200"/>
        </p:xfrm>
        <a:graphic>
          <a:graphicData uri="http://schemas.openxmlformats.org/drawingml/2006/table">
            <a:tbl>
              <a:tblPr/>
              <a:tblGrid>
                <a:gridCol w="2254250"/>
                <a:gridCol w="2336800"/>
                <a:gridCol w="2336800"/>
                <a:gridCol w="2336800"/>
                <a:gridCol w="2355850"/>
              </a:tblGrid>
              <a:tr h="5080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WORKSTREAM / OWNER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1–2</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Approve &amp; baseline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3–4</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Build &amp; test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5–8</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Pilot &amp; learn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WEEKS 9–12</a:t>
                      </a:r>
                      <a:endParaRPr lang="en-US" sz="1200" dirty="0">
                        <a:latin typeface="Arial" charset="0"/>
                        <a:ea typeface="Arial" charset="0"/>
                        <a:cs typeface="Arial" charset="0"/>
                      </a:endParaRPr>
                    </a:p>
                    <a:p>
                      <a:pPr algn="l" indent="0" marL="0">
                        <a:buNone/>
                      </a:pPr>
                      <a:r>
                        <a:rPr lang="en-US" sz="1200" b="1" dirty="0">
                          <a:solidFill>
                            <a:srgbClr val="FFFFFF"/>
                          </a:solidFill>
                          <a:latin typeface="Arial" pitchFamily="34" charset="0"/>
                          <a:ea typeface="Arial" pitchFamily="34" charset="-122"/>
                          <a:cs typeface="Arial" pitchFamily="34" charset="-120"/>
                        </a:rPr>
                        <a:t>Prove &amp; decide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Data &amp; access
</a:t>
                      </a:r>
                      <a:pPr algn="l" indent="0" marL="0">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Access register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refresh</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Named stewards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Weekly access and</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freshness checks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Audit closeout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Release inventory</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Workflow &amp; product
</a:t>
                      </a:r>
                      <a:pPr algn="l" indent="0" marL="0">
                        <a:buNone/>
                      </a:pPr>
                      <a:r>
                        <a:rPr lang="en-US" sz="1200" dirty="0">
                          <a:solidFill>
                            <a:srgbClr val="000000"/>
                          </a:solidFill>
                          <a:latin typeface="Arial" pitchFamily="34" charset="0"/>
                          <a:ea typeface="Arial" pitchFamily="34" charset="-122"/>
                          <a:cs typeface="Arial" pitchFamily="34" charset="-120"/>
                        </a:rPr>
                        <a:t>Product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Task mapping</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Baseline time logs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Visible citations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15-user pilot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Defect fixes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Release candidate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Runbook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Quality &amp; controls
</a:t>
                      </a:r>
                      <a:pPr algn="l" indent="0" marL="0">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Risk boundaries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Review criteria</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Test pack</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Rejection reasons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10 reviewed tasks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Error triage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20 completed tasks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Gate evidence</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Adoption &amp; value
</a:t>
                      </a:r>
                      <a:pPr algn="l" indent="0" marL="0">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Sponsor &amp; users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Agree tracking</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Training &amp; support</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Measurement plan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Weekly usage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Feedback sessions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Benefit case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Scale recommendation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10" name="SC_CONNECTOR__gate-flow-1__0"/>
          <p:cNvCxnSpPr/>
          <p:nvPr/>
        </p:nvCxnSpPr>
        <p:spPr>
          <a:xfrm>
            <a:off x="1549400" y="4800600"/>
            <a:ext cx="1663700" cy="0"/>
          </a:xfrm>
          <a:prstGeom prst="line">
            <a:avLst/>
          </a:prstGeom>
          <a:noFill/>
          <a:ln w="19050">
            <a:solidFill>
              <a:srgbClr val="FD5108"/>
            </a:solidFill>
            <a:prstDash val="solid"/>
            <a:round/>
            <a:headEnd type="none"/>
            <a:tailEnd type="triangle" w="lg" len="lg"/>
          </a:ln>
        </p:spPr>
      </p:cxnSp>
      <p:cxnSp>
        <p:nvCxnSpPr>
          <p:cNvPr id="11" name="SC_CONNECTOR__gate-flow-2__0"/>
          <p:cNvCxnSpPr/>
          <p:nvPr/>
        </p:nvCxnSpPr>
        <p:spPr>
          <a:xfrm>
            <a:off x="3517900" y="4800600"/>
            <a:ext cx="1663700" cy="0"/>
          </a:xfrm>
          <a:prstGeom prst="line">
            <a:avLst/>
          </a:prstGeom>
          <a:noFill/>
          <a:ln w="19050">
            <a:solidFill>
              <a:srgbClr val="FD5108"/>
            </a:solidFill>
            <a:prstDash val="solid"/>
            <a:round/>
            <a:headEnd type="none"/>
            <a:tailEnd type="triangle" w="lg" len="lg"/>
          </a:ln>
        </p:spPr>
      </p:cxnSp>
      <p:cxnSp>
        <p:nvCxnSpPr>
          <p:cNvPr id="12" name="SC_CONNECTOR__gate-flow-3__0"/>
          <p:cNvCxnSpPr/>
          <p:nvPr/>
        </p:nvCxnSpPr>
        <p:spPr>
          <a:xfrm>
            <a:off x="5486400" y="4800600"/>
            <a:ext cx="1663700" cy="0"/>
          </a:xfrm>
          <a:prstGeom prst="line">
            <a:avLst/>
          </a:prstGeom>
          <a:noFill/>
          <a:ln w="19050">
            <a:solidFill>
              <a:srgbClr val="FD5108"/>
            </a:solidFill>
            <a:prstDash val="solid"/>
            <a:round/>
            <a:headEnd type="none"/>
            <a:tailEnd type="triangle" w="lg" len="lg"/>
          </a:ln>
        </p:spPr>
      </p:cxnSp>
      <p:sp>
        <p:nvSpPr>
          <p:cNvPr id="13"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Run the pilot through four evidence gates</a:t>
            </a:r>
            <a:endParaRPr lang="en-US" sz="3200" dirty="0" spc="0"/>
          </a:p>
        </p:txBody>
      </p:sp>
      <p:sp>
        <p:nvSpPr>
          <p:cNvPr id="14"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Owners run the workstreams. Evidence gates release the next phase.</a:t>
            </a:r>
            <a:endParaRPr lang="en-US" sz="1600" dirty="0" spc="0"/>
          </a:p>
        </p:txBody>
      </p:sp>
      <p:sp>
        <p:nvSpPr>
          <p:cNvPr id="15" name="gates-heading"/>
          <p:cNvSpPr txBox="1"/>
          <p:nvPr/>
        </p:nvSpPr>
        <p:spPr>
          <a:xfrm>
            <a:off x="273050" y="4324350"/>
            <a:ext cx="57150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EVIDENCE GATES</a:t>
            </a:r>
            <a:endParaRPr lang="en-US" sz="1400" dirty="0" spc="0"/>
          </a:p>
        </p:txBody>
      </p:sp>
      <p:sp>
        <p:nvSpPr>
          <p:cNvPr id="16" name="gate-label-g1"/>
          <p:cNvSpPr txBox="1"/>
          <p:nvPr/>
        </p:nvSpPr>
        <p:spPr>
          <a:xfrm>
            <a:off x="571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G1 · Week 2</a:t>
            </a:r>
            <a:endParaRPr lang="en-US" sz="1300" dirty="0" spc="0"/>
          </a:p>
        </p:txBody>
      </p:sp>
      <p:sp>
        <p:nvSpPr>
          <p:cNvPr id="17" name="gate-detail-g1"/>
          <p:cNvSpPr txBox="1"/>
          <p:nvPr/>
        </p:nvSpPr>
        <p:spPr>
          <a:xfrm>
            <a:off x="4127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Corpus + access signed</a:t>
            </a:r>
            <a:endParaRPr lang="en-US" sz="1150" dirty="0" spc="0"/>
          </a:p>
        </p:txBody>
      </p:sp>
      <p:sp>
        <p:nvSpPr>
          <p:cNvPr id="18" name="gate-label-g2"/>
          <p:cNvSpPr txBox="1"/>
          <p:nvPr/>
        </p:nvSpPr>
        <p:spPr>
          <a:xfrm>
            <a:off x="2540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G2 · Week 4</a:t>
            </a:r>
            <a:endParaRPr lang="en-US" sz="1300" dirty="0" spc="0"/>
          </a:p>
        </p:txBody>
      </p:sp>
      <p:sp>
        <p:nvSpPr>
          <p:cNvPr id="19" name="gate-detail-g2"/>
          <p:cNvSpPr txBox="1"/>
          <p:nvPr/>
        </p:nvSpPr>
        <p:spPr>
          <a:xfrm>
            <a:off x="23812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Test pack approved</a:t>
            </a:r>
            <a:endParaRPr lang="en-US" sz="1150" dirty="0" spc="0"/>
          </a:p>
        </p:txBody>
      </p:sp>
      <p:sp>
        <p:nvSpPr>
          <p:cNvPr id="20" name="gate-label-g3"/>
          <p:cNvSpPr txBox="1"/>
          <p:nvPr/>
        </p:nvSpPr>
        <p:spPr>
          <a:xfrm>
            <a:off x="4508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G3 · Week 8</a:t>
            </a:r>
            <a:endParaRPr lang="en-US" sz="1300" dirty="0" spc="0"/>
          </a:p>
        </p:txBody>
      </p:sp>
      <p:sp>
        <p:nvSpPr>
          <p:cNvPr id="21" name="gate-detail-g3"/>
          <p:cNvSpPr txBox="1"/>
          <p:nvPr/>
        </p:nvSpPr>
        <p:spPr>
          <a:xfrm>
            <a:off x="43497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10 tasks reviewed</a:t>
            </a:r>
            <a:endParaRPr lang="en-US" sz="1150" dirty="0" spc="0"/>
          </a:p>
        </p:txBody>
      </p:sp>
      <p:sp>
        <p:nvSpPr>
          <p:cNvPr id="22" name="gate-label-g4"/>
          <p:cNvSpPr txBox="1"/>
          <p:nvPr/>
        </p:nvSpPr>
        <p:spPr>
          <a:xfrm>
            <a:off x="6477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300" b="1" dirty="0" spc="0">
                <a:solidFill>
                  <a:srgbClr val="FD5108"/>
                </a:solidFill>
                <a:latin typeface="Arial" pitchFamily="34" charset="0"/>
                <a:ea typeface="Arial" pitchFamily="34" charset="-122"/>
                <a:cs typeface="Arial" pitchFamily="34" charset="-120"/>
              </a:rPr>
              <a:t>G4 · Week 12</a:t>
            </a:r>
            <a:endParaRPr lang="en-US" sz="1300" dirty="0" spc="0"/>
          </a:p>
        </p:txBody>
      </p:sp>
      <p:sp>
        <p:nvSpPr>
          <p:cNvPr id="23" name="gate-detail-g4"/>
          <p:cNvSpPr txBox="1"/>
          <p:nvPr/>
        </p:nvSpPr>
        <p:spPr>
          <a:xfrm>
            <a:off x="6318250" y="5251450"/>
            <a:ext cx="1968500" cy="342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Practice lead + CFO</a:t>
            </a:r>
            <a:endParaRPr lang="en-US" sz="1150" dirty="0" spc="0"/>
          </a:p>
          <a:p>
            <a:pPr algn="ctr"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decide</a:t>
            </a:r>
            <a:endParaRPr lang="en-US" sz="1150" dirty="0" spc="0"/>
          </a:p>
        </p:txBody>
      </p:sp>
      <p:sp>
        <p:nvSpPr>
          <p:cNvPr id="24" name="dependencies-heading"/>
          <p:cNvSpPr txBox="1"/>
          <p:nvPr/>
        </p:nvSpPr>
        <p:spPr>
          <a:xfrm>
            <a:off x="8636000" y="4324350"/>
            <a:ext cx="3238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DEPENDENCIES</a:t>
            </a:r>
            <a:endParaRPr lang="en-US" sz="1400" dirty="0" spc="0"/>
          </a:p>
        </p:txBody>
      </p:sp>
      <p:sp>
        <p:nvSpPr>
          <p:cNvPr id="25" name="dependency-text-1"/>
          <p:cNvSpPr txBox="1"/>
          <p:nvPr/>
        </p:nvSpPr>
        <p:spPr>
          <a:xfrm>
            <a:off x="9207500" y="4610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Permissions before retrieval tests</a:t>
            </a:r>
            <a:endParaRPr lang="en-US" sz="1150" dirty="0" spc="0"/>
          </a:p>
        </p:txBody>
      </p:sp>
      <p:sp>
        <p:nvSpPr>
          <p:cNvPr id="26" name="dependency-text-2"/>
          <p:cNvSpPr txBox="1"/>
          <p:nvPr/>
        </p:nvSpPr>
        <p:spPr>
          <a:xfrm>
            <a:off x="9207500" y="49276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Approved test pack before pilot</a:t>
            </a:r>
            <a:endParaRPr lang="en-US" sz="1150" dirty="0" spc="0"/>
          </a:p>
        </p:txBody>
      </p:sp>
      <p:sp>
        <p:nvSpPr>
          <p:cNvPr id="27" name="dependency-text-3"/>
          <p:cNvSpPr txBox="1"/>
          <p:nvPr/>
        </p:nvSpPr>
        <p:spPr>
          <a:xfrm>
            <a:off x="9207500" y="5245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50" dirty="0" spc="0">
                <a:solidFill>
                  <a:srgbClr val="000000"/>
                </a:solidFill>
                <a:latin typeface="Arial" pitchFamily="34" charset="0"/>
                <a:ea typeface="Arial" pitchFamily="34" charset="-122"/>
                <a:cs typeface="Arial" pitchFamily="34" charset="-120"/>
              </a:rPr>
              <a:t>Quality evidence before benefit case</a:t>
            </a:r>
            <a:endParaRPr lang="en-US" sz="1150" dirty="0" spc="0"/>
          </a:p>
        </p:txBody>
      </p:sp>
      <p:sp>
        <p:nvSpPr>
          <p:cNvPr id="28"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 RULE</a:t>
            </a:r>
            <a:endParaRPr lang="en-US" sz="1400" dirty="0" spc="0"/>
          </a:p>
        </p:txBody>
      </p:sp>
      <p:sp>
        <p:nvSpPr>
          <p:cNvPr id="29"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expansion while critical data exceptions remain open.</a:t>
            </a:r>
            <a:endParaRPr lang="en-US" sz="1400" dirty="0" spc="0"/>
          </a:p>
        </p:txBody>
      </p:sp>
      <p:pic>
        <p:nvPicPr>
          <p:cNvPr id="30" name="gate-icon-g1" descr="remix-flag-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57300" y="4660900"/>
            <a:ext cx="279400" cy="279400"/>
          </a:xfrm>
          <a:prstGeom prst="rect">
            <a:avLst/>
          </a:prstGeom>
        </p:spPr>
      </p:pic>
      <p:pic>
        <p:nvPicPr>
          <p:cNvPr id="31" name="gate-icon-g2" descr="remix-flag-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25800" y="4660900"/>
            <a:ext cx="279400" cy="279400"/>
          </a:xfrm>
          <a:prstGeom prst="rect">
            <a:avLst/>
          </a:prstGeom>
        </p:spPr>
      </p:pic>
      <p:pic>
        <p:nvPicPr>
          <p:cNvPr id="32" name="gate-icon-g3" descr="remix-flag-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94300" y="4660900"/>
            <a:ext cx="279400" cy="279400"/>
          </a:xfrm>
          <a:prstGeom prst="rect">
            <a:avLst/>
          </a:prstGeom>
        </p:spPr>
      </p:pic>
      <p:pic>
        <p:nvPicPr>
          <p:cNvPr id="33" name="gate-icon-g4" descr="remix-flag-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62800" y="4660900"/>
            <a:ext cx="279400" cy="279400"/>
          </a:xfrm>
          <a:prstGeom prst="rect">
            <a:avLst/>
          </a:prstGeom>
        </p:spPr>
      </p:pic>
      <p:sp>
        <p:nvSpPr>
          <p:cNvPr id="34"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introduction-rule"/>
          <p:cNvSpPr/>
          <p:nvPr/>
        </p:nvSpPr>
        <p:spPr>
          <a:xfrm>
            <a:off x="292100" y="1409700"/>
            <a:ext cx="11607800" cy="12700"/>
          </a:xfrm>
          <a:prstGeom prst="rect">
            <a:avLst/>
          </a:prstGeom>
          <a:solidFill>
            <a:srgbClr val="91969D"/>
          </a:solidFill>
          <a:ln w="12700">
            <a:solidFill>
              <a:srgbClr val="FFFFFF">
                <a:alpha val="0"/>
              </a:srgbClr>
            </a:solidFill>
            <a:prstDash val="solid"/>
          </a:ln>
        </p:spPr>
      </p:sp>
      <p:sp>
        <p:nvSpPr>
          <p:cNvPr id="3" name="capacity-panel"/>
          <p:cNvSpPr/>
          <p:nvPr/>
        </p:nvSpPr>
        <p:spPr>
          <a:xfrm>
            <a:off x="292100" y="1924050"/>
            <a:ext cx="3460750" cy="2032000"/>
          </a:xfrm>
          <a:prstGeom prst="rect">
            <a:avLst/>
          </a:prstGeom>
          <a:solidFill>
            <a:srgbClr val="FFF5ED"/>
          </a:solidFill>
          <a:ln w="12700">
            <a:solidFill>
              <a:srgbClr val="FFFFFF">
                <a:alpha val="0"/>
              </a:srgbClr>
            </a:solidFill>
            <a:prstDash val="solid"/>
          </a:ln>
        </p:spPr>
      </p:sp>
      <p:sp>
        <p:nvSpPr>
          <p:cNvPr id="4" name="capacity-divider"/>
          <p:cNvSpPr/>
          <p:nvPr/>
        </p:nvSpPr>
        <p:spPr>
          <a:xfrm>
            <a:off x="412750" y="3238500"/>
            <a:ext cx="3111500" cy="6350"/>
          </a:xfrm>
          <a:prstGeom prst="rect">
            <a:avLst/>
          </a:prstGeom>
          <a:solidFill>
            <a:srgbClr val="C1C4C7"/>
          </a:solidFill>
          <a:ln w="12700">
            <a:solidFill>
              <a:srgbClr val="FFFFFF">
                <a:alpha val="0"/>
              </a:srgbClr>
            </a:solidFill>
            <a:prstDash val="solid"/>
          </a:ln>
        </p:spPr>
      </p:sp>
      <p:sp>
        <p:nvSpPr>
          <p:cNvPr id="5" name="criterion-panel-go"/>
          <p:cNvSpPr/>
          <p:nvPr/>
        </p:nvSpPr>
        <p:spPr>
          <a:xfrm>
            <a:off x="292100" y="4406900"/>
            <a:ext cx="3784600" cy="952500"/>
          </a:xfrm>
          <a:prstGeom prst="rect">
            <a:avLst/>
          </a:prstGeom>
          <a:solidFill>
            <a:srgbClr val="F5F7F8"/>
          </a:solidFill>
          <a:ln w="12700">
            <a:solidFill>
              <a:srgbClr val="FFFFFF">
                <a:alpha val="0"/>
              </a:srgbClr>
            </a:solidFill>
            <a:prstDash val="solid"/>
          </a:ln>
        </p:spPr>
      </p:sp>
      <p:sp>
        <p:nvSpPr>
          <p:cNvPr id="6" name="criterion-panel-hold"/>
          <p:cNvSpPr/>
          <p:nvPr/>
        </p:nvSpPr>
        <p:spPr>
          <a:xfrm>
            <a:off x="4159250" y="4406900"/>
            <a:ext cx="3784600" cy="952500"/>
          </a:xfrm>
          <a:prstGeom prst="rect">
            <a:avLst/>
          </a:prstGeom>
          <a:solidFill>
            <a:srgbClr val="F5F7F8"/>
          </a:solidFill>
          <a:ln w="12700">
            <a:solidFill>
              <a:srgbClr val="FFFFFF">
                <a:alpha val="0"/>
              </a:srgbClr>
            </a:solidFill>
            <a:prstDash val="solid"/>
          </a:ln>
        </p:spPr>
      </p:sp>
      <p:sp>
        <p:nvSpPr>
          <p:cNvPr id="7" name="criterion-panel-stop"/>
          <p:cNvSpPr/>
          <p:nvPr/>
        </p:nvSpPr>
        <p:spPr>
          <a:xfrm>
            <a:off x="8026400" y="4406900"/>
            <a:ext cx="3784600" cy="952500"/>
          </a:xfrm>
          <a:prstGeom prst="rect">
            <a:avLst/>
          </a:prstGeom>
          <a:solidFill>
            <a:srgbClr val="F5F7F8"/>
          </a:solidFill>
          <a:ln w="12700">
            <a:solidFill>
              <a:srgbClr val="FFFFFF">
                <a:alpha val="0"/>
              </a:srgbClr>
            </a:solidFill>
            <a:prstDash val="solid"/>
          </a:ln>
        </p:spPr>
      </p:sp>
      <p:sp>
        <p:nvSpPr>
          <p:cNvPr id="8"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9"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graphicFrame>
        <p:nvGraphicFramePr>
          <p:cNvPr id="10" name="investment-table"/>
          <p:cNvGraphicFramePr>
            <a:graphicFrameLocks noGrp="1"/>
          </p:cNvGraphicFramePr>
          <p:nvPr>
            <p:extLst>
              <p:ext uri="{D42A27DB-BD31-4B8C-83A1-F6EECF244321}">
                <p14:modId xmlns:p14="http://schemas.microsoft.com/office/powerpoint/2010/main" val="1579011935"/>
              </p:ext>
            </p:extLst>
          </p:nvPr>
        </p:nvGraphicFramePr>
        <p:xfrm>
          <a:off x="3937000" y="1924050"/>
          <a:ext cx="3079750" cy="1727200"/>
        </p:xfrm>
        <a:graphic>
          <a:graphicData uri="http://schemas.openxmlformats.org/drawingml/2006/table">
            <a:tbl>
              <a:tblPr/>
              <a:tblGrid>
                <a:gridCol w="1809750"/>
                <a:gridCol w="1270000"/>
              </a:tblGrid>
              <a:tr h="330200">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Cost item</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Amount</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Implementation</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$85k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Pilot included</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$25k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349250">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Annual operations</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$30k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3492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First-year total</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$115k</a:t>
                      </a:r>
                      <a:endParaRPr lang="en-US" sz="1200" dirty="0">
                        <a:latin typeface="Arial" charset="0"/>
                        <a:ea typeface="Arial" charset="0"/>
                        <a:cs typeface="Arial" charset="0"/>
                      </a:endParaRPr>
                    </a:p>
                  </a:txBody>
                  <a:tcPr marL="76200" marR="7620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bl>
          </a:graphicData>
        </a:graphic>
      </p:graphicFrame>
      <p:graphicFrame>
        <p:nvGraphicFramePr>
          <p:cNvPr id="11" name="sensitivity-table"/>
          <p:cNvGraphicFramePr>
            <a:graphicFrameLocks noGrp="1"/>
          </p:cNvGraphicFramePr>
          <p:nvPr>
            <p:extLst>
              <p:ext uri="{D42A27DB-BD31-4B8C-83A1-F6EECF244321}">
                <p14:modId xmlns:p14="http://schemas.microsoft.com/office/powerpoint/2010/main" val="1579011935"/>
              </p:ext>
            </p:extLst>
          </p:nvPr>
        </p:nvGraphicFramePr>
        <p:xfrm>
          <a:off x="7207250" y="1924050"/>
          <a:ext cx="4686300" cy="2032000"/>
        </p:xfrm>
        <a:graphic>
          <a:graphicData uri="http://schemas.openxmlformats.org/drawingml/2006/table">
            <a:tbl>
              <a:tblPr/>
              <a:tblGrid>
                <a:gridCol w="787400"/>
                <a:gridCol w="711200"/>
                <a:gridCol w="622300"/>
                <a:gridCol w="584200"/>
                <a:gridCol w="666750"/>
                <a:gridCol w="685800"/>
                <a:gridCol w="628650"/>
              </a:tblGrid>
              <a:tr h="558800">
                <a:tc>
                  <a:txBody>
                    <a:bodyPr>
                      <a:noAutofit/>
                    </a:bodyPr>
                    <a:lstStyle/>
                    <a:p>
                      <a:pPr algn="l" indent="0" marL="0">
                        <a:buNone/>
                      </a:pPr>
                      <a:r>
                        <a:rPr lang="en-US" sz="1000" b="1" dirty="0">
                          <a:solidFill>
                            <a:srgbClr val="FFFFFF"/>
                          </a:solidFill>
                          <a:latin typeface="Arial" pitchFamily="34" charset="0"/>
                          <a:ea typeface="Arial" pitchFamily="34" charset="-122"/>
                          <a:cs typeface="Arial" pitchFamily="34" charset="-120"/>
                        </a:rPr>
                        <a:t>Scenario</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Adoption</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Time</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saved</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Annual h</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Annual</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capacity</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First-year</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value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Net vs</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$115k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4889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Downside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864</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$108k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$54k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−$61k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48895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Base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60%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1,944</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$243k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$121.5k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+$6.5k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5ED"/>
                    </a:solidFill>
                  </a:tcPr>
                </a:tc>
              </a:tr>
              <a:tr h="4953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Upside</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75%</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3,240</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$405k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$202.5k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b="1" dirty="0">
                          <a:solidFill>
                            <a:srgbClr val="FD5108"/>
                          </a:solidFill>
                          <a:latin typeface="Arial" pitchFamily="34" charset="0"/>
                          <a:ea typeface="Arial" pitchFamily="34" charset="-122"/>
                          <a:cs typeface="Arial" pitchFamily="34" charset="-120"/>
                        </a:rPr>
                        <a:t>+$87.5k</a:t>
                      </a:r>
                      <a:endParaRPr lang="en-US" sz="1000" dirty="0">
                        <a:latin typeface="Arial" charset="0"/>
                        <a:ea typeface="Arial" charset="0"/>
                        <a:cs typeface="Arial" charset="0"/>
                      </a:endParaRPr>
                    </a:p>
                  </a:txBody>
                  <a:tcPr marL="44450" marR="44450" marT="31750" marB="3175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bl>
          </a:graphicData>
        </a:graphic>
      </p:graphicFrame>
      <p:sp>
        <p:nvSpPr>
          <p:cNvPr id="12"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Release the next investment against evidence</a:t>
            </a:r>
            <a:endParaRPr lang="en-US" sz="3200" dirty="0" spc="0"/>
          </a:p>
        </p:txBody>
      </p:sp>
      <p:sp>
        <p:nvSpPr>
          <p:cNvPr id="13"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Use the full first-year cost, a realistic ramp and explicit go/no-go tests.</a:t>
            </a:r>
            <a:endParaRPr lang="en-US" sz="1600" dirty="0" spc="0"/>
          </a:p>
        </p:txBody>
      </p:sp>
      <p:sp>
        <p:nvSpPr>
          <p:cNvPr id="14" name="capacity-heading"/>
          <p:cNvSpPr txBox="1"/>
          <p:nvPr/>
        </p:nvSpPr>
        <p:spPr>
          <a:xfrm>
            <a:off x="292100" y="1644650"/>
            <a:ext cx="346075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BASE-CASE CAPACITY MODEL</a:t>
            </a:r>
            <a:endParaRPr lang="en-US" sz="1400" dirty="0" spc="0"/>
          </a:p>
        </p:txBody>
      </p:sp>
      <p:sp>
        <p:nvSpPr>
          <p:cNvPr id="15" name="capacity-equation"/>
          <p:cNvSpPr txBox="1"/>
          <p:nvPr/>
        </p:nvSpPr>
        <p:spPr>
          <a:xfrm>
            <a:off x="406400" y="2044700"/>
            <a:ext cx="3206750" cy="730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2150" b="1" dirty="0" spc="0">
                <a:solidFill>
                  <a:srgbClr val="FD5108"/>
                </a:solidFill>
                <a:latin typeface="Arial" pitchFamily="34" charset="0"/>
                <a:ea typeface="Arial" pitchFamily="34" charset="-122"/>
                <a:cs typeface="Arial" pitchFamily="34" charset="-120"/>
              </a:rPr>
              <a:t>900 × 12 h × 60% × 30%</a:t>
            </a:r>
            <a:endParaRPr lang="en-US" sz="2150" dirty="0" spc="0"/>
          </a:p>
          <a:p>
            <a:pPr algn="ctr" indent="0" marL="0">
              <a:lnSpc>
                <a:spcPct val="100000"/>
              </a:lnSpc>
              <a:buNone/>
              <a:defRPr spc="0"/>
            </a:pPr>
            <a:r>
              <a:rPr lang="en-US" sz="2150" b="1" dirty="0" spc="0">
                <a:solidFill>
                  <a:srgbClr val="FD5108"/>
                </a:solidFill>
                <a:latin typeface="Arial" pitchFamily="34" charset="0"/>
                <a:ea typeface="Arial" pitchFamily="34" charset="-122"/>
                <a:cs typeface="Arial" pitchFamily="34" charset="-120"/>
              </a:rPr>
              <a:t>= 1,944 h</a:t>
            </a:r>
            <a:endParaRPr lang="en-US" sz="2150" dirty="0" spc="0"/>
          </a:p>
        </p:txBody>
      </p:sp>
      <p:sp>
        <p:nvSpPr>
          <p:cNvPr id="16" name="capacity-value"/>
          <p:cNvSpPr txBox="1"/>
          <p:nvPr/>
        </p:nvSpPr>
        <p:spPr>
          <a:xfrm>
            <a:off x="412750" y="3390900"/>
            <a:ext cx="1714500" cy="2794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1,944 h × $125/h =</a:t>
            </a:r>
            <a:endParaRPr lang="en-US" sz="1400" dirty="0" spc="0"/>
          </a:p>
        </p:txBody>
      </p:sp>
      <p:sp>
        <p:nvSpPr>
          <p:cNvPr id="17" name="capacity-value-number"/>
          <p:cNvSpPr txBox="1"/>
          <p:nvPr/>
        </p:nvSpPr>
        <p:spPr>
          <a:xfrm>
            <a:off x="2095500" y="3302000"/>
            <a:ext cx="1397000" cy="381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2650" b="1" dirty="0" spc="0">
                <a:solidFill>
                  <a:srgbClr val="FD5108"/>
                </a:solidFill>
                <a:latin typeface="Arial" pitchFamily="34" charset="0"/>
                <a:ea typeface="Arial" pitchFamily="34" charset="-122"/>
                <a:cs typeface="Arial" pitchFamily="34" charset="-120"/>
              </a:rPr>
              <a:t>$243k</a:t>
            </a:r>
            <a:endParaRPr lang="en-US" sz="2650" dirty="0" spc="0"/>
          </a:p>
        </p:txBody>
      </p:sp>
      <p:sp>
        <p:nvSpPr>
          <p:cNvPr id="18" name="capacity-caption"/>
          <p:cNvSpPr txBox="1"/>
          <p:nvPr/>
        </p:nvSpPr>
        <p:spPr>
          <a:xfrm>
            <a:off x="412750" y="3708400"/>
            <a:ext cx="2984500" cy="2159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300" dirty="0" spc="0">
                <a:solidFill>
                  <a:srgbClr val="000000"/>
                </a:solidFill>
                <a:latin typeface="Arial" pitchFamily="34" charset="0"/>
                <a:ea typeface="Arial" pitchFamily="34" charset="-122"/>
                <a:cs typeface="Arial" pitchFamily="34" charset="-120"/>
              </a:rPr>
              <a:t>annual capacity equivalent</a:t>
            </a:r>
            <a:endParaRPr lang="en-US" sz="1300" dirty="0" spc="0"/>
          </a:p>
        </p:txBody>
      </p:sp>
      <p:sp>
        <p:nvSpPr>
          <p:cNvPr id="19" name="investment-heading"/>
          <p:cNvSpPr txBox="1"/>
          <p:nvPr/>
        </p:nvSpPr>
        <p:spPr>
          <a:xfrm>
            <a:off x="3937000" y="1644650"/>
            <a:ext cx="307975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INVESTMENT</a:t>
            </a:r>
            <a:endParaRPr lang="en-US" sz="1400" dirty="0" spc="0"/>
          </a:p>
        </p:txBody>
      </p:sp>
      <p:sp>
        <p:nvSpPr>
          <p:cNvPr id="20" name="investment-note"/>
          <p:cNvSpPr txBox="1"/>
          <p:nvPr/>
        </p:nvSpPr>
        <p:spPr>
          <a:xfrm>
            <a:off x="3937000" y="3708400"/>
            <a:ext cx="307975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100" dirty="0" spc="0">
                <a:solidFill>
                  <a:srgbClr val="000000"/>
                </a:solidFill>
                <a:latin typeface="Arial" pitchFamily="34" charset="0"/>
                <a:ea typeface="Arial" pitchFamily="34" charset="-122"/>
                <a:cs typeface="Arial" pitchFamily="34" charset="-120"/>
              </a:rPr>
              <a:t>Remaining implementation after the pilot $60k.</a:t>
            </a:r>
            <a:endParaRPr lang="en-US" sz="1100" dirty="0" spc="0"/>
          </a:p>
        </p:txBody>
      </p:sp>
      <p:sp>
        <p:nvSpPr>
          <p:cNvPr id="21" name="sensitivity-heading"/>
          <p:cNvSpPr txBox="1"/>
          <p:nvPr/>
        </p:nvSpPr>
        <p:spPr>
          <a:xfrm>
            <a:off x="7207250" y="1644650"/>
            <a:ext cx="4686300" cy="2413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FIRST-YEAR SENSITIVITY · 50% RAMP</a:t>
            </a:r>
            <a:endParaRPr lang="en-US" sz="1400" dirty="0" spc="0"/>
          </a:p>
        </p:txBody>
      </p:sp>
      <p:sp>
        <p:nvSpPr>
          <p:cNvPr id="22" name="criteria-heading"/>
          <p:cNvSpPr txBox="1"/>
          <p:nvPr/>
        </p:nvSpPr>
        <p:spPr>
          <a:xfrm>
            <a:off x="292100" y="4152900"/>
            <a:ext cx="57150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DECISION CRITERIA</a:t>
            </a:r>
            <a:endParaRPr lang="en-US" sz="1400" dirty="0" spc="0"/>
          </a:p>
        </p:txBody>
      </p:sp>
      <p:sp>
        <p:nvSpPr>
          <p:cNvPr id="23" name="criterion-label-go"/>
          <p:cNvSpPr txBox="1"/>
          <p:nvPr/>
        </p:nvSpPr>
        <p:spPr>
          <a:xfrm>
            <a:off x="137160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GO</a:t>
            </a:r>
            <a:endParaRPr lang="en-US" sz="1400" dirty="0" spc="0"/>
          </a:p>
        </p:txBody>
      </p:sp>
      <p:sp>
        <p:nvSpPr>
          <p:cNvPr id="24" name="criterion-body-go"/>
          <p:cNvSpPr txBox="1"/>
          <p:nvPr/>
        </p:nvSpPr>
        <p:spPr>
          <a:xfrm>
            <a:off x="137160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All four gates hold.</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Practice lead owns rollout.</a:t>
            </a:r>
            <a:endParaRPr lang="en-US" sz="1200" dirty="0" spc="0"/>
          </a:p>
        </p:txBody>
      </p:sp>
      <p:sp>
        <p:nvSpPr>
          <p:cNvPr id="25" name="criterion-label-hold"/>
          <p:cNvSpPr txBox="1"/>
          <p:nvPr/>
        </p:nvSpPr>
        <p:spPr>
          <a:xfrm>
            <a:off x="523875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HOLD</a:t>
            </a:r>
            <a:endParaRPr lang="en-US" sz="1400" dirty="0" spc="0"/>
          </a:p>
        </p:txBody>
      </p:sp>
      <p:sp>
        <p:nvSpPr>
          <p:cNvPr id="26" name="criterion-body-hold"/>
          <p:cNvSpPr txBox="1"/>
          <p:nvPr/>
        </p:nvSpPr>
        <p:spPr>
          <a:xfrm>
            <a:off x="523875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Evidence or usage is weak.</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Extend within an agreed cap.</a:t>
            </a:r>
            <a:endParaRPr lang="en-US" sz="1200" dirty="0" spc="0"/>
          </a:p>
        </p:txBody>
      </p:sp>
      <p:sp>
        <p:nvSpPr>
          <p:cNvPr id="27" name="criterion-label-stop"/>
          <p:cNvSpPr txBox="1"/>
          <p:nvPr/>
        </p:nvSpPr>
        <p:spPr>
          <a:xfrm>
            <a:off x="9105900" y="4546600"/>
            <a:ext cx="1143000" cy="2540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a:t>
            </a:r>
            <a:endParaRPr lang="en-US" sz="1400" dirty="0" spc="0"/>
          </a:p>
        </p:txBody>
      </p:sp>
      <p:sp>
        <p:nvSpPr>
          <p:cNvPr id="28" name="criterion-body-stop"/>
          <p:cNvSpPr txBox="1"/>
          <p:nvPr/>
        </p:nvSpPr>
        <p:spPr>
          <a:xfrm>
            <a:off x="9105900" y="4838700"/>
            <a:ext cx="2476500" cy="412750"/>
          </a:xfrm>
          <a:prstGeom prst="rect">
            <a:avLst/>
          </a:prstGeom>
          <a:noFill/>
          <a:ln/>
        </p:spPr>
        <p:txBody>
          <a:bodyPr wrap="square" lIns="12700" tIns="12700" rIns="12700" bIns="12700" rtlCol="0" anchor="t">
            <a:noAutofit/>
          </a:bodyPr>
          <a:lstStyle/>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A critical data control fails.</a:t>
            </a:r>
            <a:endParaRPr lang="en-US" sz="1200" dirty="0" spc="0"/>
          </a:p>
          <a:p>
            <a:pPr algn="l" indent="0" marL="0">
              <a:lnSpc>
                <a:spcPct val="115000"/>
              </a:lnSpc>
              <a:buNone/>
              <a:defRPr spc="0"/>
            </a:pPr>
            <a:r>
              <a:rPr lang="en-US" sz="1200" dirty="0" spc="0">
                <a:solidFill>
                  <a:srgbClr val="000000"/>
                </a:solidFill>
                <a:latin typeface="Arial" pitchFamily="34" charset="0"/>
                <a:ea typeface="Arial" pitchFamily="34" charset="-122"/>
                <a:cs typeface="Arial" pitchFamily="34" charset="-120"/>
              </a:rPr>
              <a:t>Suspend use and close the issue.</a:t>
            </a:r>
            <a:endParaRPr lang="en-US" sz="1200" dirty="0" spc="0"/>
          </a:p>
        </p:txBody>
      </p:sp>
      <p:sp>
        <p:nvSpPr>
          <p:cNvPr id="29"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APPROVE $25k NOW</a:t>
            </a:r>
            <a:endParaRPr lang="en-US" sz="1400" dirty="0" spc="0"/>
          </a:p>
        </p:txBody>
      </p:sp>
      <p:sp>
        <p:nvSpPr>
          <p:cNvPr id="30"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Release the remaining $60k only after the week-12 gate.</a:t>
            </a:r>
            <a:endParaRPr lang="en-US" sz="1400" dirty="0" spc="0"/>
          </a:p>
        </p:txBody>
      </p:sp>
      <p:sp>
        <p:nvSpPr>
          <p:cNvPr id="31" name="factor-engagements"/>
          <p:cNvSpPr txBox="1"/>
          <p:nvPr/>
        </p:nvSpPr>
        <p:spPr>
          <a:xfrm>
            <a:off x="406400" y="2787650"/>
            <a:ext cx="7620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Engagements</a:t>
            </a:r>
            <a:endParaRPr lang="en-US" sz="900" dirty="0" spc="0"/>
          </a:p>
        </p:txBody>
      </p:sp>
      <p:sp>
        <p:nvSpPr>
          <p:cNvPr id="32" name="factor-research"/>
          <p:cNvSpPr txBox="1"/>
          <p:nvPr/>
        </p:nvSpPr>
        <p:spPr>
          <a:xfrm>
            <a:off x="1282700" y="2787650"/>
            <a:ext cx="7239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Research</a:t>
            </a:r>
            <a:endParaRPr lang="en-US" sz="900" dirty="0" spc="0"/>
          </a:p>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time</a:t>
            </a:r>
            <a:endParaRPr lang="en-US" sz="900" dirty="0" spc="0"/>
          </a:p>
        </p:txBody>
      </p:sp>
      <p:sp>
        <p:nvSpPr>
          <p:cNvPr id="33" name="factor-adoption"/>
          <p:cNvSpPr txBox="1"/>
          <p:nvPr/>
        </p:nvSpPr>
        <p:spPr>
          <a:xfrm>
            <a:off x="2139950" y="2787650"/>
            <a:ext cx="69850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Adoption</a:t>
            </a:r>
            <a:endParaRPr lang="en-US" sz="900" dirty="0" spc="0"/>
          </a:p>
        </p:txBody>
      </p:sp>
      <p:sp>
        <p:nvSpPr>
          <p:cNvPr id="34" name="factor-saved"/>
          <p:cNvSpPr txBox="1"/>
          <p:nvPr/>
        </p:nvSpPr>
        <p:spPr>
          <a:xfrm>
            <a:off x="2933700" y="2787650"/>
            <a:ext cx="730250" cy="4318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00" dirty="0" spc="0">
                <a:solidFill>
                  <a:srgbClr val="000000"/>
                </a:solidFill>
                <a:latin typeface="Arial" pitchFamily="34" charset="0"/>
                <a:ea typeface="Arial" pitchFamily="34" charset="-122"/>
                <a:cs typeface="Arial" pitchFamily="34" charset="-120"/>
              </a:rPr>
              <a:t>Time saved</a:t>
            </a:r>
            <a:endParaRPr lang="en-US" sz="900" dirty="0" spc="0"/>
          </a:p>
        </p:txBody>
      </p:sp>
      <p:pic>
        <p:nvPicPr>
          <p:cNvPr id="35" name="criterion-icon-go" descr="remix-play-circle-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14350" y="4540250"/>
            <a:ext cx="749300" cy="749300"/>
          </a:xfrm>
          <a:prstGeom prst="rect">
            <a:avLst/>
          </a:prstGeom>
        </p:spPr>
      </p:pic>
      <p:pic>
        <p:nvPicPr>
          <p:cNvPr id="36" name="criterion-icon-hold" descr="remix-pause-circle-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81500" y="4540250"/>
            <a:ext cx="749300" cy="749300"/>
          </a:xfrm>
          <a:prstGeom prst="rect">
            <a:avLst/>
          </a:prstGeom>
        </p:spPr>
      </p:pic>
      <p:pic>
        <p:nvPicPr>
          <p:cNvPr id="37" name="criterion-icon-stop" descr="remix-stop-circle-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8650" y="4540250"/>
            <a:ext cx="749300" cy="749300"/>
          </a:xfrm>
          <a:prstGeom prst="rect">
            <a:avLst/>
          </a:prstGeom>
        </p:spPr>
      </p:pic>
      <p:sp>
        <p:nvSpPr>
          <p:cNvPr id="38"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controlled path to shared AI capability</dc:title>
  <dc:subject>Editable presentation generated from SlidePoise scene contracts</dc:subject>
  <dc:creator>SlidePoise</dc:creator>
  <cp:lastModifiedBy>SlidePoise</cp:lastModifiedBy>
  <cp:revision>1</cp:revision>
  <dcterms:created xsi:type="dcterms:W3CDTF">2026-09-08T10:53:02Z</dcterms:created>
  <dcterms:modified xsi:type="dcterms:W3CDTF">2026-09-08T10:53:02Z</dcterms:modified>
</cp:coreProperties>
</file>