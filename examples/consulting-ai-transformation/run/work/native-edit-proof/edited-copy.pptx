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0967741935483872"/>
          <c:y val="0"/>
          <c:w val="0.5693548387096774"/>
          <c:h val="1"/>
        </c:manualLayout>
      </c:layout>
      <c:barChart>
        <c:barDir val="bar"/>
        <c:grouping val="clustered"/>
        <c:varyColors val="0"/>
        <c:ser>
          <c:idx val="0"/>
          <c:order val="0"/>
          <c:tx>
            <c:strRef>
              <c:f>Sheet1!$B$1</c:f>
              <c:strCache>
                <c:ptCount val="1"/>
                <c:pt idx="0">
                  <c:v>Illustrative annual capacity hours</c:v>
                </c:pt>
              </c:strCache>
            </c:strRef>
          </c:tx>
          <c:spPr>
            <a:solidFill>
              <a:srgbClr val="FD5108"/>
            </a:solidFill>
            <a:effectLst/>
          </c:spPr>
          <c:invertIfNegative val="0"/>
          <c:dLbls>
            <c:numFmt formatCode="#,##0&quot; h&quot;" sourceLinked="0"/>
            <c:txPr>
              <a:bodyPr wrap="none"/>
              <a:lstStyle/>
              <a:p>
                <a:pPr>
                  <a:defRPr b="0" i="0" strike="noStrike" sz="1800" u="none">
                    <a:solidFill>
                      <a:srgbClr val="FD5108"/>
                    </a:solidFill>
                    <a:latin typeface="Arial"/>
                  </a:defRPr>
                </a:pPr>
              </a:p>
            </c:txPr>
            <c:dLblPos val="outEnd"/>
            <c:showLegendKey val="0"/>
            <c:showVal val="1"/>
            <c:showCatName val="0"/>
            <c:showSerName val="0"/>
            <c:showPercent val="0"/>
            <c:showBubbleSize val="0"/>
            <c:showLeaderLines val="0"/>
          </c:dLbls>
          <c:dPt>
            <c:idx val="0"/>
            <c:invertIfNegative val="0"/>
            <c:bubble3D val="0"/>
            <c:spPr>
              <a:solidFill>
                <a:srgbClr val="FD5108"/>
              </a:solidFill>
              <a:effectLst/>
            </c:spPr>
          </c:dPt>
          <c:dPt>
            <c:idx val="1"/>
            <c:invertIfNegative val="0"/>
            <c:bubble3D val="0"/>
            <c:spPr>
              <a:solidFill>
                <a:srgbClr val="A1A8B3"/>
              </a:solidFill>
              <a:effectLst/>
            </c:spPr>
          </c:dPt>
          <c:dPt>
            <c:idx val="2"/>
            <c:invertIfNegative val="0"/>
            <c:bubble3D val="0"/>
            <c:spPr>
              <a:solidFill>
                <a:srgbClr val="CBD1D6"/>
              </a:solidFill>
              <a:effectLst/>
            </c:spPr>
          </c:dPt>
          <c:cat>
            <c:strRef>
              <c:f>Sheet1!$A$2:$A$4</c:f>
              <c:strCache>
                <c:ptCount val="3"/>
                <c:pt idx="0">
                  <c:v>Research
synthesis</c:v>
                </c:pt>
                <c:pt idx="1">
                  <c:v>Proposal
drafting</c:v>
                </c:pt>
                <c:pt idx="2">
                  <c:v>Knowledge
retrieval</c:v>
                </c:pt>
              </c:strCache>
            </c:strRef>
          </c:cat>
          <c:val>
            <c:numRef>
              <c:f>Sheet1!$B$2:$B$4</c:f>
              <c:numCache>
                <c:formatCode>General</c:formatCode>
                <c:ptCount val="3"/>
                <c:pt idx="0">
                  <c:v>1620</c:v>
                </c:pt>
                <c:pt idx="1">
                  <c:v>1440</c:v>
                </c:pt>
                <c:pt idx="2">
                  <c:v>1080</c:v>
                </c:pt>
              </c:numCache>
            </c:numRef>
          </c:val>
        </c:ser>
        <c:dLbls>
          <c:numFmt formatCode="#,##0&quot; h&quot;" sourceLinked="0"/>
          <c:txPr>
            <a:bodyPr wrap="none"/>
            <a:lstStyle/>
            <a:p>
              <a:pPr>
                <a:defRPr b="0" i="0" strike="noStrike" sz="1800" u="none">
                  <a:solidFill>
                    <a:srgbClr val="FD5108"/>
                  </a:solidFill>
                  <a:latin typeface="Arial"/>
                </a:defRPr>
              </a:pPr>
            </a:p>
          </c:txPr>
          <c:dLblPos val="outEnd"/>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44"/>
          <c:min val="0"/>
        </c:scaling>
        <c:delete val="1"/>
        <c:axPos val="b"/>
        <c:majorGridlines>
          <c:spPr>
            <a:ln w="12700" cap="flat">
              <a:solidFill>
                <a:srgbClr val="FFFFF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quantities are illustrative planning assumptions. Capacity value is not a cash saving.
The 95% gate applies to a sampled test set. Each client release separately requires expert verification and engagement-lead approval.
At least 11 of 15 pilot users must be weekly active. One comparable research task is measured per pilot engagement.
[SlidePoise sources]
Generated target visual: /Users/henry/Codes/AI_slide_drafting/output/showcase-revisions/consulting-v3-authoring/slides/s01-recommendation/work/accepted-slide.png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planning model for fictional Northstar Advisory. Annual capacity assumes 900 engagements. Research uses 900 x 12 baseline hours x 60% adoption x 30% time saved = 1,944 hours. The same formula produces 1,440 proposal hours and 1,080 retrieval hours from the displayed assumptions.
The three workflow estimates may overlap and cannot be added without checking task boundaries. Capacity released is not a cash saving. Control readiness determines the proposed sequence, and expert review remains required before any client release.
[SlidePoise sources]
Generated target visual: /Users/henry/Codes/AI_slide_drafting/output/showcase-revisions/consulting-v3-authoring/slides/s02-opportunities/work/accepted-slide.png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planning scenario. Twenty paired tasks represent one research task from each of twenty pilot engagements, with ten tasks at the week-eight interim review. The sampled 95% claim-verification gate measures pilot quality. Every client claim still requires expert sign-off and every client release requires engagement-lead approval.
The two curved feedback paths are editable native freeforms. They preserve the observed direction and curve geometry, but moving the table or its columns in Office does not automatically reattach these paths.
[SlidePoise sources]
Generated target visual: /Users/henry/Codes/AI_slide_drafting/output/showcase-revisions/consulting-v3-authoring/slides/s03-operating-model/work/accepted-slide.png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pilot engagement supplies one research task. Twenty paired tasks correspond to twenty engagements.
The practice lead and CFO release scale funding only after the evidence gates are reviewed. Critical data exceptions stop expansion.
[SlidePoise sources]
Generated target visual: /Users/henry/Codes/AI_slide_drafting/output/showcase-revisions/consulting-v3-authoring/slides/s04-delivery-roadmap/work/accepted-slide.png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[SlidePoise sources]
Generated target visual: /Users/henry/Codes/AI_slide_drafting/output/showcase-revisions/consulting-v3-authoring/slides/s05-investment-decision/work/accepted-slide.png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POISE_MASTER_1">
    <p:bg>
      <p:bgPr>
        <a:solidFill>
          <a:srgbClr val="FFFFFF"/>
        </a:solidFill>
      </p:bgPr>
    </p:bg>
    <p:spTree>
      <p:nvGrpSpPr>
        <p:cNvPr id="1" name=""/>
        <p:cNvGrpSpPr/>
        <p:nvPr/>
      </p:nvGrpSpPr>
      <p:grpSpPr>
        <a:xfrm>
          <a:off x="0" y="0"/>
          <a:ext cx="0" cy="0"/>
          <a:chOff x="0" y="0"/>
          <a:chExt cx="0" cy="0"/>
        </a:xfrm>
      </p:grpSpPr>
      <p:sp>
        <p:nvSpPr>
          <p:cNvPr id="2" name="SC_MASTER_HEADER_LEFT"/>
          <p:cNvSpPr/>
          <p:nvPr/>
        </p:nvSpPr>
        <p:spPr>
          <a:xfrm>
            <a:off x="304800" y="31750"/>
            <a:ext cx="5547360" cy="342900"/>
          </a:xfrm>
          <a:prstGeom prst="rect">
            <a:avLst/>
          </a:prstGeom>
          <a:noFill/>
          <a:ln/>
        </p:spPr>
        <p:txBody>
          <a:bodyPr wrap="square" lIns="0" tIns="0" rIns="0" bIns="0" rtlCol="0" anchor="ctr">
            <a:normAutofit/>
          </a:bodyPr>
          <a:lstStyle/>
          <a:p>
            <a:pPr algn="l" indent="0" marL="0">
              <a:buNone/>
            </a:pPr>
            <a:r>
              <a:rPr lang="en-US" sz="1000" dirty="0">
                <a:solidFill>
                  <a:srgbClr val="666666"/>
                </a:solidFill>
                <a:latin typeface="Arial" pitchFamily="34" charset="0"/>
                <a:ea typeface="Arial" pitchFamily="34" charset="-122"/>
                <a:cs typeface="Arial" pitchFamily="34" charset="-120"/>
              </a:rPr>
              <a:t>NORTHSTAR ADVISORY</a:t>
            </a:r>
            <a:endParaRPr lang="en-US" sz="1000" dirty="0"/>
          </a:p>
        </p:txBody>
      </p:sp>
      <p:sp>
        <p:nvSpPr>
          <p:cNvPr id="3" name="SC_MASTER_HEADER_RIGHT"/>
          <p:cNvSpPr/>
          <p:nvPr/>
        </p:nvSpPr>
        <p:spPr>
          <a:xfrm>
            <a:off x="6339840" y="31750"/>
            <a:ext cx="5547360" cy="342900"/>
          </a:xfrm>
          <a:prstGeom prst="rect">
            <a:avLst/>
          </a:prstGeom>
          <a:noFill/>
          <a:ln/>
        </p:spPr>
        <p:txBody>
          <a:bodyPr wrap="square" lIns="0" tIns="0" rIns="0" bIns="0" rtlCol="0" anchor="ctr">
            <a:normAutofit/>
          </a:bodyPr>
          <a:lstStyle/>
          <a:p>
            <a:pPr algn="r" indent="0" marL="0">
              <a:buNone/>
            </a:pPr>
            <a:r>
              <a:rPr lang="en-US" sz="1000" dirty="0">
                <a:solidFill>
                  <a:srgbClr val="666666"/>
                </a:solidFill>
                <a:latin typeface="Arial" pitchFamily="34" charset="0"/>
                <a:ea typeface="Arial" pitchFamily="34" charset="-122"/>
                <a:cs typeface="Arial" pitchFamily="34" charset="-120"/>
              </a:rPr>
              <a:t>AI TRANSFORMATION</a:t>
            </a:r>
            <a:endParaRPr lang="en-US" sz="1000" dirty="0"/>
          </a:p>
        </p:txBody>
      </p:sp>
      <p:sp>
        <p:nvSpPr>
          <p:cNvPr id="4" name="Shape 2"/>
          <p:cNvSpPr/>
          <p:nvPr/>
        </p:nvSpPr>
        <p:spPr>
          <a:xfrm>
            <a:off x="304800" y="400050"/>
            <a:ext cx="11582400" cy="0"/>
          </a:xfrm>
          <a:prstGeom prst="line">
            <a:avLst/>
          </a:prstGeom>
          <a:noFill/>
          <a:ln w="6350">
            <a:solidFill>
              <a:srgbClr val="DFE3E6"/>
            </a:solidFill>
            <a:prstDash val="solid"/>
          </a:ln>
        </p:spPr>
      </p:sp>
      <p:sp>
        <p:nvSpPr>
          <p:cNvPr id="5" name="Shape 3"/>
          <p:cNvSpPr/>
          <p:nvPr/>
        </p:nvSpPr>
        <p:spPr>
          <a:xfrm>
            <a:off x="304800" y="6502400"/>
            <a:ext cx="11582400" cy="0"/>
          </a:xfrm>
          <a:prstGeom prst="line">
            <a:avLst/>
          </a:prstGeom>
          <a:noFill/>
          <a:ln w="6350">
            <a:solidFill>
              <a:srgbClr val="DFE3E6"/>
            </a:solidFill>
            <a:prstDash val="solid"/>
          </a:ln>
        </p:spPr>
      </p:sp>
      <p:sp>
        <p:nvSpPr>
          <p:cNvPr id="6" name="SC_MASTER_FOOTER_LEFT"/>
          <p:cNvSpPr/>
          <p:nvPr/>
        </p:nvSpPr>
        <p:spPr>
          <a:xfrm>
            <a:off x="304800" y="6534150"/>
            <a:ext cx="4267200" cy="292100"/>
          </a:xfrm>
          <a:prstGeom prst="rect">
            <a:avLst/>
          </a:prstGeom>
          <a:noFill/>
          <a:ln/>
        </p:spPr>
        <p:txBody>
          <a:bodyPr wrap="square" lIns="0" tIns="0" rIns="0" bIns="0" rtlCol="0" anchor="ctr">
            <a:normAutofit/>
          </a:bodyPr>
          <a:lstStyle/>
          <a:p>
            <a:pPr algn="l" indent="0" marL="0">
              <a:buNone/>
            </a:pPr>
            <a:r>
              <a:rPr lang="en-US" sz="900" dirty="0">
                <a:solidFill>
                  <a:srgbClr val="666666"/>
                </a:solidFill>
                <a:latin typeface="Arial" pitchFamily="34" charset="0"/>
                <a:ea typeface="Arial" pitchFamily="34" charset="-122"/>
                <a:cs typeface="Arial" pitchFamily="34" charset="-120"/>
              </a:rPr>
              <a:t>ILLUSTRATIVE PLANNING ASSUMPTIONS</a:t>
            </a:r>
            <a:endParaRPr lang="en-US" sz="900" dirty="0"/>
          </a:p>
        </p:txBody>
      </p:sp>
      <p:sp>
        <p:nvSpPr>
          <p:cNvPr id="7" name="SC_MASTER_FOOTER_CENTER"/>
          <p:cNvSpPr/>
          <p:nvPr/>
        </p:nvSpPr>
        <p:spPr>
          <a:xfrm>
            <a:off x="4267200" y="6534150"/>
            <a:ext cx="3657600" cy="292100"/>
          </a:xfrm>
          <a:prstGeom prst="rect">
            <a:avLst/>
          </a:prstGeom>
          <a:noFill/>
          <a:ln/>
        </p:spPr>
        <p:txBody>
          <a:bodyPr wrap="square" lIns="0" tIns="0" rIns="0" bIns="0" rtlCol="0" anchor="ctr">
            <a:normAutofit/>
          </a:bodyPr>
          <a:lstStyle/>
          <a:p>
            <a:pPr algn="ctr" indent="0" marL="0">
              <a:buNone/>
            </a:pPr>
            <a:r>
              <a:rPr lang="en-US" sz="900" dirty="0">
                <a:solidFill>
                  <a:srgbClr val="666666"/>
                </a:solidFill>
                <a:latin typeface="Arial" pitchFamily="34" charset="0"/>
                <a:ea typeface="Arial" pitchFamily="34" charset="-122"/>
                <a:cs typeface="Arial" pitchFamily="34" charset="-120"/>
              </a:rPr>
              <a:t>Capacity value is not a cash saving.</a:t>
            </a:r>
            <a:endParaRPr lang="en-US" sz="900" dirty="0"/>
          </a:p>
        </p:txBody>
      </p:sp>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304800" y="1454150"/>
            <a:ext cx="11582400" cy="12700"/>
          </a:xfrm>
          <a:prstGeom prst="rect">
            <a:avLst/>
          </a:prstGeom>
          <a:solidFill>
            <a:srgbClr val="AAAAAA"/>
          </a:solidFill>
          <a:ln w="12700">
            <a:solidFill>
              <a:srgbClr val="FFFFFF">
                <a:alpha val="0"/>
              </a:srgbClr>
            </a:solidFill>
            <a:prstDash val="solid"/>
          </a:ln>
        </p:spPr>
      </p:sp>
      <p:sp>
        <p:nvSpPr>
          <p:cNvPr id="3" name="metric-divider-1"/>
          <p:cNvSpPr/>
          <p:nvPr/>
        </p:nvSpPr>
        <p:spPr>
          <a:xfrm>
            <a:off x="298450" y="3251200"/>
            <a:ext cx="3371850" cy="6350"/>
          </a:xfrm>
          <a:prstGeom prst="rect">
            <a:avLst/>
          </a:prstGeom>
          <a:solidFill>
            <a:srgbClr val="B6B6B6"/>
          </a:solidFill>
          <a:ln w="12700">
            <a:solidFill>
              <a:srgbClr val="FFFFFF">
                <a:alpha val="0"/>
              </a:srgbClr>
            </a:solidFill>
            <a:prstDash val="solid"/>
          </a:ln>
        </p:spPr>
      </p:sp>
      <p:sp>
        <p:nvSpPr>
          <p:cNvPr id="4" name="metric-divider-2"/>
          <p:cNvSpPr/>
          <p:nvPr/>
        </p:nvSpPr>
        <p:spPr>
          <a:xfrm>
            <a:off x="298450" y="4387850"/>
            <a:ext cx="3371850" cy="6350"/>
          </a:xfrm>
          <a:prstGeom prst="rect">
            <a:avLst/>
          </a:prstGeom>
          <a:solidFill>
            <a:srgbClr val="B6B6B6"/>
          </a:solidFill>
          <a:ln w="12700">
            <a:solidFill>
              <a:srgbClr val="FFFFFF">
                <a:alpha val="0"/>
              </a:srgbClr>
            </a:solidFill>
            <a:prstDash val="solid"/>
          </a:ln>
        </p:spPr>
      </p:sp>
      <p:sp>
        <p:nvSpPr>
          <p:cNvPr id="5" name="argument-divider-1"/>
          <p:cNvSpPr/>
          <p:nvPr/>
        </p:nvSpPr>
        <p:spPr>
          <a:xfrm>
            <a:off x="4451350" y="3251200"/>
            <a:ext cx="2787650" cy="6350"/>
          </a:xfrm>
          <a:prstGeom prst="rect">
            <a:avLst/>
          </a:prstGeom>
          <a:solidFill>
            <a:srgbClr val="B6B6B6"/>
          </a:solidFill>
          <a:ln w="12700">
            <a:solidFill>
              <a:srgbClr val="FFFFFF">
                <a:alpha val="0"/>
              </a:srgbClr>
            </a:solidFill>
            <a:prstDash val="solid"/>
          </a:ln>
        </p:spPr>
      </p:sp>
      <p:sp>
        <p:nvSpPr>
          <p:cNvPr id="6" name="argument-divider-2"/>
          <p:cNvSpPr/>
          <p:nvPr/>
        </p:nvSpPr>
        <p:spPr>
          <a:xfrm>
            <a:off x="4451350" y="4387850"/>
            <a:ext cx="2787650" cy="6350"/>
          </a:xfrm>
          <a:prstGeom prst="rect">
            <a:avLst/>
          </a:prstGeom>
          <a:solidFill>
            <a:srgbClr val="B6B6B6"/>
          </a:solidFill>
          <a:ln w="12700">
            <a:solidFill>
              <a:srgbClr val="FFFFFF">
                <a:alpha val="0"/>
              </a:srgbClr>
            </a:solidFill>
            <a:prstDash val="solid"/>
          </a:ln>
        </p:spPr>
      </p:sp>
      <p:sp>
        <p:nvSpPr>
          <p:cNvPr id="7" name="decision-band"/>
          <p:cNvSpPr/>
          <p:nvPr/>
        </p:nvSpPr>
        <p:spPr>
          <a:xfrm>
            <a:off x="304800" y="5441950"/>
            <a:ext cx="11582400" cy="850900"/>
          </a:xfrm>
          <a:prstGeom prst="rect">
            <a:avLst/>
          </a:prstGeom>
          <a:solidFill>
            <a:srgbClr val="FFF5ED"/>
          </a:solidFill>
          <a:ln w="12700">
            <a:solidFill>
              <a:srgbClr val="FFFFFF">
                <a:alpha val="0"/>
              </a:srgbClr>
            </a:solidFill>
            <a:prstDash val="solid"/>
          </a:ln>
        </p:spPr>
      </p:sp>
      <p:sp>
        <p:nvSpPr>
          <p:cNvPr id="8" name="decision-accent"/>
          <p:cNvSpPr/>
          <p:nvPr/>
        </p:nvSpPr>
        <p:spPr>
          <a:xfrm>
            <a:off x="304800" y="5441950"/>
            <a:ext cx="50800" cy="850900"/>
          </a:xfrm>
          <a:prstGeom prst="rect">
            <a:avLst/>
          </a:prstGeom>
          <a:solidFill>
            <a:srgbClr val="FD5108"/>
          </a:solidFill>
          <a:ln w="12700">
            <a:solidFill>
              <a:srgbClr val="FFFFFF">
                <a:alpha val="0"/>
              </a:srgbClr>
            </a:solidFill>
            <a:prstDash val="solid"/>
          </a:ln>
        </p:spPr>
      </p:sp>
      <p:graphicFrame>
        <p:nvGraphicFramePr>
          <p:cNvPr id="9" name="scale-gate-table"/>
          <p:cNvGraphicFramePr>
            <a:graphicFrameLocks noGrp="1"/>
          </p:cNvGraphicFramePr>
          <p:nvPr>
            <p:extLst>
              <p:ext uri="{D42A27DB-BD31-4B8C-83A1-F6EECF244321}">
                <p14:modId xmlns:p14="http://schemas.microsoft.com/office/powerpoint/2010/main" val="1579011935"/>
              </p:ext>
            </p:extLst>
          </p:nvPr>
        </p:nvGraphicFramePr>
        <p:xfrm>
          <a:off x="7772400" y="2235200"/>
          <a:ext cx="4121150" cy="3003550"/>
        </p:xfrm>
        <a:graphic>
          <a:graphicData uri="http://schemas.openxmlformats.org/drawingml/2006/table">
            <a:tbl>
              <a:tblPr/>
              <a:tblGrid>
                <a:gridCol w="2273300"/>
                <a:gridCol w="1847850"/>
              </a:tblGrid>
              <a:tr h="53340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Measure</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Minimum to scale</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r>
              <a:tr h="6096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Cycle-time reduction</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6159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Sampled cited claims verified</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95%</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r h="6159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Critical data exceptions</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6286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Weekly-active pilot users</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70% · at least 11 of 15</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bl>
          </a:graphicData>
        </a:graphic>
      </p:graphicFrame>
      <p:sp>
        <p:nvSpPr>
          <p:cNvPr id="10" name="headline"/>
          <p:cNvSpPr txBox="1"/>
          <p:nvPr/>
        </p:nvSpPr>
        <p:spPr>
          <a:xfrm>
            <a:off x="304800" y="527050"/>
            <a:ext cx="11582400" cy="5080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Prove the research pilot before scaling AI</a:t>
            </a:r>
            <a:endParaRPr lang="en-US" sz="3200" dirty="0" spc="0"/>
          </a:p>
        </p:txBody>
      </p:sp>
      <p:sp>
        <p:nvSpPr>
          <p:cNvPr id="11" name="pilot-scope"/>
          <p:cNvSpPr txBox="1"/>
          <p:nvPr/>
        </p:nvSpPr>
        <p:spPr>
          <a:xfrm>
            <a:off x="304800" y="1060450"/>
            <a:ext cx="1158240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One practice. 15 consultants. 20 paired research tasks. A 12-week, $25k pilot.</a:t>
            </a:r>
            <a:endParaRPr lang="en-US" sz="1600" dirty="0" spc="0"/>
          </a:p>
        </p:txBody>
      </p:sp>
      <p:sp>
        <p:nvSpPr>
          <p:cNvPr id="12" name="capacity-heading"/>
          <p:cNvSpPr txBox="1"/>
          <p:nvPr/>
        </p:nvSpPr>
        <p:spPr>
          <a:xfrm>
            <a:off x="298450" y="1860550"/>
            <a:ext cx="4095750" cy="2730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RESEARCH CAPACITY IMPACT IF WE SCALE</a:t>
            </a:r>
            <a:endParaRPr lang="en-US" sz="1400" dirty="0" spc="0"/>
          </a:p>
        </p:txBody>
      </p:sp>
      <p:sp>
        <p:nvSpPr>
          <p:cNvPr id="13" name="argument-heading"/>
          <p:cNvSpPr txBox="1"/>
          <p:nvPr/>
        </p:nvSpPr>
        <p:spPr>
          <a:xfrm>
            <a:off x="4445000" y="1860550"/>
            <a:ext cx="3162300" cy="2730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WHY THIS PILOT FIRST</a:t>
            </a:r>
            <a:endParaRPr lang="en-US" sz="1400" dirty="0" spc="0"/>
          </a:p>
        </p:txBody>
      </p:sp>
      <p:sp>
        <p:nvSpPr>
          <p:cNvPr id="14" name="gate-heading"/>
          <p:cNvSpPr txBox="1"/>
          <p:nvPr/>
        </p:nvSpPr>
        <p:spPr>
          <a:xfrm>
            <a:off x="7766050" y="1860550"/>
            <a:ext cx="4121150" cy="2730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WEEK-12 SCALE GATE</a:t>
            </a:r>
            <a:endParaRPr lang="en-US" sz="1400" dirty="0" spc="0"/>
          </a:p>
        </p:txBody>
      </p:sp>
      <p:sp>
        <p:nvSpPr>
          <p:cNvPr id="15" name="baseline"/>
          <p:cNvSpPr txBox="1"/>
          <p:nvPr/>
        </p:nvSpPr>
        <p:spPr>
          <a:xfrm>
            <a:off x="292100" y="2190750"/>
            <a:ext cx="3733800" cy="5461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3400" b="1" dirty="0" spc="0">
                <a:solidFill>
                  <a:srgbClr val="FD5108"/>
                </a:solidFill>
                <a:latin typeface="Arial" pitchFamily="34" charset="0"/>
                <a:ea typeface="Arial" pitchFamily="34" charset="-122"/>
                <a:cs typeface="Arial" pitchFamily="34" charset="-120"/>
              </a:rPr>
              <a:t>10,800 h</a:t>
            </a:r>
            <a:endParaRPr lang="en-US" sz="3400" dirty="0" spc="0"/>
          </a:p>
        </p:txBody>
      </p:sp>
      <p:sp>
        <p:nvSpPr>
          <p:cNvPr id="16" name="capacity"/>
          <p:cNvSpPr txBox="1"/>
          <p:nvPr/>
        </p:nvSpPr>
        <p:spPr>
          <a:xfrm>
            <a:off x="292100" y="3333750"/>
            <a:ext cx="3733800" cy="5461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3400" b="1" dirty="0" spc="0">
                <a:solidFill>
                  <a:srgbClr val="FD5108"/>
                </a:solidFill>
                <a:latin typeface="Arial" pitchFamily="34" charset="0"/>
                <a:ea typeface="Arial" pitchFamily="34" charset="-122"/>
                <a:cs typeface="Arial" pitchFamily="34" charset="-120"/>
              </a:rPr>
              <a:t>1,944 h</a:t>
            </a:r>
            <a:endParaRPr lang="en-US" sz="3400" dirty="0" spc="0"/>
          </a:p>
        </p:txBody>
      </p:sp>
      <p:sp>
        <p:nvSpPr>
          <p:cNvPr id="17" name="capacity-value"/>
          <p:cNvSpPr txBox="1"/>
          <p:nvPr/>
        </p:nvSpPr>
        <p:spPr>
          <a:xfrm>
            <a:off x="292100" y="4432300"/>
            <a:ext cx="3733800" cy="5461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3400" b="1" dirty="0" spc="0">
                <a:solidFill>
                  <a:srgbClr val="FD5108"/>
                </a:solidFill>
                <a:latin typeface="Arial" pitchFamily="34" charset="0"/>
                <a:ea typeface="Arial" pitchFamily="34" charset="-122"/>
                <a:cs typeface="Arial" pitchFamily="34" charset="-120"/>
              </a:rPr>
              <a:t>$243k</a:t>
            </a:r>
            <a:endParaRPr lang="en-US" sz="3400" dirty="0" spc="0"/>
          </a:p>
        </p:txBody>
      </p:sp>
      <p:sp>
        <p:nvSpPr>
          <p:cNvPr id="18" name="baseline-label"/>
          <p:cNvSpPr txBox="1"/>
          <p:nvPr/>
        </p:nvSpPr>
        <p:spPr>
          <a:xfrm>
            <a:off x="298450" y="2654300"/>
            <a:ext cx="38354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Annual research baseline</a:t>
            </a:r>
            <a:endParaRPr lang="en-US" sz="1400" dirty="0" spc="0"/>
          </a:p>
        </p:txBody>
      </p:sp>
      <p:sp>
        <p:nvSpPr>
          <p:cNvPr id="19" name="capacity-label"/>
          <p:cNvSpPr txBox="1"/>
          <p:nvPr/>
        </p:nvSpPr>
        <p:spPr>
          <a:xfrm>
            <a:off x="298450" y="3784600"/>
            <a:ext cx="38354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Potential annual capacity</a:t>
            </a:r>
            <a:endParaRPr lang="en-US" sz="1400" dirty="0" spc="0"/>
          </a:p>
        </p:txBody>
      </p:sp>
      <p:sp>
        <p:nvSpPr>
          <p:cNvPr id="20" name="capacity-value-label"/>
          <p:cNvSpPr txBox="1"/>
          <p:nvPr/>
        </p:nvSpPr>
        <p:spPr>
          <a:xfrm>
            <a:off x="298450" y="4870450"/>
            <a:ext cx="38354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Annual capacity equivalent</a:t>
            </a:r>
            <a:endParaRPr lang="en-US" sz="1400" dirty="0" spc="0"/>
          </a:p>
        </p:txBody>
      </p:sp>
      <p:sp>
        <p:nvSpPr>
          <p:cNvPr id="21" name="baseline-formula"/>
          <p:cNvSpPr txBox="1"/>
          <p:nvPr/>
        </p:nvSpPr>
        <p:spPr>
          <a:xfrm>
            <a:off x="298450" y="2895600"/>
            <a:ext cx="38354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900 engagements × 12 h</a:t>
            </a:r>
            <a:endParaRPr lang="en-US" sz="1400" dirty="0" spc="0"/>
          </a:p>
        </p:txBody>
      </p:sp>
      <p:sp>
        <p:nvSpPr>
          <p:cNvPr id="22" name="capacity-formula"/>
          <p:cNvSpPr txBox="1"/>
          <p:nvPr/>
        </p:nvSpPr>
        <p:spPr>
          <a:xfrm>
            <a:off x="298450" y="4025900"/>
            <a:ext cx="38354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60% adoption × 30% time reduction</a:t>
            </a:r>
            <a:endParaRPr lang="en-US" sz="1400" dirty="0" spc="0"/>
          </a:p>
        </p:txBody>
      </p:sp>
      <p:sp>
        <p:nvSpPr>
          <p:cNvPr id="23" name="capacity-value-formula"/>
          <p:cNvSpPr txBox="1"/>
          <p:nvPr/>
        </p:nvSpPr>
        <p:spPr>
          <a:xfrm>
            <a:off x="298450" y="5099050"/>
            <a:ext cx="38354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1,944 h × $125 per hour</a:t>
            </a:r>
            <a:endParaRPr lang="en-US" sz="1400" dirty="0" spc="0"/>
          </a:p>
        </p:txBody>
      </p:sp>
      <p:sp>
        <p:nvSpPr>
          <p:cNvPr id="24" name="argument-number-01"/>
          <p:cNvSpPr txBox="1"/>
          <p:nvPr/>
        </p:nvSpPr>
        <p:spPr>
          <a:xfrm>
            <a:off x="4445000" y="2235200"/>
            <a:ext cx="444500" cy="4064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01</a:t>
            </a:r>
            <a:endParaRPr lang="en-US" sz="2400" dirty="0" spc="0"/>
          </a:p>
        </p:txBody>
      </p:sp>
      <p:sp>
        <p:nvSpPr>
          <p:cNvPr id="25" name="argument-title-01"/>
          <p:cNvSpPr txBox="1"/>
          <p:nvPr/>
        </p:nvSpPr>
        <p:spPr>
          <a:xfrm>
            <a:off x="4972050" y="2254250"/>
            <a:ext cx="27813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Focus a repeatable task</a:t>
            </a:r>
            <a:endParaRPr lang="en-US" sz="1400" dirty="0" spc="0"/>
          </a:p>
        </p:txBody>
      </p:sp>
      <p:sp>
        <p:nvSpPr>
          <p:cNvPr id="26" name="argument-detail-01"/>
          <p:cNvSpPr txBox="1"/>
          <p:nvPr/>
        </p:nvSpPr>
        <p:spPr>
          <a:xfrm>
            <a:off x="4972050" y="2476500"/>
            <a:ext cx="2825750" cy="552450"/>
          </a:xfrm>
          <a:prstGeom prst="rect">
            <a:avLst/>
          </a:prstGeom>
          <a:noFill/>
          <a:ln/>
        </p:spPr>
        <p:txBody>
          <a:bodyPr wrap="square" lIns="12700" tIns="12700" rIns="12700" bIns="12700" rtlCol="0" anchor="t">
            <a:noAutofit/>
          </a:bodyPr>
          <a:lstStyle/>
          <a:p>
            <a:pPr algn="l" indent="0" marL="0">
              <a:lnSpc>
                <a:spcPct val="130000"/>
              </a:lnSpc>
              <a:buNone/>
              <a:defRPr spc="0"/>
            </a:pPr>
            <a:r>
              <a:rPr lang="en-US" sz="1400" dirty="0" spc="0">
                <a:solidFill>
                  <a:srgbClr val="000000"/>
                </a:solidFill>
                <a:latin typeface="Arial" pitchFamily="34" charset="0"/>
                <a:ea typeface="Arial" pitchFamily="34" charset="-122"/>
                <a:cs typeface="Arial" pitchFamily="34" charset="-120"/>
              </a:rPr>
              <a:t>Approved sources, frequent use</a:t>
            </a:r>
            <a:endParaRPr lang="en-US" sz="1400" dirty="0" spc="0"/>
          </a:p>
          <a:p>
            <a:pPr algn="l" indent="0" marL="0">
              <a:lnSpc>
                <a:spcPct val="130000"/>
              </a:lnSpc>
              <a:buNone/>
              <a:defRPr spc="0"/>
            </a:pPr>
            <a:r>
              <a:rPr lang="en-US" sz="1400" dirty="0" spc="0">
                <a:solidFill>
                  <a:srgbClr val="000000"/>
                </a:solidFill>
                <a:latin typeface="Arial" pitchFamily="34" charset="0"/>
                <a:ea typeface="Arial" pitchFamily="34" charset="-122"/>
                <a:cs typeface="Arial" pitchFamily="34" charset="-120"/>
              </a:rPr>
              <a:t>and comparable inputs.</a:t>
            </a:r>
            <a:endParaRPr lang="en-US" sz="1400" dirty="0" spc="0"/>
          </a:p>
        </p:txBody>
      </p:sp>
      <p:sp>
        <p:nvSpPr>
          <p:cNvPr id="27" name="argument-number-02"/>
          <p:cNvSpPr txBox="1"/>
          <p:nvPr/>
        </p:nvSpPr>
        <p:spPr>
          <a:xfrm>
            <a:off x="4445000" y="3384550"/>
            <a:ext cx="444500" cy="4064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02</a:t>
            </a:r>
            <a:endParaRPr lang="en-US" sz="2400" dirty="0" spc="0"/>
          </a:p>
        </p:txBody>
      </p:sp>
      <p:sp>
        <p:nvSpPr>
          <p:cNvPr id="28" name="argument-title-02"/>
          <p:cNvSpPr txBox="1"/>
          <p:nvPr/>
        </p:nvSpPr>
        <p:spPr>
          <a:xfrm>
            <a:off x="4972050" y="3403600"/>
            <a:ext cx="27813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Preserve expert review</a:t>
            </a:r>
            <a:endParaRPr lang="en-US" sz="1400" dirty="0" spc="0"/>
          </a:p>
        </p:txBody>
      </p:sp>
      <p:sp>
        <p:nvSpPr>
          <p:cNvPr id="29" name="argument-detail-02"/>
          <p:cNvSpPr txBox="1"/>
          <p:nvPr/>
        </p:nvSpPr>
        <p:spPr>
          <a:xfrm>
            <a:off x="4972050" y="3625850"/>
            <a:ext cx="2825750" cy="552450"/>
          </a:xfrm>
          <a:prstGeom prst="rect">
            <a:avLst/>
          </a:prstGeom>
          <a:noFill/>
          <a:ln/>
        </p:spPr>
        <p:txBody>
          <a:bodyPr wrap="square" lIns="12700" tIns="12700" rIns="12700" bIns="12700" rtlCol="0" anchor="t">
            <a:noAutofit/>
          </a:bodyPr>
          <a:lstStyle/>
          <a:p>
            <a:pPr algn="l" indent="0" marL="0">
              <a:lnSpc>
                <a:spcPct val="130000"/>
              </a:lnSpc>
              <a:buNone/>
              <a:defRPr spc="0"/>
            </a:pPr>
            <a:r>
              <a:rPr lang="en-US" sz="1400" dirty="0" spc="0">
                <a:solidFill>
                  <a:srgbClr val="000000"/>
                </a:solidFill>
                <a:latin typeface="Arial" pitchFamily="34" charset="0"/>
                <a:ea typeface="Arial" pitchFamily="34" charset="-122"/>
                <a:cs typeface="Arial" pitchFamily="34" charset="-120"/>
              </a:rPr>
              <a:t>Verify every client claim</a:t>
            </a:r>
            <a:endParaRPr lang="en-US" sz="1400" dirty="0" spc="0"/>
          </a:p>
          <a:p>
            <a:pPr algn="l" indent="0" marL="0">
              <a:lnSpc>
                <a:spcPct val="130000"/>
              </a:lnSpc>
              <a:buNone/>
              <a:defRPr spc="0"/>
            </a:pPr>
            <a:r>
              <a:rPr lang="en-US" sz="1400" dirty="0" spc="0">
                <a:solidFill>
                  <a:srgbClr val="000000"/>
                </a:solidFill>
                <a:latin typeface="Arial" pitchFamily="34" charset="0"/>
                <a:ea typeface="Arial" pitchFamily="34" charset="-122"/>
                <a:cs typeface="Arial" pitchFamily="34" charset="-120"/>
              </a:rPr>
              <a:t>before release.</a:t>
            </a:r>
            <a:endParaRPr lang="en-US" sz="1400" dirty="0" spc="0"/>
          </a:p>
        </p:txBody>
      </p:sp>
      <p:sp>
        <p:nvSpPr>
          <p:cNvPr id="30" name="argument-number-03"/>
          <p:cNvSpPr txBox="1"/>
          <p:nvPr/>
        </p:nvSpPr>
        <p:spPr>
          <a:xfrm>
            <a:off x="4445000" y="4514850"/>
            <a:ext cx="444500" cy="4064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03</a:t>
            </a:r>
            <a:endParaRPr lang="en-US" sz="2400" dirty="0" spc="0"/>
          </a:p>
        </p:txBody>
      </p:sp>
      <p:sp>
        <p:nvSpPr>
          <p:cNvPr id="31" name="argument-title-03"/>
          <p:cNvSpPr txBox="1"/>
          <p:nvPr/>
        </p:nvSpPr>
        <p:spPr>
          <a:xfrm>
            <a:off x="4972050" y="4533900"/>
            <a:ext cx="27813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Fund against evidence</a:t>
            </a:r>
            <a:endParaRPr lang="en-US" sz="1400" dirty="0" spc="0"/>
          </a:p>
        </p:txBody>
      </p:sp>
      <p:sp>
        <p:nvSpPr>
          <p:cNvPr id="32" name="argument-detail-03"/>
          <p:cNvSpPr txBox="1"/>
          <p:nvPr/>
        </p:nvSpPr>
        <p:spPr>
          <a:xfrm>
            <a:off x="4972050" y="4749800"/>
            <a:ext cx="2825750" cy="552450"/>
          </a:xfrm>
          <a:prstGeom prst="rect">
            <a:avLst/>
          </a:prstGeom>
          <a:noFill/>
          <a:ln/>
        </p:spPr>
        <p:txBody>
          <a:bodyPr wrap="square" lIns="12700" tIns="12700" rIns="12700" bIns="12700" rtlCol="0" anchor="t">
            <a:noAutofit/>
          </a:bodyPr>
          <a:lstStyle/>
          <a:p>
            <a:pPr algn="l" indent="0" marL="0">
              <a:lnSpc>
                <a:spcPct val="130000"/>
              </a:lnSpc>
              <a:buNone/>
              <a:defRPr spc="0"/>
            </a:pPr>
            <a:r>
              <a:rPr lang="en-US" sz="1400" dirty="0" spc="0">
                <a:solidFill>
                  <a:srgbClr val="000000"/>
                </a:solidFill>
                <a:latin typeface="Arial" pitchFamily="34" charset="0"/>
                <a:ea typeface="Arial" pitchFamily="34" charset="-122"/>
                <a:cs typeface="Arial" pitchFamily="34" charset="-120"/>
              </a:rPr>
              <a:t>Practice lead and CFO release</a:t>
            </a:r>
            <a:endParaRPr lang="en-US" sz="1400" dirty="0" spc="0"/>
          </a:p>
          <a:p>
            <a:pPr algn="l" indent="0" marL="0">
              <a:lnSpc>
                <a:spcPct val="130000"/>
              </a:lnSpc>
              <a:buNone/>
              <a:defRPr spc="0"/>
            </a:pPr>
            <a:r>
              <a:rPr lang="en-US" sz="1400" dirty="0" spc="0">
                <a:solidFill>
                  <a:srgbClr val="000000"/>
                </a:solidFill>
                <a:latin typeface="Arial" pitchFamily="34" charset="0"/>
                <a:ea typeface="Arial" pitchFamily="34" charset="-122"/>
                <a:cs typeface="Arial" pitchFamily="34" charset="-120"/>
              </a:rPr>
              <a:t>$60k only after the week-12 gate.</a:t>
            </a:r>
            <a:endParaRPr lang="en-US" sz="1400" dirty="0" spc="0"/>
          </a:p>
        </p:txBody>
      </p:sp>
      <p:sp>
        <p:nvSpPr>
          <p:cNvPr id="33" name="decision-label"/>
          <p:cNvSpPr txBox="1"/>
          <p:nvPr/>
        </p:nvSpPr>
        <p:spPr>
          <a:xfrm>
            <a:off x="635000" y="5689600"/>
            <a:ext cx="266700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DECISION REQUESTED</a:t>
            </a:r>
            <a:endParaRPr lang="en-US" sz="1400" dirty="0" spc="0"/>
          </a:p>
        </p:txBody>
      </p:sp>
      <p:sp>
        <p:nvSpPr>
          <p:cNvPr id="34" name="decision-request"/>
          <p:cNvSpPr txBox="1"/>
          <p:nvPr/>
        </p:nvSpPr>
        <p:spPr>
          <a:xfrm>
            <a:off x="3556000" y="5689600"/>
            <a:ext cx="803275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Approve $25k and name a practice sponsor.</a:t>
            </a:r>
            <a:endParaRPr lang="en-US" sz="1400" dirty="0" spc="0"/>
          </a:p>
        </p:txBody>
      </p:sp>
      <p:sp>
        <p:nvSpPr>
          <p:cNvPr id="3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304800" y="1454150"/>
            <a:ext cx="11582400" cy="12700"/>
          </a:xfrm>
          <a:prstGeom prst="rect">
            <a:avLst/>
          </a:prstGeom>
          <a:solidFill>
            <a:srgbClr val="999DA4"/>
          </a:solidFill>
          <a:ln w="12700">
            <a:solidFill>
              <a:srgbClr val="FFFFFF">
                <a:alpha val="0"/>
              </a:srgbClr>
            </a:solidFill>
            <a:prstDash val="solid"/>
          </a:ln>
        </p:spPr>
      </p:sp>
      <p:sp>
        <p:nvSpPr>
          <p:cNvPr id="3" name="reason-divider-1"/>
          <p:cNvSpPr/>
          <p:nvPr/>
        </p:nvSpPr>
        <p:spPr>
          <a:xfrm>
            <a:off x="8775700" y="2800350"/>
            <a:ext cx="3175000" cy="6350"/>
          </a:xfrm>
          <a:prstGeom prst="rect">
            <a:avLst/>
          </a:prstGeom>
          <a:solidFill>
            <a:srgbClr val="B5B7BA"/>
          </a:solidFill>
          <a:ln w="12700">
            <a:solidFill>
              <a:srgbClr val="FFFFFF">
                <a:alpha val="0"/>
              </a:srgbClr>
            </a:solidFill>
            <a:prstDash val="solid"/>
          </a:ln>
        </p:spPr>
      </p:sp>
      <p:sp>
        <p:nvSpPr>
          <p:cNvPr id="4" name="reason-divider-2"/>
          <p:cNvSpPr/>
          <p:nvPr/>
        </p:nvSpPr>
        <p:spPr>
          <a:xfrm>
            <a:off x="8775700" y="3759200"/>
            <a:ext cx="3175000" cy="6350"/>
          </a:xfrm>
          <a:prstGeom prst="rect">
            <a:avLst/>
          </a:prstGeom>
          <a:solidFill>
            <a:srgbClr val="B5B7BA"/>
          </a:solidFill>
          <a:ln w="12700">
            <a:solidFill>
              <a:srgbClr val="FFFFFF">
                <a:alpha val="0"/>
              </a:srgbClr>
            </a:solidFill>
            <a:prstDash val="solid"/>
          </a:ln>
        </p:spPr>
      </p:sp>
      <p:sp>
        <p:nvSpPr>
          <p:cNvPr id="5" name="overlap-note-panel"/>
          <p:cNvSpPr/>
          <p:nvPr/>
        </p:nvSpPr>
        <p:spPr>
          <a:xfrm>
            <a:off x="8775700" y="4737100"/>
            <a:ext cx="3175000" cy="584200"/>
          </a:xfrm>
          <a:prstGeom prst="rect">
            <a:avLst/>
          </a:prstGeom>
          <a:solidFill>
            <a:srgbClr val="F5F7F8"/>
          </a:solidFill>
          <a:ln w="12700">
            <a:solidFill>
              <a:srgbClr val="FFFFFF">
                <a:alpha val="0"/>
              </a:srgbClr>
            </a:solidFill>
            <a:prstDash val="solid"/>
          </a:ln>
        </p:spPr>
      </p:sp>
      <p:sp>
        <p:nvSpPr>
          <p:cNvPr id="6" name="decision-band"/>
          <p:cNvSpPr/>
          <p:nvPr/>
        </p:nvSpPr>
        <p:spPr>
          <a:xfrm>
            <a:off x="304800" y="5441950"/>
            <a:ext cx="11582400" cy="850900"/>
          </a:xfrm>
          <a:prstGeom prst="rect">
            <a:avLst/>
          </a:prstGeom>
          <a:solidFill>
            <a:srgbClr val="FFF5ED"/>
          </a:solidFill>
          <a:ln w="12700">
            <a:solidFill>
              <a:srgbClr val="FFFFFF">
                <a:alpha val="0"/>
              </a:srgbClr>
            </a:solidFill>
            <a:prstDash val="solid"/>
          </a:ln>
        </p:spPr>
      </p:sp>
      <p:sp>
        <p:nvSpPr>
          <p:cNvPr id="7" name="decision-accent"/>
          <p:cNvSpPr/>
          <p:nvPr/>
        </p:nvSpPr>
        <p:spPr>
          <a:xfrm>
            <a:off x="304800" y="5441950"/>
            <a:ext cx="50800" cy="850900"/>
          </a:xfrm>
          <a:prstGeom prst="rect">
            <a:avLst/>
          </a:prstGeom>
          <a:solidFill>
            <a:srgbClr val="FD5108"/>
          </a:solidFill>
          <a:ln w="12700">
            <a:solidFill>
              <a:srgbClr val="FFFFFF">
                <a:alpha val="0"/>
              </a:srgbClr>
            </a:solidFill>
            <a:prstDash val="solid"/>
          </a:ln>
        </p:spPr>
      </p:sp>
      <p:graphicFrame>
        <p:nvGraphicFramePr>
          <p:cNvPr id="8" name="annual-capacity-chart" descr=""/>
          <p:cNvGraphicFramePr/>
          <p:nvPr/>
        </p:nvGraphicFramePr>
        <p:xfrm>
          <a:off x="196850" y="2063750"/>
          <a:ext cx="3937000" cy="148590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workflow-assumptions"/>
          <p:cNvGraphicFramePr>
            <a:graphicFrameLocks noGrp="1"/>
          </p:cNvGraphicFramePr>
          <p:nvPr>
            <p:extLst>
              <p:ext uri="{D42A27DB-BD31-4B8C-83A1-F6EECF244321}">
                <p14:modId xmlns:p14="http://schemas.microsoft.com/office/powerpoint/2010/main" val="1579011935"/>
              </p:ext>
            </p:extLst>
          </p:nvPr>
        </p:nvGraphicFramePr>
        <p:xfrm>
          <a:off x="209550" y="3594100"/>
          <a:ext cx="3695700" cy="1257300"/>
        </p:xfrm>
        <a:graphic>
          <a:graphicData uri="http://schemas.openxmlformats.org/drawingml/2006/table">
            <a:tbl>
              <a:tblPr/>
              <a:tblGrid>
                <a:gridCol w="996950"/>
                <a:gridCol w="920750"/>
                <a:gridCol w="914400"/>
                <a:gridCol w="863600"/>
              </a:tblGrid>
              <a:tr h="31750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Workflow</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Baseline h</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Adoption</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Time saved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r>
              <a:tr h="3111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Research</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r h="3111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Proposal</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50%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r>
              <a:tr h="3175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Retrieval</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bl>
          </a:graphicData>
        </a:graphic>
      </p:graphicFrame>
      <p:graphicFrame>
        <p:nvGraphicFramePr>
          <p:cNvPr id="10" name="pilot-sequencing"/>
          <p:cNvGraphicFramePr>
            <a:graphicFrameLocks noGrp="1"/>
          </p:cNvGraphicFramePr>
          <p:nvPr>
            <p:extLst>
              <p:ext uri="{D42A27DB-BD31-4B8C-83A1-F6EECF244321}">
                <p14:modId xmlns:p14="http://schemas.microsoft.com/office/powerpoint/2010/main" val="1579011935"/>
              </p:ext>
            </p:extLst>
          </p:nvPr>
        </p:nvGraphicFramePr>
        <p:xfrm>
          <a:off x="4254500" y="2019300"/>
          <a:ext cx="4197350" cy="3213100"/>
        </p:xfrm>
        <a:graphic>
          <a:graphicData uri="http://schemas.openxmlformats.org/drawingml/2006/table">
            <a:tbl>
              <a:tblPr/>
              <a:tblGrid>
                <a:gridCol w="946150"/>
                <a:gridCol w="1606550"/>
                <a:gridCol w="774700"/>
                <a:gridCol w="869950"/>
              </a:tblGrid>
              <a:tr h="48260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Workflow</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Control readiness</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Owner</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Sequence</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r>
              <a:tr h="8699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Research</a:t>
                      </a:r>
                      <a:endParaRPr lang="en-US" sz="1200" dirty="0">
                        <a:latin typeface="Arial" charset="0"/>
                        <a:ea typeface="Arial" charset="0"/>
                        <a:cs typeface="Arial" charset="0"/>
                      </a:endParaRPr>
                    </a:p>
                    <a:p>
                      <a:pPr algn="l" indent="0" marL="0">
                        <a:buNone/>
                      </a:pPr>
                      <a:r>
                        <a:rPr lang="en-US" sz="1200" b="1" dirty="0">
                          <a:solidFill>
                            <a:srgbClr val="000000"/>
                          </a:solidFill>
                          <a:latin typeface="Arial" pitchFamily="34" charset="0"/>
                          <a:ea typeface="Arial" pitchFamily="34" charset="-122"/>
                          <a:cs typeface="Arial" pitchFamily="34" charset="-120"/>
                        </a:rPr>
                        <a:t>synthesis</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Approved corpus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Explicit review</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Practice</a:t>
                      </a:r>
                      <a:endParaRPr lang="en-US" sz="1200" dirty="0">
                        <a:latin typeface="Arial" charset="0"/>
                        <a:ea typeface="Arial" charset="0"/>
                        <a:cs typeface="Arial" charset="0"/>
                      </a:endParaRPr>
                    </a:p>
                    <a:p>
                      <a:pPr algn="ctr" indent="0" marL="0">
                        <a:buNone/>
                      </a:pPr>
                      <a:r>
                        <a:rPr lang="en-US" sz="1200" dirty="0">
                          <a:solidFill>
                            <a:srgbClr val="000000"/>
                          </a:solidFill>
                          <a:latin typeface="Arial" pitchFamily="34" charset="0"/>
                          <a:ea typeface="Arial" pitchFamily="34" charset="-122"/>
                          <a:cs typeface="Arial" pitchFamily="34" charset="-120"/>
                        </a:rPr>
                        <a:t>lead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START</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r h="9398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Proposal</a:t>
                      </a:r>
                      <a:endParaRPr lang="en-US" sz="1200" dirty="0">
                        <a:latin typeface="Arial" charset="0"/>
                        <a:ea typeface="Arial" charset="0"/>
                        <a:cs typeface="Arial" charset="0"/>
                      </a:endParaRPr>
                    </a:p>
                    <a:p>
                      <a:pPr algn="l" indent="0" marL="0">
                        <a:buNone/>
                      </a:pPr>
                      <a:r>
                        <a:rPr lang="en-US" sz="1200" b="1" dirty="0">
                          <a:solidFill>
                            <a:srgbClr val="000000"/>
                          </a:solidFill>
                          <a:latin typeface="Arial" pitchFamily="34" charset="0"/>
                          <a:ea typeface="Arial" pitchFamily="34" charset="-122"/>
                          <a:cs typeface="Arial" pitchFamily="34" charset="-120"/>
                        </a:rPr>
                        <a:t>drafting</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Claims and</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commitments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need controls</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BD</a:t>
                      </a:r>
                      <a:endParaRPr lang="en-US" sz="1200" dirty="0">
                        <a:latin typeface="Arial" charset="0"/>
                        <a:ea typeface="Arial" charset="0"/>
                        <a:cs typeface="Arial" charset="0"/>
                      </a:endParaRPr>
                    </a:p>
                    <a:p>
                      <a:pPr algn="ctr" indent="0" marL="0">
                        <a:buNone/>
                      </a:pPr>
                      <a:r>
                        <a:rPr lang="en-US" sz="1200" dirty="0">
                          <a:solidFill>
                            <a:srgbClr val="000000"/>
                          </a:solidFill>
                          <a:latin typeface="Arial" pitchFamily="34" charset="0"/>
                          <a:ea typeface="Arial" pitchFamily="34" charset="-122"/>
                          <a:cs typeface="Arial" pitchFamily="34" charset="-120"/>
                        </a:rPr>
                        <a:t>lead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NEXT</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r>
              <a:tr h="9207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Knowledge</a:t>
                      </a:r>
                      <a:endParaRPr lang="en-US" sz="1200" dirty="0">
                        <a:latin typeface="Arial" charset="0"/>
                        <a:ea typeface="Arial" charset="0"/>
                        <a:cs typeface="Arial" charset="0"/>
                      </a:endParaRPr>
                    </a:p>
                    <a:p>
                      <a:pPr algn="l" indent="0" marL="0">
                        <a:buNone/>
                      </a:pPr>
                      <a:r>
                        <a:rPr lang="en-US" sz="1200" b="1" dirty="0">
                          <a:solidFill>
                            <a:srgbClr val="000000"/>
                          </a:solidFill>
                          <a:latin typeface="Arial" pitchFamily="34" charset="0"/>
                          <a:ea typeface="Arial" pitchFamily="34" charset="-122"/>
                          <a:cs typeface="Arial" pitchFamily="34" charset="-120"/>
                        </a:rPr>
                        <a:t>retrieval</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Permissions need</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cleanup</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Knowledge</a:t>
                      </a:r>
                      <a:endParaRPr lang="en-US" sz="1200" dirty="0">
                        <a:latin typeface="Arial" charset="0"/>
                        <a:ea typeface="Arial" charset="0"/>
                        <a:cs typeface="Arial" charset="0"/>
                      </a:endParaRPr>
                    </a:p>
                    <a:p>
                      <a:pPr algn="ctr" indent="0" marL="0">
                        <a:buNone/>
                      </a:pPr>
                      <a:r>
                        <a:rPr lang="en-US" sz="1200" dirty="0">
                          <a:solidFill>
                            <a:srgbClr val="000000"/>
                          </a:solidFill>
                          <a:latin typeface="Arial" pitchFamily="34" charset="0"/>
                          <a:ea typeface="Arial" pitchFamily="34" charset="-122"/>
                          <a:cs typeface="Arial" pitchFamily="34" charset="-120"/>
                        </a:rPr>
                        <a:t>lead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LATER</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bl>
          </a:graphicData>
        </a:graphic>
      </p:graphicFrame>
      <p:sp>
        <p:nvSpPr>
          <p:cNvPr id="11" name="headline"/>
          <p:cNvSpPr txBox="1"/>
          <p:nvPr/>
        </p:nvSpPr>
        <p:spPr>
          <a:xfrm>
            <a:off x="304800" y="527050"/>
            <a:ext cx="11582400" cy="5080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Revise the analysis without rebuilding the slide</a:t>
            </a:r>
            <a:endParaRPr lang="en-US" sz="3200" dirty="0" spc="0"/>
          </a:p>
        </p:txBody>
      </p:sp>
      <p:sp>
        <p:nvSpPr>
          <p:cNvPr id="12" name="subtitle"/>
          <p:cNvSpPr txBox="1"/>
          <p:nvPr/>
        </p:nvSpPr>
        <p:spPr>
          <a:xfrm>
            <a:off x="304800" y="1060450"/>
            <a:ext cx="1158240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Capacity creates the opportunity. Control readiness sets the sequence.</a:t>
            </a:r>
            <a:endParaRPr lang="en-US" sz="1600" dirty="0" spc="0"/>
          </a:p>
        </p:txBody>
      </p:sp>
      <p:sp>
        <p:nvSpPr>
          <p:cNvPr id="13" name="capacity-heading"/>
          <p:cNvSpPr txBox="1"/>
          <p:nvPr/>
        </p:nvSpPr>
        <p:spPr>
          <a:xfrm>
            <a:off x="203200" y="1625600"/>
            <a:ext cx="39370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ANNUAL CAPACITY POTENTIAL</a:t>
            </a:r>
            <a:endParaRPr lang="en-US" sz="1400" dirty="0" spc="0"/>
          </a:p>
        </p:txBody>
      </p:sp>
      <p:sp>
        <p:nvSpPr>
          <p:cNvPr id="14" name="sequencing-heading"/>
          <p:cNvSpPr txBox="1"/>
          <p:nvPr/>
        </p:nvSpPr>
        <p:spPr>
          <a:xfrm>
            <a:off x="4254500" y="1625600"/>
            <a:ext cx="419735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PILOT SEQUENCING TEST</a:t>
            </a:r>
            <a:endParaRPr lang="en-US" sz="1400" dirty="0" spc="0"/>
          </a:p>
        </p:txBody>
      </p:sp>
      <p:sp>
        <p:nvSpPr>
          <p:cNvPr id="15" name="reason-heading"/>
          <p:cNvSpPr txBox="1"/>
          <p:nvPr/>
        </p:nvSpPr>
        <p:spPr>
          <a:xfrm>
            <a:off x="8775700" y="1625600"/>
            <a:ext cx="31750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WHY RESEARCH WINS FIRST</a:t>
            </a:r>
            <a:endParaRPr lang="en-US" sz="1400" dirty="0" spc="0"/>
          </a:p>
        </p:txBody>
      </p:sp>
      <p:sp>
        <p:nvSpPr>
          <p:cNvPr id="16" name="chart-unit"/>
          <p:cNvSpPr txBox="1"/>
          <p:nvPr/>
        </p:nvSpPr>
        <p:spPr>
          <a:xfrm>
            <a:off x="203200" y="1847850"/>
            <a:ext cx="39370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Illustrative hours</a:t>
            </a:r>
            <a:endParaRPr lang="en-US" sz="1200" dirty="0" spc="0"/>
          </a:p>
        </p:txBody>
      </p:sp>
      <p:sp>
        <p:nvSpPr>
          <p:cNvPr id="17" name="capacity-formula"/>
          <p:cNvSpPr txBox="1"/>
          <p:nvPr/>
        </p:nvSpPr>
        <p:spPr>
          <a:xfrm>
            <a:off x="203200" y="4895850"/>
            <a:ext cx="3943350" cy="5016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Annual hours = 900 engagements ×</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baseline h × adoption × time saved</a:t>
            </a:r>
            <a:endParaRPr lang="en-US" sz="1400" dirty="0" spc="0"/>
          </a:p>
        </p:txBody>
      </p:sp>
      <p:sp>
        <p:nvSpPr>
          <p:cNvPr id="18" name="reason-number-01"/>
          <p:cNvSpPr txBox="1"/>
          <p:nvPr/>
        </p:nvSpPr>
        <p:spPr>
          <a:xfrm>
            <a:off x="8769350" y="2038350"/>
            <a:ext cx="457200" cy="4191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01</a:t>
            </a:r>
            <a:endParaRPr lang="en-US" sz="2400" dirty="0" spc="0"/>
          </a:p>
        </p:txBody>
      </p:sp>
      <p:sp>
        <p:nvSpPr>
          <p:cNvPr id="19" name="reason-title-01"/>
          <p:cNvSpPr txBox="1"/>
          <p:nvPr/>
        </p:nvSpPr>
        <p:spPr>
          <a:xfrm>
            <a:off x="9340850" y="1993900"/>
            <a:ext cx="27178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Frequent, comparable tasks</a:t>
            </a:r>
            <a:endParaRPr lang="en-US" sz="1400" dirty="0" spc="0"/>
          </a:p>
        </p:txBody>
      </p:sp>
      <p:sp>
        <p:nvSpPr>
          <p:cNvPr id="20" name="reason-detail-01"/>
          <p:cNvSpPr txBox="1"/>
          <p:nvPr/>
        </p:nvSpPr>
        <p:spPr>
          <a:xfrm>
            <a:off x="9340850" y="2216150"/>
            <a:ext cx="2724150" cy="5524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Many engagements use the</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same research task.</a:t>
            </a:r>
            <a:endParaRPr lang="en-US" sz="1400" dirty="0" spc="0"/>
          </a:p>
        </p:txBody>
      </p:sp>
      <p:sp>
        <p:nvSpPr>
          <p:cNvPr id="21" name="reason-number-02"/>
          <p:cNvSpPr txBox="1"/>
          <p:nvPr/>
        </p:nvSpPr>
        <p:spPr>
          <a:xfrm>
            <a:off x="8769350" y="2933700"/>
            <a:ext cx="457200" cy="4191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02</a:t>
            </a:r>
            <a:endParaRPr lang="en-US" sz="2400" dirty="0" spc="0"/>
          </a:p>
        </p:txBody>
      </p:sp>
      <p:sp>
        <p:nvSpPr>
          <p:cNvPr id="22" name="reason-title-02"/>
          <p:cNvSpPr txBox="1"/>
          <p:nvPr/>
        </p:nvSpPr>
        <p:spPr>
          <a:xfrm>
            <a:off x="9340850" y="2946400"/>
            <a:ext cx="27178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 bounded source corpus</a:t>
            </a:r>
            <a:endParaRPr lang="en-US" sz="1400" dirty="0" spc="0"/>
          </a:p>
        </p:txBody>
      </p:sp>
      <p:sp>
        <p:nvSpPr>
          <p:cNvPr id="23" name="reason-detail-02"/>
          <p:cNvSpPr txBox="1"/>
          <p:nvPr/>
        </p:nvSpPr>
        <p:spPr>
          <a:xfrm>
            <a:off x="9340850" y="3168650"/>
            <a:ext cx="2724150" cy="5524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Approved sources limit scope</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and simplify review.</a:t>
            </a:r>
            <a:endParaRPr lang="en-US" sz="1400" dirty="0" spc="0"/>
          </a:p>
        </p:txBody>
      </p:sp>
      <p:sp>
        <p:nvSpPr>
          <p:cNvPr id="24" name="reason-number-03"/>
          <p:cNvSpPr txBox="1"/>
          <p:nvPr/>
        </p:nvSpPr>
        <p:spPr>
          <a:xfrm>
            <a:off x="8769350" y="3892550"/>
            <a:ext cx="457200" cy="4191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03</a:t>
            </a:r>
            <a:endParaRPr lang="en-US" sz="2400" dirty="0" spc="0"/>
          </a:p>
        </p:txBody>
      </p:sp>
      <p:sp>
        <p:nvSpPr>
          <p:cNvPr id="25" name="reason-title-03"/>
          <p:cNvSpPr txBox="1"/>
          <p:nvPr/>
        </p:nvSpPr>
        <p:spPr>
          <a:xfrm>
            <a:off x="9340850" y="3905250"/>
            <a:ext cx="27178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 named expert reviewer</a:t>
            </a:r>
            <a:endParaRPr lang="en-US" sz="1400" dirty="0" spc="0"/>
          </a:p>
        </p:txBody>
      </p:sp>
      <p:sp>
        <p:nvSpPr>
          <p:cNvPr id="26" name="reason-detail-03"/>
          <p:cNvSpPr txBox="1"/>
          <p:nvPr/>
        </p:nvSpPr>
        <p:spPr>
          <a:xfrm>
            <a:off x="9340850" y="4127500"/>
            <a:ext cx="2724150" cy="5524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An accountable reviewer verifies</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outputs before client release.</a:t>
            </a:r>
            <a:endParaRPr lang="en-US" sz="1400" dirty="0" spc="0"/>
          </a:p>
        </p:txBody>
      </p:sp>
      <p:sp>
        <p:nvSpPr>
          <p:cNvPr id="27" name="overlap-qualification"/>
          <p:cNvSpPr txBox="1"/>
          <p:nvPr/>
        </p:nvSpPr>
        <p:spPr>
          <a:xfrm>
            <a:off x="8890000" y="4781550"/>
            <a:ext cx="2959100" cy="520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Check task overlap before adding</a:t>
            </a:r>
            <a:endParaRPr lang="en-US" sz="1400" dirty="0" spc="0"/>
          </a:p>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workflow benefits.</a:t>
            </a:r>
            <a:endParaRPr lang="en-US" sz="1400" dirty="0" spc="0"/>
          </a:p>
        </p:txBody>
      </p:sp>
      <p:sp>
        <p:nvSpPr>
          <p:cNvPr id="28" name="decision-label"/>
          <p:cNvSpPr txBox="1"/>
          <p:nvPr/>
        </p:nvSpPr>
        <p:spPr>
          <a:xfrm>
            <a:off x="635000" y="5689600"/>
            <a:ext cx="266700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PILOT BOUNDARY</a:t>
            </a:r>
            <a:endParaRPr lang="en-US" sz="1400" dirty="0" spc="0"/>
          </a:p>
        </p:txBody>
      </p:sp>
      <p:sp>
        <p:nvSpPr>
          <p:cNvPr id="29" name="decision-message"/>
          <p:cNvSpPr txBox="1"/>
          <p:nvPr/>
        </p:nvSpPr>
        <p:spPr>
          <a:xfrm>
            <a:off x="3556000" y="5689600"/>
            <a:ext cx="803275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Start with approved-source research synthesis.</a:t>
            </a:r>
            <a:endParaRPr lang="en-US" sz="1400" dirty="0" spc="0"/>
          </a:p>
        </p:txBody>
      </p:sp>
      <p:sp>
        <p:nvSpPr>
          <p:cNvPr id="30"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304800" y="1454150"/>
            <a:ext cx="11582400" cy="12700"/>
          </a:xfrm>
          <a:prstGeom prst="rect">
            <a:avLst/>
          </a:prstGeom>
          <a:solidFill>
            <a:srgbClr val="999999"/>
          </a:solidFill>
          <a:ln w="12700">
            <a:solidFill>
              <a:srgbClr val="FFFFFF">
                <a:alpha val="0"/>
              </a:srgbClr>
            </a:solidFill>
            <a:prstDash val="solid"/>
          </a:ln>
        </p:spPr>
      </p:sp>
      <p:sp>
        <p:nvSpPr>
          <p:cNvPr id="3" name="stage-1"/>
          <p:cNvSpPr/>
          <p:nvPr/>
        </p:nvSpPr>
        <p:spPr>
          <a:xfrm>
            <a:off x="565150" y="1663700"/>
            <a:ext cx="1619250" cy="577850"/>
          </a:xfrm>
          <a:prstGeom prst="rect">
            <a:avLst/>
          </a:prstGeom>
          <a:solidFill>
            <a:srgbClr val="FFFFFF"/>
          </a:solidFill>
          <a:ln w="12700">
            <a:solidFill>
              <a:srgbClr val="FD5108"/>
            </a:solidFill>
            <a:prstDash val="solid"/>
          </a:ln>
        </p:spPr>
      </p:sp>
      <p:sp>
        <p:nvSpPr>
          <p:cNvPr id="4" name="stage-2"/>
          <p:cNvSpPr/>
          <p:nvPr/>
        </p:nvSpPr>
        <p:spPr>
          <a:xfrm>
            <a:off x="2819400" y="1663700"/>
            <a:ext cx="1606550" cy="577850"/>
          </a:xfrm>
          <a:prstGeom prst="rect">
            <a:avLst/>
          </a:prstGeom>
          <a:solidFill>
            <a:srgbClr val="FFFFFF"/>
          </a:solidFill>
          <a:ln w="12700">
            <a:solidFill>
              <a:srgbClr val="FD5108"/>
            </a:solidFill>
            <a:prstDash val="solid"/>
          </a:ln>
        </p:spPr>
      </p:sp>
      <p:sp>
        <p:nvSpPr>
          <p:cNvPr id="5" name="stage-3"/>
          <p:cNvSpPr/>
          <p:nvPr/>
        </p:nvSpPr>
        <p:spPr>
          <a:xfrm>
            <a:off x="5041900" y="1663700"/>
            <a:ext cx="1619250" cy="577850"/>
          </a:xfrm>
          <a:prstGeom prst="rect">
            <a:avLst/>
          </a:prstGeom>
          <a:solidFill>
            <a:srgbClr val="FFFFFF"/>
          </a:solidFill>
          <a:ln w="12700">
            <a:solidFill>
              <a:srgbClr val="FD5108"/>
            </a:solidFill>
            <a:prstDash val="solid"/>
          </a:ln>
        </p:spPr>
      </p:sp>
      <p:sp>
        <p:nvSpPr>
          <p:cNvPr id="6" name="stage-4"/>
          <p:cNvSpPr/>
          <p:nvPr/>
        </p:nvSpPr>
        <p:spPr>
          <a:xfrm>
            <a:off x="7264400" y="1663700"/>
            <a:ext cx="1803400" cy="577850"/>
          </a:xfrm>
          <a:prstGeom prst="rect">
            <a:avLst/>
          </a:prstGeom>
          <a:solidFill>
            <a:srgbClr val="FFFFFF"/>
          </a:solidFill>
          <a:ln w="12700">
            <a:solidFill>
              <a:srgbClr val="FD5108"/>
            </a:solidFill>
            <a:prstDash val="solid"/>
          </a:ln>
        </p:spPr>
      </p:sp>
      <p:sp>
        <p:nvSpPr>
          <p:cNvPr id="7" name="shared-divider"/>
          <p:cNvSpPr/>
          <p:nvPr/>
        </p:nvSpPr>
        <p:spPr>
          <a:xfrm>
            <a:off x="9620250" y="3492500"/>
            <a:ext cx="2260600" cy="6350"/>
          </a:xfrm>
          <a:prstGeom prst="rect">
            <a:avLst/>
          </a:prstGeom>
          <a:solidFill>
            <a:srgbClr val="B5B5B5"/>
          </a:solidFill>
          <a:ln w="12700">
            <a:solidFill>
              <a:srgbClr val="FFFFFF">
                <a:alpha val="0"/>
              </a:srgbClr>
            </a:solidFill>
            <a:prstDash val="solid"/>
          </a:ln>
        </p:spPr>
      </p:sp>
      <p:sp>
        <p:nvSpPr>
          <p:cNvPr id="8" name="decision-band"/>
          <p:cNvSpPr/>
          <p:nvPr/>
        </p:nvSpPr>
        <p:spPr>
          <a:xfrm>
            <a:off x="304800" y="5441950"/>
            <a:ext cx="11582400" cy="850900"/>
          </a:xfrm>
          <a:prstGeom prst="rect">
            <a:avLst/>
          </a:prstGeom>
          <a:solidFill>
            <a:srgbClr val="FFF5ED"/>
          </a:solidFill>
          <a:ln w="12700">
            <a:solidFill>
              <a:srgbClr val="FFFFFF">
                <a:alpha val="0"/>
              </a:srgbClr>
            </a:solidFill>
            <a:prstDash val="solid"/>
          </a:ln>
        </p:spPr>
      </p:sp>
      <p:sp>
        <p:nvSpPr>
          <p:cNvPr id="9" name="decision-accent"/>
          <p:cNvSpPr/>
          <p:nvPr/>
        </p:nvSpPr>
        <p:spPr>
          <a:xfrm>
            <a:off x="304800" y="5441950"/>
            <a:ext cx="50800" cy="850900"/>
          </a:xfrm>
          <a:prstGeom prst="rect">
            <a:avLst/>
          </a:prstGeom>
          <a:solidFill>
            <a:srgbClr val="FD5108"/>
          </a:solidFill>
          <a:ln w="12700">
            <a:solidFill>
              <a:srgbClr val="FFFFFF">
                <a:alpha val="0"/>
              </a:srgbClr>
            </a:solidFill>
            <a:prstDash val="solid"/>
          </a:ln>
        </p:spPr>
      </p:sp>
      <p:graphicFrame>
        <p:nvGraphicFramePr>
          <p:cNvPr id="10" name="responsibility-matrix"/>
          <p:cNvGraphicFramePr>
            <a:graphicFrameLocks noGrp="1"/>
          </p:cNvGraphicFramePr>
          <p:nvPr>
            <p:extLst>
              <p:ext uri="{D42A27DB-BD31-4B8C-83A1-F6EECF244321}">
                <p14:modId xmlns:p14="http://schemas.microsoft.com/office/powerpoint/2010/main" val="1579011935"/>
              </p:ext>
            </p:extLst>
          </p:nvPr>
        </p:nvGraphicFramePr>
        <p:xfrm>
          <a:off x="311150" y="2406650"/>
          <a:ext cx="9042400" cy="2114550"/>
        </p:xfrm>
        <a:graphic>
          <a:graphicData uri="http://schemas.openxmlformats.org/drawingml/2006/table">
            <a:tbl>
              <a:tblPr/>
              <a:tblGrid>
                <a:gridCol w="1758950"/>
                <a:gridCol w="1828800"/>
                <a:gridCol w="1866900"/>
                <a:gridCol w="1746250"/>
                <a:gridCol w="1841500"/>
              </a:tblGrid>
              <a:tr h="349250">
                <a:tc>
                  <a:txBody>
                    <a:bodyPr>
                      <a:noAutofit/>
                    </a:bodyPr>
                    <a:lstStyle/>
                    <a:p>
                      <a:pPr algn="l" indent="0" marL="0">
                        <a:buNone/>
                      </a:pP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Approved sources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Grounded draft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Expert review</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Client-ready output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r>
              <a:tr h="4127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Corpus request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Source pack + task brief</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Draft + evidence trail</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Signed draft + resolved defects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4064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OUTPUT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Versioned source pack</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Cited draft + uncertainty flags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Signed review or defect log</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Authorized client deliverable</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r h="4064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OWNER</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Source steward</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Engagement team</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Expert reviewer</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Engagement lead</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5397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RELEASE CONTROL</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Verify permissions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and dates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Check citations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and evidence gaps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Validate claims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and quality</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Confirm release</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approval</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bl>
          </a:graphicData>
        </a:graphic>
      </p:graphicFrame>
      <p:cxnSp>
        <p:nvCxnSpPr>
          <p:cNvPr id="11" name="SC_CONNECTOR__forward-1__0"/>
          <p:cNvCxnSpPr/>
          <p:nvPr/>
        </p:nvCxnSpPr>
        <p:spPr>
          <a:xfrm>
            <a:off x="2184400" y="1952625"/>
            <a:ext cx="635000" cy="0"/>
          </a:xfrm>
          <a:prstGeom prst="line">
            <a:avLst/>
          </a:prstGeom>
          <a:noFill/>
          <a:ln w="19050">
            <a:solidFill>
              <a:srgbClr val="FD5108"/>
            </a:solidFill>
            <a:prstDash val="solid"/>
            <a:round/>
            <a:headEnd type="none"/>
            <a:tailEnd type="triangle" w="lg" len="lg"/>
          </a:ln>
        </p:spPr>
      </p:cxnSp>
      <p:cxnSp>
        <p:nvCxnSpPr>
          <p:cNvPr id="12" name="SC_CONNECTOR__forward-2__0"/>
          <p:cNvCxnSpPr/>
          <p:nvPr/>
        </p:nvCxnSpPr>
        <p:spPr>
          <a:xfrm>
            <a:off x="4425950" y="1952625"/>
            <a:ext cx="615950" cy="0"/>
          </a:xfrm>
          <a:prstGeom prst="line">
            <a:avLst/>
          </a:prstGeom>
          <a:noFill/>
          <a:ln w="19050">
            <a:solidFill>
              <a:srgbClr val="FD5108"/>
            </a:solidFill>
            <a:prstDash val="solid"/>
            <a:round/>
            <a:headEnd type="none"/>
            <a:tailEnd type="triangle" w="lg" len="lg"/>
          </a:ln>
        </p:spPr>
      </p:cxnSp>
      <p:cxnSp>
        <p:nvCxnSpPr>
          <p:cNvPr id="13" name="SC_CONNECTOR__forward-3__0"/>
          <p:cNvCxnSpPr/>
          <p:nvPr/>
        </p:nvCxnSpPr>
        <p:spPr>
          <a:xfrm>
            <a:off x="6661150" y="1952625"/>
            <a:ext cx="603250" cy="0"/>
          </a:xfrm>
          <a:prstGeom prst="line">
            <a:avLst/>
          </a:prstGeom>
          <a:noFill/>
          <a:ln w="19050">
            <a:solidFill>
              <a:srgbClr val="FD5108"/>
            </a:solidFill>
            <a:prstDash val="solid"/>
            <a:round/>
            <a:headEnd type="none"/>
            <a:tailEnd type="triangle" w="lg" len="lg"/>
          </a:ln>
        </p:spPr>
      </p:cxnSp>
      <p:sp>
        <p:nvSpPr>
          <p:cNvPr id="14" name="source-correction"/>
          <p:cNvSpPr/>
          <p:nvPr/>
        </p:nvSpPr>
        <p:spPr>
          <a:xfrm>
            <a:off x="2349500" y="4521200"/>
            <a:ext cx="1936750" cy="501650"/>
          </a:xfrm>
          <a:custGeom>
            <a:avLst/>
            <a:gdLst/>
            <a:ahLst/>
            <a:cxnLst/>
            <a:rect l="l" t="t" r="r" b="b"/>
            <a:pathLst>
              <a:path w="1936750" h="501650">
                <a:moveTo>
                  <a:pt x="1917700" y="0"/>
                </a:moveTo>
                <a:lnTo>
                  <a:pt x="1917700" y="330200"/>
                </a:lnTo>
                <a:cubicBezTo>
                  <a:pt x="1917700" y="419100"/>
                  <a:pt x="1847850" y="482600"/>
                  <a:pt x="1758950" y="482600"/>
                </a:cubicBezTo>
                <a:lnTo>
                  <a:pt x="234950" y="482600"/>
                </a:lnTo>
                <a:cubicBezTo>
                  <a:pt x="146050" y="482600"/>
                  <a:pt x="76200" y="419100"/>
                  <a:pt x="76200" y="330200"/>
                </a:cubicBezTo>
                <a:lnTo>
                  <a:pt x="76200" y="0"/>
                </a:lnTo>
              </a:path>
            </a:pathLst>
          </a:custGeom>
          <a:solidFill>
            <a:srgbClr val="FFFFFF">
              <a:alpha val="0"/>
            </a:srgbClr>
          </a:solidFill>
          <a:ln w="19050">
            <a:solidFill>
              <a:srgbClr val="FD5108"/>
            </a:solidFill>
            <a:prstDash val="solid"/>
            <a:headEnd type="none"/>
            <a:tailEnd type="triangle"/>
          </a:ln>
        </p:spPr>
      </p:sp>
      <p:sp>
        <p:nvSpPr>
          <p:cNvPr id="15" name="expert-rejection"/>
          <p:cNvSpPr/>
          <p:nvPr/>
        </p:nvSpPr>
        <p:spPr>
          <a:xfrm>
            <a:off x="4781550" y="4521200"/>
            <a:ext cx="2044700" cy="501650"/>
          </a:xfrm>
          <a:custGeom>
            <a:avLst/>
            <a:gdLst/>
            <a:ahLst/>
            <a:cxnLst/>
            <a:rect l="l" t="t" r="r" b="b"/>
            <a:pathLst>
              <a:path w="2044700" h="501650">
                <a:moveTo>
                  <a:pt x="2025650" y="0"/>
                </a:moveTo>
                <a:lnTo>
                  <a:pt x="2025650" y="330200"/>
                </a:lnTo>
                <a:cubicBezTo>
                  <a:pt x="2025650" y="419100"/>
                  <a:pt x="1955800" y="482600"/>
                  <a:pt x="1866900" y="482600"/>
                </a:cubicBezTo>
                <a:lnTo>
                  <a:pt x="234950" y="482600"/>
                </a:lnTo>
                <a:cubicBezTo>
                  <a:pt x="146050" y="482600"/>
                  <a:pt x="76200" y="419100"/>
                  <a:pt x="76200" y="330200"/>
                </a:cubicBezTo>
                <a:lnTo>
                  <a:pt x="76200" y="0"/>
                </a:lnTo>
              </a:path>
            </a:pathLst>
          </a:custGeom>
          <a:solidFill>
            <a:srgbClr val="FFFFFF">
              <a:alpha val="0"/>
            </a:srgbClr>
          </a:solidFill>
          <a:ln w="19050">
            <a:solidFill>
              <a:srgbClr val="FD5108"/>
            </a:solidFill>
            <a:prstDash val="solid"/>
            <a:headEnd type="none"/>
            <a:tailEnd type="triangle"/>
          </a:ln>
        </p:spPr>
      </p:sp>
      <p:sp>
        <p:nvSpPr>
          <p:cNvPr id="16" name="headline"/>
          <p:cNvSpPr txBox="1"/>
          <p:nvPr/>
        </p:nvSpPr>
        <p:spPr>
          <a:xfrm>
            <a:off x="304800" y="527050"/>
            <a:ext cx="11582400" cy="5080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Keep expert ownership at every release</a:t>
            </a:r>
            <a:endParaRPr lang="en-US" sz="3200" dirty="0" spc="0"/>
          </a:p>
        </p:txBody>
      </p:sp>
      <p:sp>
        <p:nvSpPr>
          <p:cNvPr id="17" name="subtitle"/>
          <p:cNvSpPr txBox="1"/>
          <p:nvPr/>
        </p:nvSpPr>
        <p:spPr>
          <a:xfrm>
            <a:off x="304800" y="1060450"/>
            <a:ext cx="11582400" cy="3238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A controlled path from permissioned evidence to approved client work.</a:t>
            </a:r>
            <a:endParaRPr lang="en-US" sz="1600" dirty="0" spc="0"/>
          </a:p>
        </p:txBody>
      </p:sp>
      <p:sp>
        <p:nvSpPr>
          <p:cNvPr id="18" name="stage-1-label"/>
          <p:cNvSpPr txBox="1"/>
          <p:nvPr/>
        </p:nvSpPr>
        <p:spPr>
          <a:xfrm>
            <a:off x="628650" y="1720850"/>
            <a:ext cx="1492250" cy="488950"/>
          </a:xfrm>
          <a:prstGeom prst="rect">
            <a:avLst/>
          </a:prstGeom>
          <a:noFill/>
          <a:ln/>
        </p:spPr>
        <p:txBody>
          <a:bodyPr wrap="square" lIns="12700" tIns="12700" rIns="12700" bIns="12700" rtlCol="0" anchor="t">
            <a:noAutofit/>
          </a:bodyPr>
          <a:lstStyle/>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Approved</a:t>
            </a:r>
            <a:endParaRPr lang="en-US" sz="1400" dirty="0" spc="0"/>
          </a:p>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sources</a:t>
            </a:r>
            <a:endParaRPr lang="en-US" sz="1400" dirty="0" spc="0"/>
          </a:p>
        </p:txBody>
      </p:sp>
      <p:sp>
        <p:nvSpPr>
          <p:cNvPr id="19" name="stage-2-label"/>
          <p:cNvSpPr txBox="1"/>
          <p:nvPr/>
        </p:nvSpPr>
        <p:spPr>
          <a:xfrm>
            <a:off x="2882900" y="1720850"/>
            <a:ext cx="1479550" cy="488950"/>
          </a:xfrm>
          <a:prstGeom prst="rect">
            <a:avLst/>
          </a:prstGeom>
          <a:noFill/>
          <a:ln/>
        </p:spPr>
        <p:txBody>
          <a:bodyPr wrap="square" lIns="12700" tIns="12700" rIns="12700" bIns="12700" rtlCol="0" anchor="t">
            <a:noAutofit/>
          </a:bodyPr>
          <a:lstStyle/>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Grounded</a:t>
            </a:r>
            <a:endParaRPr lang="en-US" sz="1400" dirty="0" spc="0"/>
          </a:p>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draft</a:t>
            </a:r>
            <a:endParaRPr lang="en-US" sz="1400" dirty="0" spc="0"/>
          </a:p>
        </p:txBody>
      </p:sp>
      <p:sp>
        <p:nvSpPr>
          <p:cNvPr id="20" name="stage-3-label"/>
          <p:cNvSpPr txBox="1"/>
          <p:nvPr/>
        </p:nvSpPr>
        <p:spPr>
          <a:xfrm>
            <a:off x="5105400" y="1720850"/>
            <a:ext cx="1492250" cy="488950"/>
          </a:xfrm>
          <a:prstGeom prst="rect">
            <a:avLst/>
          </a:prstGeom>
          <a:noFill/>
          <a:ln/>
        </p:spPr>
        <p:txBody>
          <a:bodyPr wrap="square" lIns="12700" tIns="12700" rIns="12700" bIns="12700" rtlCol="0" anchor="t">
            <a:noAutofit/>
          </a:bodyPr>
          <a:lstStyle/>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Expert</a:t>
            </a:r>
            <a:endParaRPr lang="en-US" sz="1400" dirty="0" spc="0"/>
          </a:p>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review</a:t>
            </a:r>
            <a:endParaRPr lang="en-US" sz="1400" dirty="0" spc="0"/>
          </a:p>
        </p:txBody>
      </p:sp>
      <p:sp>
        <p:nvSpPr>
          <p:cNvPr id="21" name="stage-4-label"/>
          <p:cNvSpPr txBox="1"/>
          <p:nvPr/>
        </p:nvSpPr>
        <p:spPr>
          <a:xfrm>
            <a:off x="7327900" y="1720850"/>
            <a:ext cx="1676400" cy="488950"/>
          </a:xfrm>
          <a:prstGeom prst="rect">
            <a:avLst/>
          </a:prstGeom>
          <a:noFill/>
          <a:ln/>
        </p:spPr>
        <p:txBody>
          <a:bodyPr wrap="square" lIns="12700" tIns="12700" rIns="12700" bIns="12700" rtlCol="0" anchor="t">
            <a:noAutofit/>
          </a:bodyPr>
          <a:lstStyle/>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Client-ready</a:t>
            </a:r>
            <a:endParaRPr lang="en-US" sz="1400" dirty="0" spc="0"/>
          </a:p>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output</a:t>
            </a:r>
            <a:endParaRPr lang="en-US" sz="1400" dirty="0" spc="0"/>
          </a:p>
        </p:txBody>
      </p:sp>
      <p:sp>
        <p:nvSpPr>
          <p:cNvPr id="22" name="source-correction-label"/>
          <p:cNvSpPr txBox="1"/>
          <p:nvPr/>
        </p:nvSpPr>
        <p:spPr>
          <a:xfrm>
            <a:off x="2070100" y="5080000"/>
            <a:ext cx="286385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Correct sources via exception register</a:t>
            </a:r>
            <a:endParaRPr lang="en-US" sz="1200" dirty="0" spc="0"/>
          </a:p>
        </p:txBody>
      </p:sp>
      <p:sp>
        <p:nvSpPr>
          <p:cNvPr id="23" name="expert-rejection-label"/>
          <p:cNvSpPr txBox="1"/>
          <p:nvPr/>
        </p:nvSpPr>
        <p:spPr>
          <a:xfrm>
            <a:off x="4978400" y="5080000"/>
            <a:ext cx="215900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Reject with defect reasons</a:t>
            </a:r>
            <a:endParaRPr lang="en-US" sz="1200" dirty="0" spc="0"/>
          </a:p>
        </p:txBody>
      </p:sp>
      <p:sp>
        <p:nvSpPr>
          <p:cNvPr id="24" name="shared-controls-heading"/>
          <p:cNvSpPr txBox="1"/>
          <p:nvPr/>
        </p:nvSpPr>
        <p:spPr>
          <a:xfrm>
            <a:off x="9620250" y="2019300"/>
            <a:ext cx="2266950" cy="2921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SHARED CONTROLS</a:t>
            </a:r>
            <a:endParaRPr lang="en-US" sz="1400" dirty="0" spc="0"/>
          </a:p>
        </p:txBody>
      </p:sp>
      <p:sp>
        <p:nvSpPr>
          <p:cNvPr id="25" name="shared-register"/>
          <p:cNvSpPr txBox="1"/>
          <p:nvPr/>
        </p:nvSpPr>
        <p:spPr>
          <a:xfrm>
            <a:off x="9779000" y="2336800"/>
            <a:ext cx="2101850" cy="584200"/>
          </a:xfrm>
          <a:prstGeom prst="rect">
            <a:avLst/>
          </a:prstGeom>
          <a:noFill/>
          <a:ln/>
        </p:spPr>
        <p:txBody>
          <a:bodyPr wrap="square" lIns="12700" tIns="12700" rIns="12700" bIns="12700" rtlCol="0" anchor="t">
            <a:noAutofit/>
          </a:bodyPr>
          <a:lstStyle/>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One register records</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defects, owners and</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disposition.</a:t>
            </a:r>
            <a:endParaRPr lang="en-US" sz="1400" dirty="0" spc="0"/>
          </a:p>
        </p:txBody>
      </p:sp>
      <p:sp>
        <p:nvSpPr>
          <p:cNvPr id="26" name="platform-controls"/>
          <p:cNvSpPr txBox="1"/>
          <p:nvPr/>
        </p:nvSpPr>
        <p:spPr>
          <a:xfrm>
            <a:off x="9779000" y="2895600"/>
            <a:ext cx="2101850" cy="571500"/>
          </a:xfrm>
          <a:prstGeom prst="rect">
            <a:avLst/>
          </a:prstGeom>
          <a:noFill/>
          <a:ln/>
        </p:spPr>
        <p:txBody>
          <a:bodyPr wrap="square" lIns="12700" tIns="12700" rIns="12700" bIns="12700" rtlCol="0" anchor="t">
            <a:noAutofit/>
          </a:bodyPr>
          <a:lstStyle/>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Platform team maintains</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access controls and</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audit logs.</a:t>
            </a:r>
            <a:endParaRPr lang="en-US" sz="1400" dirty="0" spc="0"/>
          </a:p>
        </p:txBody>
      </p:sp>
      <p:sp>
        <p:nvSpPr>
          <p:cNvPr id="27" name="measurement-heading"/>
          <p:cNvSpPr txBox="1"/>
          <p:nvPr/>
        </p:nvSpPr>
        <p:spPr>
          <a:xfrm>
            <a:off x="9620250" y="3670300"/>
            <a:ext cx="2266950" cy="2921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PILOT MEASUREMENT</a:t>
            </a:r>
            <a:endParaRPr lang="en-US" sz="1400" dirty="0" spc="0"/>
          </a:p>
        </p:txBody>
      </p:sp>
      <p:sp>
        <p:nvSpPr>
          <p:cNvPr id="28" name="baseline-measurement"/>
          <p:cNvSpPr txBox="1"/>
          <p:nvPr/>
        </p:nvSpPr>
        <p:spPr>
          <a:xfrm>
            <a:off x="9779000" y="4006850"/>
            <a:ext cx="2101850" cy="584200"/>
          </a:xfrm>
          <a:prstGeom prst="rect">
            <a:avLst/>
          </a:prstGeom>
          <a:noFill/>
          <a:ln/>
        </p:spPr>
        <p:txBody>
          <a:bodyPr wrap="square" lIns="12700" tIns="12700" rIns="12700" bIns="12700" rtlCol="0" anchor="t">
            <a:noAutofit/>
          </a:bodyPr>
          <a:lstStyle/>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Compare 20 paired</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tasks with baseline time</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logs.</a:t>
            </a:r>
            <a:endParaRPr lang="en-US" sz="1400" dirty="0" spc="0"/>
          </a:p>
        </p:txBody>
      </p:sp>
      <p:sp>
        <p:nvSpPr>
          <p:cNvPr id="29" name="review-measurement"/>
          <p:cNvSpPr txBox="1"/>
          <p:nvPr/>
        </p:nvSpPr>
        <p:spPr>
          <a:xfrm>
            <a:off x="9779000" y="4603750"/>
            <a:ext cx="2101850" cy="584200"/>
          </a:xfrm>
          <a:prstGeom prst="rect">
            <a:avLst/>
          </a:prstGeom>
          <a:noFill/>
          <a:ln/>
        </p:spPr>
        <p:txBody>
          <a:bodyPr wrap="square" lIns="12700" tIns="12700" rIns="12700" bIns="12700" rtlCol="0" anchor="t">
            <a:noAutofit/>
          </a:bodyPr>
          <a:lstStyle/>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Verify claim samples</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and record expert review</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effort.</a:t>
            </a:r>
            <a:endParaRPr lang="en-US" sz="1400" dirty="0" spc="0"/>
          </a:p>
        </p:txBody>
      </p:sp>
      <p:sp>
        <p:nvSpPr>
          <p:cNvPr id="30" name="list-bullet-1"/>
          <p:cNvSpPr/>
          <p:nvPr/>
        </p:nvSpPr>
        <p:spPr>
          <a:xfrm>
            <a:off x="9632950" y="2413000"/>
            <a:ext cx="50800" cy="50800"/>
          </a:xfrm>
          <a:prstGeom prst="ellipse">
            <a:avLst/>
          </a:prstGeom>
          <a:solidFill>
            <a:srgbClr val="000000"/>
          </a:solidFill>
          <a:ln w="12700">
            <a:solidFill>
              <a:srgbClr val="FFFFFF">
                <a:alpha val="0"/>
              </a:srgbClr>
            </a:solidFill>
            <a:prstDash val="solid"/>
          </a:ln>
        </p:spPr>
      </p:sp>
      <p:sp>
        <p:nvSpPr>
          <p:cNvPr id="31" name="list-bullet-2"/>
          <p:cNvSpPr/>
          <p:nvPr/>
        </p:nvSpPr>
        <p:spPr>
          <a:xfrm>
            <a:off x="9632950" y="2971800"/>
            <a:ext cx="50800" cy="50800"/>
          </a:xfrm>
          <a:prstGeom prst="ellipse">
            <a:avLst/>
          </a:prstGeom>
          <a:solidFill>
            <a:srgbClr val="000000"/>
          </a:solidFill>
          <a:ln w="12700">
            <a:solidFill>
              <a:srgbClr val="FFFFFF">
                <a:alpha val="0"/>
              </a:srgbClr>
            </a:solidFill>
            <a:prstDash val="solid"/>
          </a:ln>
        </p:spPr>
      </p:sp>
      <p:sp>
        <p:nvSpPr>
          <p:cNvPr id="32" name="list-bullet-3"/>
          <p:cNvSpPr/>
          <p:nvPr/>
        </p:nvSpPr>
        <p:spPr>
          <a:xfrm>
            <a:off x="9632950" y="4083050"/>
            <a:ext cx="50800" cy="50800"/>
          </a:xfrm>
          <a:prstGeom prst="ellipse">
            <a:avLst/>
          </a:prstGeom>
          <a:solidFill>
            <a:srgbClr val="000000"/>
          </a:solidFill>
          <a:ln w="12700">
            <a:solidFill>
              <a:srgbClr val="FFFFFF">
                <a:alpha val="0"/>
              </a:srgbClr>
            </a:solidFill>
            <a:prstDash val="solid"/>
          </a:ln>
        </p:spPr>
      </p:sp>
      <p:sp>
        <p:nvSpPr>
          <p:cNvPr id="33" name="list-bullet-4"/>
          <p:cNvSpPr/>
          <p:nvPr/>
        </p:nvSpPr>
        <p:spPr>
          <a:xfrm>
            <a:off x="9632950" y="4679950"/>
            <a:ext cx="50800" cy="50800"/>
          </a:xfrm>
          <a:prstGeom prst="ellipse">
            <a:avLst/>
          </a:prstGeom>
          <a:solidFill>
            <a:srgbClr val="000000"/>
          </a:solidFill>
          <a:ln w="12700">
            <a:solidFill>
              <a:srgbClr val="FFFFFF">
                <a:alpha val="0"/>
              </a:srgbClr>
            </a:solidFill>
            <a:prstDash val="solid"/>
          </a:ln>
        </p:spPr>
      </p:sp>
      <p:sp>
        <p:nvSpPr>
          <p:cNvPr id="34" name="decision-label"/>
          <p:cNvSpPr txBox="1"/>
          <p:nvPr/>
        </p:nvSpPr>
        <p:spPr>
          <a:xfrm>
            <a:off x="635000" y="5689600"/>
            <a:ext cx="266700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RELEASE RULE</a:t>
            </a:r>
            <a:endParaRPr lang="en-US" sz="1400" dirty="0" spc="0"/>
          </a:p>
        </p:txBody>
      </p:sp>
      <p:sp>
        <p:nvSpPr>
          <p:cNvPr id="35" name="decision-message"/>
          <p:cNvSpPr txBox="1"/>
          <p:nvPr/>
        </p:nvSpPr>
        <p:spPr>
          <a:xfrm>
            <a:off x="3556000" y="5689600"/>
            <a:ext cx="803275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No client use without expert and engagement-lead sign-off.</a:t>
            </a:r>
            <a:endParaRPr lang="en-US" sz="1400" dirty="0" spc="0"/>
          </a:p>
        </p:txBody>
      </p:sp>
      <p:sp>
        <p:nvSpPr>
          <p:cNvPr id="36"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304800" y="1454150"/>
            <a:ext cx="11582400" cy="12700"/>
          </a:xfrm>
          <a:prstGeom prst="rect">
            <a:avLst/>
          </a:prstGeom>
          <a:solidFill>
            <a:srgbClr val="AAAAAA"/>
          </a:solidFill>
          <a:ln w="12700">
            <a:solidFill>
              <a:srgbClr val="FFFFFF">
                <a:alpha val="0"/>
              </a:srgbClr>
            </a:solidFill>
            <a:prstDash val="solid"/>
          </a:ln>
        </p:spPr>
      </p:sp>
      <p:sp>
        <p:nvSpPr>
          <p:cNvPr id="3" name="gate-1-field"/>
          <p:cNvSpPr/>
          <p:nvPr/>
        </p:nvSpPr>
        <p:spPr>
          <a:xfrm>
            <a:off x="8337550" y="2019300"/>
            <a:ext cx="869950" cy="1511300"/>
          </a:xfrm>
          <a:custGeom>
            <a:avLst/>
            <a:gdLst/>
            <a:ahLst/>
            <a:cxnLst/>
            <a:rect l="l" t="t" r="r" b="b"/>
            <a:pathLst>
              <a:path w="869950" h="1511300">
                <a:moveTo>
                  <a:pt x="0" y="0"/>
                </a:moveTo>
                <a:lnTo>
                  <a:pt x="711200" y="0"/>
                </a:lnTo>
                <a:lnTo>
                  <a:pt x="869950" y="63500"/>
                </a:lnTo>
                <a:lnTo>
                  <a:pt x="869950" y="1511300"/>
                </a:lnTo>
                <a:lnTo>
                  <a:pt x="0" y="1511300"/>
                </a:lnTo>
                <a:close/>
              </a:path>
            </a:pathLst>
          </a:custGeom>
          <a:solidFill>
            <a:srgbClr val="FFF5ED"/>
          </a:solidFill>
          <a:ln w="12700">
            <a:solidFill>
              <a:srgbClr val="FFFFFF">
                <a:alpha val="0"/>
              </a:srgbClr>
            </a:solidFill>
            <a:prstDash val="solid"/>
          </a:ln>
        </p:spPr>
      </p:sp>
      <p:sp>
        <p:nvSpPr>
          <p:cNvPr id="4" name="gate-2-field"/>
          <p:cNvSpPr/>
          <p:nvPr/>
        </p:nvSpPr>
        <p:spPr>
          <a:xfrm>
            <a:off x="9232900" y="2019300"/>
            <a:ext cx="869950" cy="1511300"/>
          </a:xfrm>
          <a:custGeom>
            <a:avLst/>
            <a:gdLst/>
            <a:ahLst/>
            <a:cxnLst/>
            <a:rect l="l" t="t" r="r" b="b"/>
            <a:pathLst>
              <a:path w="869950" h="1511300">
                <a:moveTo>
                  <a:pt x="0" y="0"/>
                </a:moveTo>
                <a:lnTo>
                  <a:pt x="711200" y="0"/>
                </a:lnTo>
                <a:lnTo>
                  <a:pt x="869950" y="63500"/>
                </a:lnTo>
                <a:lnTo>
                  <a:pt x="869950" y="1511300"/>
                </a:lnTo>
                <a:lnTo>
                  <a:pt x="0" y="1511300"/>
                </a:lnTo>
                <a:close/>
              </a:path>
            </a:pathLst>
          </a:custGeom>
          <a:solidFill>
            <a:srgbClr val="FFF5ED"/>
          </a:solidFill>
          <a:ln w="12700">
            <a:solidFill>
              <a:srgbClr val="FFFFFF">
                <a:alpha val="0"/>
              </a:srgbClr>
            </a:solidFill>
            <a:prstDash val="solid"/>
          </a:ln>
        </p:spPr>
      </p:sp>
      <p:sp>
        <p:nvSpPr>
          <p:cNvPr id="5" name="gate-3-field"/>
          <p:cNvSpPr/>
          <p:nvPr/>
        </p:nvSpPr>
        <p:spPr>
          <a:xfrm>
            <a:off x="10134600" y="2019300"/>
            <a:ext cx="869950" cy="1511300"/>
          </a:xfrm>
          <a:custGeom>
            <a:avLst/>
            <a:gdLst/>
            <a:ahLst/>
            <a:cxnLst/>
            <a:rect l="l" t="t" r="r" b="b"/>
            <a:pathLst>
              <a:path w="869950" h="1511300">
                <a:moveTo>
                  <a:pt x="0" y="0"/>
                </a:moveTo>
                <a:lnTo>
                  <a:pt x="711200" y="0"/>
                </a:lnTo>
                <a:lnTo>
                  <a:pt x="869950" y="63500"/>
                </a:lnTo>
                <a:lnTo>
                  <a:pt x="869950" y="1511300"/>
                </a:lnTo>
                <a:lnTo>
                  <a:pt x="0" y="1511300"/>
                </a:lnTo>
                <a:close/>
              </a:path>
            </a:pathLst>
          </a:custGeom>
          <a:solidFill>
            <a:srgbClr val="FFF5ED"/>
          </a:solidFill>
          <a:ln w="12700">
            <a:solidFill>
              <a:srgbClr val="FFFFFF">
                <a:alpha val="0"/>
              </a:srgbClr>
            </a:solidFill>
            <a:prstDash val="solid"/>
          </a:ln>
        </p:spPr>
      </p:sp>
      <p:sp>
        <p:nvSpPr>
          <p:cNvPr id="6" name="gate-4-field"/>
          <p:cNvSpPr/>
          <p:nvPr/>
        </p:nvSpPr>
        <p:spPr>
          <a:xfrm>
            <a:off x="11049000" y="2019300"/>
            <a:ext cx="869950" cy="1511300"/>
          </a:xfrm>
          <a:custGeom>
            <a:avLst/>
            <a:gdLst/>
            <a:ahLst/>
            <a:cxnLst/>
            <a:rect l="l" t="t" r="r" b="b"/>
            <a:pathLst>
              <a:path w="869950" h="1511300">
                <a:moveTo>
                  <a:pt x="0" y="0"/>
                </a:moveTo>
                <a:lnTo>
                  <a:pt x="711200" y="0"/>
                </a:lnTo>
                <a:lnTo>
                  <a:pt x="869950" y="63500"/>
                </a:lnTo>
                <a:lnTo>
                  <a:pt x="869950" y="1511300"/>
                </a:lnTo>
                <a:lnTo>
                  <a:pt x="0" y="1511300"/>
                </a:lnTo>
                <a:close/>
              </a:path>
            </a:pathLst>
          </a:custGeom>
          <a:solidFill>
            <a:srgbClr val="FFF5ED"/>
          </a:solidFill>
          <a:ln w="12700">
            <a:solidFill>
              <a:srgbClr val="FFFFFF">
                <a:alpha val="0"/>
              </a:srgbClr>
            </a:solidFill>
            <a:prstDash val="solid"/>
          </a:ln>
        </p:spPr>
      </p:sp>
      <p:sp>
        <p:nvSpPr>
          <p:cNvPr id="7" name="gates-bottom-rule"/>
          <p:cNvSpPr/>
          <p:nvPr/>
        </p:nvSpPr>
        <p:spPr>
          <a:xfrm>
            <a:off x="8255000" y="3644900"/>
            <a:ext cx="3721100" cy="6350"/>
          </a:xfrm>
          <a:prstGeom prst="rect">
            <a:avLst/>
          </a:prstGeom>
          <a:solidFill>
            <a:srgbClr val="B5B5B5"/>
          </a:solidFill>
          <a:ln w="12700">
            <a:solidFill>
              <a:srgbClr val="FFFFFF">
                <a:alpha val="0"/>
              </a:srgbClr>
            </a:solidFill>
            <a:prstDash val="solid"/>
          </a:ln>
        </p:spPr>
      </p:sp>
      <p:sp>
        <p:nvSpPr>
          <p:cNvPr id="8" name="dependency-1-rule"/>
          <p:cNvSpPr/>
          <p:nvPr/>
        </p:nvSpPr>
        <p:spPr>
          <a:xfrm>
            <a:off x="8331200" y="4419600"/>
            <a:ext cx="3524250" cy="6350"/>
          </a:xfrm>
          <a:prstGeom prst="rect">
            <a:avLst/>
          </a:prstGeom>
          <a:solidFill>
            <a:srgbClr val="B5B5B5"/>
          </a:solidFill>
          <a:ln w="12700">
            <a:solidFill>
              <a:srgbClr val="FFFFFF">
                <a:alpha val="0"/>
              </a:srgbClr>
            </a:solidFill>
            <a:prstDash val="solid"/>
          </a:ln>
        </p:spPr>
      </p:sp>
      <p:sp>
        <p:nvSpPr>
          <p:cNvPr id="9" name="dependency-2-rule"/>
          <p:cNvSpPr/>
          <p:nvPr/>
        </p:nvSpPr>
        <p:spPr>
          <a:xfrm>
            <a:off x="8331200" y="4845050"/>
            <a:ext cx="3524250" cy="6350"/>
          </a:xfrm>
          <a:prstGeom prst="rect">
            <a:avLst/>
          </a:prstGeom>
          <a:solidFill>
            <a:srgbClr val="B5B5B5"/>
          </a:solidFill>
          <a:ln w="12700">
            <a:solidFill>
              <a:srgbClr val="FFFFFF">
                <a:alpha val="0"/>
              </a:srgbClr>
            </a:solidFill>
            <a:prstDash val="solid"/>
          </a:ln>
        </p:spPr>
      </p:sp>
      <p:sp>
        <p:nvSpPr>
          <p:cNvPr id="10" name="decision-band"/>
          <p:cNvSpPr/>
          <p:nvPr/>
        </p:nvSpPr>
        <p:spPr>
          <a:xfrm>
            <a:off x="304800" y="5441950"/>
            <a:ext cx="11582400" cy="850900"/>
          </a:xfrm>
          <a:prstGeom prst="rect">
            <a:avLst/>
          </a:prstGeom>
          <a:solidFill>
            <a:srgbClr val="FFF5ED"/>
          </a:solidFill>
          <a:ln w="12700">
            <a:solidFill>
              <a:srgbClr val="FFFFFF">
                <a:alpha val="0"/>
              </a:srgbClr>
            </a:solidFill>
            <a:prstDash val="solid"/>
          </a:ln>
        </p:spPr>
      </p:sp>
      <p:sp>
        <p:nvSpPr>
          <p:cNvPr id="11" name="gate-timeline"/>
          <p:cNvSpPr/>
          <p:nvPr/>
        </p:nvSpPr>
        <p:spPr>
          <a:xfrm>
            <a:off x="8743950" y="1962150"/>
            <a:ext cx="2762250" cy="12700"/>
          </a:xfrm>
          <a:prstGeom prst="rect">
            <a:avLst/>
          </a:prstGeom>
          <a:solidFill>
            <a:srgbClr val="FD5108"/>
          </a:solidFill>
          <a:ln w="12700">
            <a:solidFill>
              <a:srgbClr val="FFFFFF">
                <a:alpha val="0"/>
              </a:srgbClr>
            </a:solidFill>
            <a:prstDash val="solid"/>
          </a:ln>
        </p:spPr>
      </p:sp>
      <p:sp>
        <p:nvSpPr>
          <p:cNvPr id="12" name="gate-1-rule"/>
          <p:cNvSpPr/>
          <p:nvPr/>
        </p:nvSpPr>
        <p:spPr>
          <a:xfrm>
            <a:off x="8489950" y="2711450"/>
            <a:ext cx="558800" cy="6350"/>
          </a:xfrm>
          <a:prstGeom prst="rect">
            <a:avLst/>
          </a:prstGeom>
          <a:solidFill>
            <a:srgbClr val="FD5108"/>
          </a:solidFill>
          <a:ln w="12700">
            <a:solidFill>
              <a:srgbClr val="FFFFFF">
                <a:alpha val="0"/>
              </a:srgbClr>
            </a:solidFill>
            <a:prstDash val="solid"/>
          </a:ln>
        </p:spPr>
      </p:sp>
      <p:sp>
        <p:nvSpPr>
          <p:cNvPr id="13" name="gate-2-rule"/>
          <p:cNvSpPr/>
          <p:nvPr/>
        </p:nvSpPr>
        <p:spPr>
          <a:xfrm>
            <a:off x="9385300" y="2711450"/>
            <a:ext cx="558800" cy="6350"/>
          </a:xfrm>
          <a:prstGeom prst="rect">
            <a:avLst/>
          </a:prstGeom>
          <a:solidFill>
            <a:srgbClr val="FD5108"/>
          </a:solidFill>
          <a:ln w="12700">
            <a:solidFill>
              <a:srgbClr val="FFFFFF">
                <a:alpha val="0"/>
              </a:srgbClr>
            </a:solidFill>
            <a:prstDash val="solid"/>
          </a:ln>
        </p:spPr>
      </p:sp>
      <p:sp>
        <p:nvSpPr>
          <p:cNvPr id="14" name="gate-3-rule"/>
          <p:cNvSpPr/>
          <p:nvPr/>
        </p:nvSpPr>
        <p:spPr>
          <a:xfrm>
            <a:off x="10287000" y="2711450"/>
            <a:ext cx="558800" cy="6350"/>
          </a:xfrm>
          <a:prstGeom prst="rect">
            <a:avLst/>
          </a:prstGeom>
          <a:solidFill>
            <a:srgbClr val="FD5108"/>
          </a:solidFill>
          <a:ln w="12700">
            <a:solidFill>
              <a:srgbClr val="FFFFFF">
                <a:alpha val="0"/>
              </a:srgbClr>
            </a:solidFill>
            <a:prstDash val="solid"/>
          </a:ln>
        </p:spPr>
      </p:sp>
      <p:sp>
        <p:nvSpPr>
          <p:cNvPr id="15" name="gate-4-rule"/>
          <p:cNvSpPr/>
          <p:nvPr/>
        </p:nvSpPr>
        <p:spPr>
          <a:xfrm>
            <a:off x="11201400" y="2711450"/>
            <a:ext cx="558800" cy="6350"/>
          </a:xfrm>
          <a:prstGeom prst="rect">
            <a:avLst/>
          </a:prstGeom>
          <a:solidFill>
            <a:srgbClr val="FD5108"/>
          </a:solidFill>
          <a:ln w="12700">
            <a:solidFill>
              <a:srgbClr val="FFFFFF">
                <a:alpha val="0"/>
              </a:srgbClr>
            </a:solidFill>
            <a:prstDash val="solid"/>
          </a:ln>
        </p:spPr>
      </p:sp>
      <p:sp>
        <p:nvSpPr>
          <p:cNvPr id="16" name="decision-accent"/>
          <p:cNvSpPr/>
          <p:nvPr/>
        </p:nvSpPr>
        <p:spPr>
          <a:xfrm>
            <a:off x="304800" y="5441950"/>
            <a:ext cx="50800" cy="850900"/>
          </a:xfrm>
          <a:prstGeom prst="rect">
            <a:avLst/>
          </a:prstGeom>
          <a:solidFill>
            <a:srgbClr val="FD5108"/>
          </a:solidFill>
          <a:ln w="12700">
            <a:solidFill>
              <a:srgbClr val="FFFFFF">
                <a:alpha val="0"/>
              </a:srgbClr>
            </a:solidFill>
            <a:prstDash val="solid"/>
          </a:ln>
        </p:spPr>
      </p:sp>
      <p:sp>
        <p:nvSpPr>
          <p:cNvPr id="17" name="dependency-1-circle"/>
          <p:cNvSpPr/>
          <p:nvPr/>
        </p:nvSpPr>
        <p:spPr>
          <a:xfrm>
            <a:off x="8432800" y="4089400"/>
            <a:ext cx="266700" cy="266700"/>
          </a:xfrm>
          <a:prstGeom prst="ellipse">
            <a:avLst/>
          </a:prstGeom>
          <a:solidFill>
            <a:srgbClr val="FFFFFF"/>
          </a:solidFill>
          <a:ln w="9525">
            <a:solidFill>
              <a:srgbClr val="FD5108"/>
            </a:solidFill>
            <a:prstDash val="solid"/>
          </a:ln>
        </p:spPr>
      </p:sp>
      <p:sp>
        <p:nvSpPr>
          <p:cNvPr id="18" name="dependency-2-circle"/>
          <p:cNvSpPr/>
          <p:nvPr/>
        </p:nvSpPr>
        <p:spPr>
          <a:xfrm>
            <a:off x="8432800" y="4514850"/>
            <a:ext cx="266700" cy="266700"/>
          </a:xfrm>
          <a:prstGeom prst="ellipse">
            <a:avLst/>
          </a:prstGeom>
          <a:solidFill>
            <a:srgbClr val="FFFFFF"/>
          </a:solidFill>
          <a:ln w="9525">
            <a:solidFill>
              <a:srgbClr val="FD5108"/>
            </a:solidFill>
            <a:prstDash val="solid"/>
          </a:ln>
        </p:spPr>
      </p:sp>
      <p:sp>
        <p:nvSpPr>
          <p:cNvPr id="19" name="dependency-3-circle"/>
          <p:cNvSpPr/>
          <p:nvPr/>
        </p:nvSpPr>
        <p:spPr>
          <a:xfrm>
            <a:off x="8432800" y="4940300"/>
            <a:ext cx="266700" cy="266700"/>
          </a:xfrm>
          <a:prstGeom prst="ellipse">
            <a:avLst/>
          </a:prstGeom>
          <a:solidFill>
            <a:srgbClr val="FFFFFF"/>
          </a:solidFill>
          <a:ln w="9525">
            <a:solidFill>
              <a:srgbClr val="FD5108"/>
            </a:solidFill>
            <a:prstDash val="solid"/>
          </a:ln>
        </p:spPr>
      </p:sp>
      <p:graphicFrame>
        <p:nvGraphicFramePr>
          <p:cNvPr id="20" name="delivery-matrix"/>
          <p:cNvGraphicFramePr>
            <a:graphicFrameLocks noGrp="1"/>
          </p:cNvGraphicFramePr>
          <p:nvPr>
            <p:extLst>
              <p:ext uri="{D42A27DB-BD31-4B8C-83A1-F6EECF244321}">
                <p14:modId xmlns:p14="http://schemas.microsoft.com/office/powerpoint/2010/main" val="1579011935"/>
              </p:ext>
            </p:extLst>
          </p:nvPr>
        </p:nvGraphicFramePr>
        <p:xfrm>
          <a:off x="317500" y="1593850"/>
          <a:ext cx="7766050" cy="3587750"/>
        </p:xfrm>
        <a:graphic>
          <a:graphicData uri="http://schemas.openxmlformats.org/drawingml/2006/table">
            <a:tbl>
              <a:tblPr/>
              <a:tblGrid>
                <a:gridCol w="1739900"/>
                <a:gridCol w="1581150"/>
                <a:gridCol w="1479550"/>
                <a:gridCol w="1435100"/>
                <a:gridCol w="1530350"/>
              </a:tblGrid>
              <a:tr h="603250">
                <a:tc>
                  <a:txBody>
                    <a:bodyPr>
                      <a:noAutofit/>
                    </a:bodyPr>
                    <a:lstStyle/>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WORKSTREAM / OWNER</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WEEKS 1–2</a:t>
                      </a:r>
                      <a:endParaRPr lang="en-US" sz="1200" dirty="0">
                        <a:latin typeface="Arial" charset="0"/>
                        <a:ea typeface="Arial" charset="0"/>
                        <a:cs typeface="Arial" charset="0"/>
                      </a:endParaRPr>
                    </a:p>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Approve &amp; baseline</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WEEKS 3–4</a:t>
                      </a:r>
                      <a:endParaRPr lang="en-US" sz="1200" dirty="0">
                        <a:latin typeface="Arial" charset="0"/>
                        <a:ea typeface="Arial" charset="0"/>
                        <a:cs typeface="Arial" charset="0"/>
                      </a:endParaRPr>
                    </a:p>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Build &amp; test</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WEEKS 5–8</a:t>
                      </a:r>
                      <a:endParaRPr lang="en-US" sz="1200" dirty="0">
                        <a:latin typeface="Arial" charset="0"/>
                        <a:ea typeface="Arial" charset="0"/>
                        <a:cs typeface="Arial" charset="0"/>
                      </a:endParaRPr>
                    </a:p>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Pilot &amp; learn</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WEEKS 9–12</a:t>
                      </a:r>
                      <a:endParaRPr lang="en-US" sz="1200" dirty="0">
                        <a:latin typeface="Arial" charset="0"/>
                        <a:ea typeface="Arial" charset="0"/>
                        <a:cs typeface="Arial" charset="0"/>
                      </a:endParaRPr>
                    </a:p>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Prove &amp; decide</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r>
              <a:tr h="762000">
                <a:tc>
                  <a:txBody>
                    <a:bodyPr>
                      <a:noAutofit/>
                    </a:bodyPr>
                    <a:lstStyle/>
                    <a:p>
                      <a:pPr algn="l" indent="0" marL="0">
                        <a:lnSpc>
                          <a:spcPct val="100000"/>
                        </a:lnSpc>
                        <a:buNone/>
                      </a:pPr>
                      <a:r>
                        <a:rPr lang="en-US" sz="1200" b="1" dirty="0">
                          <a:solidFill>
                            <a:srgbClr val="000000"/>
                          </a:solidFill>
                          <a:latin typeface="Arial" pitchFamily="34" charset="0"/>
                          <a:ea typeface="Arial" pitchFamily="34" charset="-122"/>
                          <a:cs typeface="Arial" pitchFamily="34" charset="-120"/>
                        </a:rPr>
                        <a:t>Data &amp; access</a:t>
                      </a:r>
                      <a:pPr algn="l" indent="0" marL="0">
                        <a:lnSpc>
                          <a:spcPct val="100000"/>
                        </a:lnSpc>
                        <a:buNone/>
                      </a:pP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Source steward</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Approved corpus</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Access register</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Source refresh</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Named stewards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Weekly access and</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freshness checks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Audit closeout</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Release inventory</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736600">
                <a:tc>
                  <a:txBody>
                    <a:bodyPr>
                      <a:noAutofit/>
                    </a:bodyPr>
                    <a:lstStyle/>
                    <a:p>
                      <a:pPr algn="l" indent="0" marL="0">
                        <a:lnSpc>
                          <a:spcPct val="100000"/>
                        </a:lnSpc>
                        <a:buNone/>
                      </a:pPr>
                      <a:r>
                        <a:rPr lang="en-US" sz="1200" b="1" dirty="0">
                          <a:solidFill>
                            <a:srgbClr val="000000"/>
                          </a:solidFill>
                          <a:latin typeface="Arial" pitchFamily="34" charset="0"/>
                          <a:ea typeface="Arial" pitchFamily="34" charset="-122"/>
                          <a:cs typeface="Arial" pitchFamily="34" charset="-120"/>
                        </a:rPr>
                        <a:t>Workflow &amp; product</a:t>
                      </a:r>
                      <a:pPr algn="l" indent="0" marL="0">
                        <a:lnSpc>
                          <a:spcPct val="100000"/>
                        </a:lnSpc>
                        <a:buNone/>
                      </a:pP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Product lead</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Task mapping</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Baseline time logs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Grounded draft</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Visible citations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15-user pilot</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Defect fixes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Release candidate</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Runbook</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r h="730250">
                <a:tc>
                  <a:txBody>
                    <a:bodyPr>
                      <a:noAutofit/>
                    </a:bodyPr>
                    <a:lstStyle/>
                    <a:p>
                      <a:pPr algn="l" indent="0" marL="0">
                        <a:lnSpc>
                          <a:spcPct val="100000"/>
                        </a:lnSpc>
                        <a:buNone/>
                      </a:pPr>
                      <a:r>
                        <a:rPr lang="en-US" sz="1200" b="1" dirty="0">
                          <a:solidFill>
                            <a:srgbClr val="000000"/>
                          </a:solidFill>
                          <a:latin typeface="Arial" pitchFamily="34" charset="0"/>
                          <a:ea typeface="Arial" pitchFamily="34" charset="-122"/>
                          <a:cs typeface="Arial" pitchFamily="34" charset="-120"/>
                        </a:rPr>
                        <a:t>Quality &amp; controls</a:t>
                      </a:r>
                      <a:pPr algn="l" indent="0" marL="0">
                        <a:lnSpc>
                          <a:spcPct val="100000"/>
                        </a:lnSpc>
                        <a:buNone/>
                      </a:pP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Expert reviewer</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Risk boundaries</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Review criteria</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Test pack</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Rejection reasons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10 reviewed tasks</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Error triage</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20 completed tasks</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Gate evidence</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755650">
                <a:tc>
                  <a:txBody>
                    <a:bodyPr>
                      <a:noAutofit/>
                    </a:bodyPr>
                    <a:lstStyle/>
                    <a:p>
                      <a:pPr algn="l" indent="0" marL="0">
                        <a:lnSpc>
                          <a:spcPct val="100000"/>
                        </a:lnSpc>
                        <a:buNone/>
                      </a:pPr>
                      <a:r>
                        <a:rPr lang="en-US" sz="1200" b="1" dirty="0">
                          <a:solidFill>
                            <a:srgbClr val="000000"/>
                          </a:solidFill>
                          <a:latin typeface="Arial" pitchFamily="34" charset="0"/>
                          <a:ea typeface="Arial" pitchFamily="34" charset="-122"/>
                          <a:cs typeface="Arial" pitchFamily="34" charset="-120"/>
                        </a:rPr>
                        <a:t>Adoption &amp; value</a:t>
                      </a:r>
                      <a:pPr algn="l" indent="0" marL="0">
                        <a:lnSpc>
                          <a:spcPct val="100000"/>
                        </a:lnSpc>
                        <a:buNone/>
                      </a:pP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Practice lead</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Sponsor &amp; users</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Agree tracking</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Training &amp; support</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Measurement plan</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Weekly usage</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Feedback sessions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Benefit case</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Scale recommendation</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bl>
          </a:graphicData>
        </a:graphic>
      </p:graphicFrame>
      <p:sp>
        <p:nvSpPr>
          <p:cNvPr id="21" name="gate-1-marker"/>
          <p:cNvSpPr/>
          <p:nvPr/>
        </p:nvSpPr>
        <p:spPr>
          <a:xfrm>
            <a:off x="8655050" y="1873250"/>
            <a:ext cx="190500" cy="190500"/>
          </a:xfrm>
          <a:prstGeom prst="ellipse">
            <a:avLst/>
          </a:prstGeom>
          <a:solidFill>
            <a:srgbClr val="FFFFFF"/>
          </a:solidFill>
          <a:ln w="44450">
            <a:solidFill>
              <a:srgbClr val="FD5108"/>
            </a:solidFill>
            <a:prstDash val="solid"/>
          </a:ln>
        </p:spPr>
      </p:sp>
      <p:sp>
        <p:nvSpPr>
          <p:cNvPr id="22" name="gate-2-marker"/>
          <p:cNvSpPr/>
          <p:nvPr/>
        </p:nvSpPr>
        <p:spPr>
          <a:xfrm>
            <a:off x="9569450" y="1873250"/>
            <a:ext cx="190500" cy="190500"/>
          </a:xfrm>
          <a:prstGeom prst="ellipse">
            <a:avLst/>
          </a:prstGeom>
          <a:solidFill>
            <a:srgbClr val="FFFFFF"/>
          </a:solidFill>
          <a:ln w="44450">
            <a:solidFill>
              <a:srgbClr val="FD5108"/>
            </a:solidFill>
            <a:prstDash val="solid"/>
          </a:ln>
        </p:spPr>
      </p:sp>
      <p:sp>
        <p:nvSpPr>
          <p:cNvPr id="23" name="gate-3-marker"/>
          <p:cNvSpPr/>
          <p:nvPr/>
        </p:nvSpPr>
        <p:spPr>
          <a:xfrm>
            <a:off x="10477500" y="1873250"/>
            <a:ext cx="190500" cy="190500"/>
          </a:xfrm>
          <a:prstGeom prst="ellipse">
            <a:avLst/>
          </a:prstGeom>
          <a:solidFill>
            <a:srgbClr val="FFFFFF"/>
          </a:solidFill>
          <a:ln w="44450">
            <a:solidFill>
              <a:srgbClr val="FD5108"/>
            </a:solidFill>
            <a:prstDash val="solid"/>
          </a:ln>
        </p:spPr>
      </p:sp>
      <p:sp>
        <p:nvSpPr>
          <p:cNvPr id="24" name="gate-4-marker"/>
          <p:cNvSpPr/>
          <p:nvPr/>
        </p:nvSpPr>
        <p:spPr>
          <a:xfrm>
            <a:off x="11410950" y="1873250"/>
            <a:ext cx="190500" cy="190500"/>
          </a:xfrm>
          <a:prstGeom prst="ellipse">
            <a:avLst/>
          </a:prstGeom>
          <a:solidFill>
            <a:srgbClr val="FFFFFF"/>
          </a:solidFill>
          <a:ln w="44450">
            <a:solidFill>
              <a:srgbClr val="FD5108"/>
            </a:solidFill>
            <a:prstDash val="solid"/>
          </a:ln>
        </p:spPr>
      </p:sp>
      <p:sp>
        <p:nvSpPr>
          <p:cNvPr id="25" name="dependency-1-arrow"/>
          <p:cNvSpPr/>
          <p:nvPr/>
        </p:nvSpPr>
        <p:spPr>
          <a:xfrm>
            <a:off x="8496300" y="4159250"/>
            <a:ext cx="139700" cy="139700"/>
          </a:xfrm>
          <a:custGeom>
            <a:avLst/>
            <a:gdLst/>
            <a:ahLst/>
            <a:cxnLst/>
            <a:rect l="l" t="t" r="r" b="b"/>
            <a:pathLst>
              <a:path w="139700" h="139700">
                <a:moveTo>
                  <a:pt x="0" y="63500"/>
                </a:moveTo>
                <a:lnTo>
                  <a:pt x="139700" y="63500"/>
                </a:lnTo>
                <a:moveTo>
                  <a:pt x="76200" y="0"/>
                </a:moveTo>
                <a:lnTo>
                  <a:pt x="139700" y="63500"/>
                </a:lnTo>
                <a:lnTo>
                  <a:pt x="76200" y="127000"/>
                </a:lnTo>
              </a:path>
            </a:pathLst>
          </a:custGeom>
          <a:solidFill>
            <a:srgbClr val="FFFFFF">
              <a:alpha val="0"/>
            </a:srgbClr>
          </a:solidFill>
          <a:ln w="12700">
            <a:solidFill>
              <a:srgbClr val="FD5108"/>
            </a:solidFill>
            <a:prstDash val="solid"/>
            <a:headEnd type="none"/>
            <a:tailEnd type="none"/>
          </a:ln>
        </p:spPr>
      </p:sp>
      <p:sp>
        <p:nvSpPr>
          <p:cNvPr id="26" name="dependency-2-arrow"/>
          <p:cNvSpPr/>
          <p:nvPr/>
        </p:nvSpPr>
        <p:spPr>
          <a:xfrm>
            <a:off x="8496300" y="4584700"/>
            <a:ext cx="139700" cy="139700"/>
          </a:xfrm>
          <a:custGeom>
            <a:avLst/>
            <a:gdLst/>
            <a:ahLst/>
            <a:cxnLst/>
            <a:rect l="l" t="t" r="r" b="b"/>
            <a:pathLst>
              <a:path w="139700" h="139700">
                <a:moveTo>
                  <a:pt x="0" y="63500"/>
                </a:moveTo>
                <a:lnTo>
                  <a:pt x="139700" y="63500"/>
                </a:lnTo>
                <a:moveTo>
                  <a:pt x="76200" y="0"/>
                </a:moveTo>
                <a:lnTo>
                  <a:pt x="139700" y="63500"/>
                </a:lnTo>
                <a:lnTo>
                  <a:pt x="76200" y="127000"/>
                </a:lnTo>
              </a:path>
            </a:pathLst>
          </a:custGeom>
          <a:solidFill>
            <a:srgbClr val="FFFFFF">
              <a:alpha val="0"/>
            </a:srgbClr>
          </a:solidFill>
          <a:ln w="12700">
            <a:solidFill>
              <a:srgbClr val="FD5108"/>
            </a:solidFill>
            <a:prstDash val="solid"/>
            <a:headEnd type="none"/>
            <a:tailEnd type="none"/>
          </a:ln>
        </p:spPr>
      </p:sp>
      <p:sp>
        <p:nvSpPr>
          <p:cNvPr id="27" name="dependency-3-arrow"/>
          <p:cNvSpPr/>
          <p:nvPr/>
        </p:nvSpPr>
        <p:spPr>
          <a:xfrm>
            <a:off x="8496300" y="5010150"/>
            <a:ext cx="139700" cy="139700"/>
          </a:xfrm>
          <a:custGeom>
            <a:avLst/>
            <a:gdLst/>
            <a:ahLst/>
            <a:cxnLst/>
            <a:rect l="l" t="t" r="r" b="b"/>
            <a:pathLst>
              <a:path w="139700" h="139700">
                <a:moveTo>
                  <a:pt x="0" y="63500"/>
                </a:moveTo>
                <a:lnTo>
                  <a:pt x="139700" y="63500"/>
                </a:lnTo>
                <a:moveTo>
                  <a:pt x="76200" y="0"/>
                </a:moveTo>
                <a:lnTo>
                  <a:pt x="139700" y="63500"/>
                </a:lnTo>
                <a:lnTo>
                  <a:pt x="76200" y="127000"/>
                </a:lnTo>
              </a:path>
            </a:pathLst>
          </a:custGeom>
          <a:solidFill>
            <a:srgbClr val="FFFFFF">
              <a:alpha val="0"/>
            </a:srgbClr>
          </a:solidFill>
          <a:ln w="12700">
            <a:solidFill>
              <a:srgbClr val="FD5108"/>
            </a:solidFill>
            <a:prstDash val="solid"/>
            <a:headEnd type="none"/>
            <a:tailEnd type="none"/>
          </a:ln>
        </p:spPr>
      </p:sp>
      <p:sp>
        <p:nvSpPr>
          <p:cNvPr id="28" name="headline"/>
          <p:cNvSpPr txBox="1"/>
          <p:nvPr/>
        </p:nvSpPr>
        <p:spPr>
          <a:xfrm>
            <a:off x="304800" y="527050"/>
            <a:ext cx="11588750" cy="5080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Run the pilot through four evidence gates</a:t>
            </a:r>
            <a:endParaRPr lang="en-US" sz="3200" dirty="0" spc="0"/>
          </a:p>
        </p:txBody>
      </p:sp>
      <p:sp>
        <p:nvSpPr>
          <p:cNvPr id="29" name="subtitle"/>
          <p:cNvSpPr txBox="1"/>
          <p:nvPr/>
        </p:nvSpPr>
        <p:spPr>
          <a:xfrm>
            <a:off x="304800" y="1060450"/>
            <a:ext cx="11582400" cy="317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Owners run the workstreams. Evidence gates release the next phase.</a:t>
            </a:r>
            <a:endParaRPr lang="en-US" sz="1600" dirty="0" spc="0"/>
          </a:p>
        </p:txBody>
      </p:sp>
      <p:sp>
        <p:nvSpPr>
          <p:cNvPr id="30" name="gates-heading"/>
          <p:cNvSpPr txBox="1"/>
          <p:nvPr/>
        </p:nvSpPr>
        <p:spPr>
          <a:xfrm>
            <a:off x="8477250" y="1536700"/>
            <a:ext cx="3365500" cy="2730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EVIDENCE GATES</a:t>
            </a:r>
            <a:endParaRPr lang="en-US" sz="1400" dirty="0" spc="0"/>
          </a:p>
        </p:txBody>
      </p:sp>
      <p:sp>
        <p:nvSpPr>
          <p:cNvPr id="31" name="gate-1-label"/>
          <p:cNvSpPr txBox="1"/>
          <p:nvPr/>
        </p:nvSpPr>
        <p:spPr>
          <a:xfrm>
            <a:off x="8401050" y="2178050"/>
            <a:ext cx="74295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600" b="1" dirty="0" spc="0">
                <a:solidFill>
                  <a:srgbClr val="FD5108"/>
                </a:solidFill>
                <a:latin typeface="Arial" pitchFamily="34" charset="0"/>
                <a:ea typeface="Arial" pitchFamily="34" charset="-122"/>
                <a:cs typeface="Arial" pitchFamily="34" charset="-120"/>
              </a:rPr>
              <a:t>G1</a:t>
            </a:r>
            <a:endParaRPr lang="en-US" sz="1600" dirty="0" spc="0"/>
          </a:p>
        </p:txBody>
      </p:sp>
      <p:sp>
        <p:nvSpPr>
          <p:cNvPr id="32" name="gate-1-week"/>
          <p:cNvSpPr txBox="1"/>
          <p:nvPr/>
        </p:nvSpPr>
        <p:spPr>
          <a:xfrm>
            <a:off x="8369300" y="2425700"/>
            <a:ext cx="806450" cy="2413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Week 2</a:t>
            </a:r>
            <a:endParaRPr lang="en-US" sz="1400" dirty="0" spc="0"/>
          </a:p>
        </p:txBody>
      </p:sp>
      <p:sp>
        <p:nvSpPr>
          <p:cNvPr id="33" name="gate-1-evidence"/>
          <p:cNvSpPr txBox="1"/>
          <p:nvPr/>
        </p:nvSpPr>
        <p:spPr>
          <a:xfrm>
            <a:off x="8350250" y="2787650"/>
            <a:ext cx="844550" cy="7239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Corpus +</a:t>
            </a:r>
            <a:endParaRPr lang="en-US" sz="1200" dirty="0" spc="0"/>
          </a:p>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access</a:t>
            </a:r>
            <a:endParaRPr lang="en-US" sz="1200" dirty="0" spc="0"/>
          </a:p>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signed</a:t>
            </a:r>
            <a:endParaRPr lang="en-US" sz="1200" dirty="0" spc="0"/>
          </a:p>
        </p:txBody>
      </p:sp>
      <p:sp>
        <p:nvSpPr>
          <p:cNvPr id="34" name="gate-2-label"/>
          <p:cNvSpPr txBox="1"/>
          <p:nvPr/>
        </p:nvSpPr>
        <p:spPr>
          <a:xfrm>
            <a:off x="9296400" y="2178050"/>
            <a:ext cx="74295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600" b="1" dirty="0" spc="0">
                <a:solidFill>
                  <a:srgbClr val="FD5108"/>
                </a:solidFill>
                <a:latin typeface="Arial" pitchFamily="34" charset="0"/>
                <a:ea typeface="Arial" pitchFamily="34" charset="-122"/>
                <a:cs typeface="Arial" pitchFamily="34" charset="-120"/>
              </a:rPr>
              <a:t>G2</a:t>
            </a:r>
            <a:endParaRPr lang="en-US" sz="1600" dirty="0" spc="0"/>
          </a:p>
        </p:txBody>
      </p:sp>
      <p:sp>
        <p:nvSpPr>
          <p:cNvPr id="35" name="gate-2-week"/>
          <p:cNvSpPr txBox="1"/>
          <p:nvPr/>
        </p:nvSpPr>
        <p:spPr>
          <a:xfrm>
            <a:off x="9264650" y="2425700"/>
            <a:ext cx="806450" cy="2413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Week 4</a:t>
            </a:r>
            <a:endParaRPr lang="en-US" sz="1400" dirty="0" spc="0"/>
          </a:p>
        </p:txBody>
      </p:sp>
      <p:sp>
        <p:nvSpPr>
          <p:cNvPr id="36" name="gate-2-evidence"/>
          <p:cNvSpPr txBox="1"/>
          <p:nvPr/>
        </p:nvSpPr>
        <p:spPr>
          <a:xfrm>
            <a:off x="9245600" y="2787650"/>
            <a:ext cx="844550" cy="7239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Test pack</a:t>
            </a:r>
            <a:endParaRPr lang="en-US" sz="1200" dirty="0" spc="0"/>
          </a:p>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approved</a:t>
            </a:r>
            <a:endParaRPr lang="en-US" sz="1200" dirty="0" spc="0"/>
          </a:p>
        </p:txBody>
      </p:sp>
      <p:sp>
        <p:nvSpPr>
          <p:cNvPr id="37" name="gate-3-label"/>
          <p:cNvSpPr txBox="1"/>
          <p:nvPr/>
        </p:nvSpPr>
        <p:spPr>
          <a:xfrm>
            <a:off x="10198100" y="2178050"/>
            <a:ext cx="74295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600" b="1" dirty="0" spc="0">
                <a:solidFill>
                  <a:srgbClr val="FD5108"/>
                </a:solidFill>
                <a:latin typeface="Arial" pitchFamily="34" charset="0"/>
                <a:ea typeface="Arial" pitchFamily="34" charset="-122"/>
                <a:cs typeface="Arial" pitchFamily="34" charset="-120"/>
              </a:rPr>
              <a:t>G3</a:t>
            </a:r>
            <a:endParaRPr lang="en-US" sz="1600" dirty="0" spc="0"/>
          </a:p>
        </p:txBody>
      </p:sp>
      <p:sp>
        <p:nvSpPr>
          <p:cNvPr id="38" name="gate-3-week"/>
          <p:cNvSpPr txBox="1"/>
          <p:nvPr/>
        </p:nvSpPr>
        <p:spPr>
          <a:xfrm>
            <a:off x="10166350" y="2425700"/>
            <a:ext cx="806450" cy="2413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Week 8</a:t>
            </a:r>
            <a:endParaRPr lang="en-US" sz="1400" dirty="0" spc="0"/>
          </a:p>
        </p:txBody>
      </p:sp>
      <p:sp>
        <p:nvSpPr>
          <p:cNvPr id="39" name="gate-3-evidence"/>
          <p:cNvSpPr txBox="1"/>
          <p:nvPr/>
        </p:nvSpPr>
        <p:spPr>
          <a:xfrm>
            <a:off x="10147300" y="2787650"/>
            <a:ext cx="844550" cy="7239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10 tasks</a:t>
            </a:r>
            <a:endParaRPr lang="en-US" sz="1200" dirty="0" spc="0"/>
          </a:p>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reviewed</a:t>
            </a:r>
            <a:endParaRPr lang="en-US" sz="1200" dirty="0" spc="0"/>
          </a:p>
        </p:txBody>
      </p:sp>
      <p:sp>
        <p:nvSpPr>
          <p:cNvPr id="40" name="gate-4-label"/>
          <p:cNvSpPr txBox="1"/>
          <p:nvPr/>
        </p:nvSpPr>
        <p:spPr>
          <a:xfrm>
            <a:off x="11112500" y="2178050"/>
            <a:ext cx="74295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600" b="1" dirty="0" spc="0">
                <a:solidFill>
                  <a:srgbClr val="FD5108"/>
                </a:solidFill>
                <a:latin typeface="Arial" pitchFamily="34" charset="0"/>
                <a:ea typeface="Arial" pitchFamily="34" charset="-122"/>
                <a:cs typeface="Arial" pitchFamily="34" charset="-120"/>
              </a:rPr>
              <a:t>G4</a:t>
            </a:r>
            <a:endParaRPr lang="en-US" sz="1600" dirty="0" spc="0"/>
          </a:p>
        </p:txBody>
      </p:sp>
      <p:sp>
        <p:nvSpPr>
          <p:cNvPr id="41" name="gate-4-week"/>
          <p:cNvSpPr txBox="1"/>
          <p:nvPr/>
        </p:nvSpPr>
        <p:spPr>
          <a:xfrm>
            <a:off x="11080750" y="2425700"/>
            <a:ext cx="806450" cy="2413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Week 12</a:t>
            </a:r>
            <a:endParaRPr lang="en-US" sz="1400" dirty="0" spc="0"/>
          </a:p>
        </p:txBody>
      </p:sp>
      <p:sp>
        <p:nvSpPr>
          <p:cNvPr id="42" name="gate-4-evidence"/>
          <p:cNvSpPr txBox="1"/>
          <p:nvPr/>
        </p:nvSpPr>
        <p:spPr>
          <a:xfrm>
            <a:off x="11061700" y="2787650"/>
            <a:ext cx="844550" cy="7239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Practice</a:t>
            </a:r>
            <a:endParaRPr lang="en-US" sz="1200" dirty="0" spc="0"/>
          </a:p>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lead + CFO</a:t>
            </a:r>
            <a:endParaRPr lang="en-US" sz="1200" dirty="0" spc="0"/>
          </a:p>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decide</a:t>
            </a:r>
            <a:endParaRPr lang="en-US" sz="1200" dirty="0" spc="0"/>
          </a:p>
        </p:txBody>
      </p:sp>
      <p:sp>
        <p:nvSpPr>
          <p:cNvPr id="43" name="dependencies-heading"/>
          <p:cNvSpPr txBox="1"/>
          <p:nvPr/>
        </p:nvSpPr>
        <p:spPr>
          <a:xfrm>
            <a:off x="8445500" y="3746500"/>
            <a:ext cx="3397250" cy="2730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DEPENDENCIES</a:t>
            </a:r>
            <a:endParaRPr lang="en-US" sz="1400" dirty="0" spc="0"/>
          </a:p>
        </p:txBody>
      </p:sp>
      <p:sp>
        <p:nvSpPr>
          <p:cNvPr id="44" name="dependency-1-text"/>
          <p:cNvSpPr txBox="1"/>
          <p:nvPr/>
        </p:nvSpPr>
        <p:spPr>
          <a:xfrm>
            <a:off x="8820150" y="4095750"/>
            <a:ext cx="30480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Permissions before retrieval tests</a:t>
            </a:r>
            <a:endParaRPr lang="en-US" sz="1400" dirty="0" spc="0"/>
          </a:p>
        </p:txBody>
      </p:sp>
      <p:sp>
        <p:nvSpPr>
          <p:cNvPr id="45" name="dependency-2-text"/>
          <p:cNvSpPr txBox="1"/>
          <p:nvPr/>
        </p:nvSpPr>
        <p:spPr>
          <a:xfrm>
            <a:off x="8820150" y="4521200"/>
            <a:ext cx="30480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Approved test pack before pilot</a:t>
            </a:r>
            <a:endParaRPr lang="en-US" sz="1400" dirty="0" spc="0"/>
          </a:p>
        </p:txBody>
      </p:sp>
      <p:sp>
        <p:nvSpPr>
          <p:cNvPr id="46" name="dependency-3-text"/>
          <p:cNvSpPr txBox="1"/>
          <p:nvPr/>
        </p:nvSpPr>
        <p:spPr>
          <a:xfrm>
            <a:off x="8820150" y="4946650"/>
            <a:ext cx="30480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Quality evidence before benefit case</a:t>
            </a:r>
            <a:endParaRPr lang="en-US" sz="1400" dirty="0" spc="0"/>
          </a:p>
        </p:txBody>
      </p:sp>
      <p:sp>
        <p:nvSpPr>
          <p:cNvPr id="47" name="decision-label"/>
          <p:cNvSpPr txBox="1"/>
          <p:nvPr/>
        </p:nvSpPr>
        <p:spPr>
          <a:xfrm>
            <a:off x="635000" y="5689600"/>
            <a:ext cx="266700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STOP RULE</a:t>
            </a:r>
            <a:endParaRPr lang="en-US" sz="1400" dirty="0" spc="0"/>
          </a:p>
        </p:txBody>
      </p:sp>
      <p:sp>
        <p:nvSpPr>
          <p:cNvPr id="48" name="decision-message"/>
          <p:cNvSpPr txBox="1"/>
          <p:nvPr/>
        </p:nvSpPr>
        <p:spPr>
          <a:xfrm>
            <a:off x="3556000" y="5689600"/>
            <a:ext cx="803275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No expansion while critical data exceptions remain open.</a:t>
            </a:r>
            <a:endParaRPr lang="en-US" sz="1400" dirty="0" spc="0"/>
          </a:p>
        </p:txBody>
      </p:sp>
      <p:sp>
        <p:nvSpPr>
          <p:cNvPr id="49"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304800" y="1454150"/>
            <a:ext cx="11582400" cy="12700"/>
          </a:xfrm>
          <a:prstGeom prst="rect">
            <a:avLst/>
          </a:prstGeom>
          <a:solidFill>
            <a:srgbClr val="AAAAAA"/>
          </a:solidFill>
          <a:ln w="12700">
            <a:solidFill>
              <a:srgbClr val="FFFFFF">
                <a:alpha val="0"/>
              </a:srgbClr>
            </a:solidFill>
            <a:prstDash val="solid"/>
          </a:ln>
        </p:spPr>
      </p:sp>
      <p:sp>
        <p:nvSpPr>
          <p:cNvPr id="3" name="capacity-divider"/>
          <p:cNvSpPr/>
          <p:nvPr/>
        </p:nvSpPr>
        <p:spPr>
          <a:xfrm>
            <a:off x="247650" y="2927350"/>
            <a:ext cx="2959100" cy="6350"/>
          </a:xfrm>
          <a:prstGeom prst="rect">
            <a:avLst/>
          </a:prstGeom>
          <a:solidFill>
            <a:srgbClr val="B5B5B5"/>
          </a:solidFill>
          <a:ln w="12700">
            <a:solidFill>
              <a:srgbClr val="FFFFFF">
                <a:alpha val="0"/>
              </a:srgbClr>
            </a:solidFill>
            <a:prstDash val="solid"/>
          </a:ln>
        </p:spPr>
      </p:sp>
      <p:sp>
        <p:nvSpPr>
          <p:cNvPr id="4" name="criteria-rule"/>
          <p:cNvSpPr/>
          <p:nvPr/>
        </p:nvSpPr>
        <p:spPr>
          <a:xfrm>
            <a:off x="241300" y="4260850"/>
            <a:ext cx="11696700" cy="12700"/>
          </a:xfrm>
          <a:prstGeom prst="rect">
            <a:avLst/>
          </a:prstGeom>
          <a:solidFill>
            <a:srgbClr val="DFE3E6"/>
          </a:solidFill>
          <a:ln w="12700">
            <a:solidFill>
              <a:srgbClr val="FFFFFF">
                <a:alpha val="0"/>
              </a:srgbClr>
            </a:solidFill>
            <a:prstDash val="solid"/>
          </a:ln>
        </p:spPr>
      </p:sp>
      <p:sp>
        <p:nvSpPr>
          <p:cNvPr id="5" name="criteria-divider-1"/>
          <p:cNvSpPr/>
          <p:nvPr/>
        </p:nvSpPr>
        <p:spPr>
          <a:xfrm>
            <a:off x="3994150" y="4267200"/>
            <a:ext cx="6350" cy="1054100"/>
          </a:xfrm>
          <a:prstGeom prst="rect">
            <a:avLst/>
          </a:prstGeom>
          <a:solidFill>
            <a:srgbClr val="DFE3E6"/>
          </a:solidFill>
          <a:ln w="12700">
            <a:solidFill>
              <a:srgbClr val="FFFFFF">
                <a:alpha val="0"/>
              </a:srgbClr>
            </a:solidFill>
            <a:prstDash val="solid"/>
          </a:ln>
        </p:spPr>
      </p:sp>
      <p:sp>
        <p:nvSpPr>
          <p:cNvPr id="6" name="criteria-divider-2"/>
          <p:cNvSpPr/>
          <p:nvPr/>
        </p:nvSpPr>
        <p:spPr>
          <a:xfrm>
            <a:off x="7905750" y="4267200"/>
            <a:ext cx="6350" cy="1054100"/>
          </a:xfrm>
          <a:prstGeom prst="rect">
            <a:avLst/>
          </a:prstGeom>
          <a:solidFill>
            <a:srgbClr val="DFE3E6"/>
          </a:solidFill>
          <a:ln w="12700">
            <a:solidFill>
              <a:srgbClr val="FFFFFF">
                <a:alpha val="0"/>
              </a:srgbClr>
            </a:solidFill>
            <a:prstDash val="solid"/>
          </a:ln>
        </p:spPr>
      </p:sp>
      <p:sp>
        <p:nvSpPr>
          <p:cNvPr id="7" name="decision-band"/>
          <p:cNvSpPr/>
          <p:nvPr/>
        </p:nvSpPr>
        <p:spPr>
          <a:xfrm>
            <a:off x="304800" y="5441950"/>
            <a:ext cx="11582400" cy="850900"/>
          </a:xfrm>
          <a:prstGeom prst="rect">
            <a:avLst/>
          </a:prstGeom>
          <a:solidFill>
            <a:srgbClr val="FFF5ED"/>
          </a:solidFill>
          <a:ln w="12700">
            <a:solidFill>
              <a:srgbClr val="FFFFFF">
                <a:alpha val="0"/>
              </a:srgbClr>
            </a:solidFill>
            <a:prstDash val="solid"/>
          </a:ln>
        </p:spPr>
      </p:sp>
      <p:sp>
        <p:nvSpPr>
          <p:cNvPr id="8" name="decision-accent"/>
          <p:cNvSpPr/>
          <p:nvPr/>
        </p:nvSpPr>
        <p:spPr>
          <a:xfrm>
            <a:off x="304800" y="5441950"/>
            <a:ext cx="50800" cy="850900"/>
          </a:xfrm>
          <a:prstGeom prst="rect">
            <a:avLst/>
          </a:prstGeom>
          <a:solidFill>
            <a:srgbClr val="FD5108"/>
          </a:solidFill>
          <a:ln w="12700">
            <a:solidFill>
              <a:srgbClr val="FFFFFF">
                <a:alpha val="0"/>
              </a:srgbClr>
            </a:solidFill>
            <a:prstDash val="solid"/>
          </a:ln>
        </p:spPr>
      </p:sp>
      <p:graphicFrame>
        <p:nvGraphicFramePr>
          <p:cNvPr id="9" name="investment-table"/>
          <p:cNvGraphicFramePr>
            <a:graphicFrameLocks noGrp="1"/>
          </p:cNvGraphicFramePr>
          <p:nvPr>
            <p:extLst>
              <p:ext uri="{D42A27DB-BD31-4B8C-83A1-F6EECF244321}">
                <p14:modId xmlns:p14="http://schemas.microsoft.com/office/powerpoint/2010/main" val="1579011935"/>
              </p:ext>
            </p:extLst>
          </p:nvPr>
        </p:nvGraphicFramePr>
        <p:xfrm>
          <a:off x="4013200" y="1930400"/>
          <a:ext cx="2393950" cy="1733550"/>
        </p:xfrm>
        <a:graphic>
          <a:graphicData uri="http://schemas.openxmlformats.org/drawingml/2006/table">
            <a:tbl>
              <a:tblPr/>
              <a:tblGrid>
                <a:gridCol w="1466850"/>
                <a:gridCol w="927100"/>
              </a:tblGrid>
              <a:tr h="34290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Cost item</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Amount</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r>
              <a:tr h="330200">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Implementation</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$85k</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r>
              <a:tr h="336550">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Pilot included</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$25k</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r>
              <a:tr h="355600">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Annual operations</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$30k</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r>
              <a:tr h="3683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First-year total</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5ED"/>
                    </a:solidFill>
                  </a:tcPr>
                </a:tc>
                <a:tc>
                  <a:txBody>
                    <a:bodyPr>
                      <a:no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$115k</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5ED"/>
                    </a:solidFill>
                  </a:tcPr>
                </a:tc>
              </a:tr>
            </a:tbl>
          </a:graphicData>
        </a:graphic>
      </p:graphicFrame>
      <p:graphicFrame>
        <p:nvGraphicFramePr>
          <p:cNvPr id="11" name="scenario-table"/>
          <p:cNvGraphicFramePr>
            <a:graphicFrameLocks noGrp="1"/>
          </p:cNvGraphicFramePr>
          <p:nvPr>
            <p:extLst>
              <p:ext uri="{D42A27DB-BD31-4B8C-83A1-F6EECF244321}">
                <p14:modId xmlns:p14="http://schemas.microsoft.com/office/powerpoint/2010/main" val="1579011935"/>
              </p:ext>
            </p:extLst>
          </p:nvPr>
        </p:nvGraphicFramePr>
        <p:xfrm>
          <a:off x="6737350" y="1930400"/>
          <a:ext cx="5200650" cy="1905000"/>
        </p:xfrm>
        <a:graphic>
          <a:graphicData uri="http://schemas.openxmlformats.org/drawingml/2006/table">
            <a:tbl>
              <a:tblPr/>
              <a:tblGrid>
                <a:gridCol w="800100"/>
                <a:gridCol w="800100"/>
                <a:gridCol w="558800"/>
                <a:gridCol w="736600"/>
                <a:gridCol w="762000"/>
                <a:gridCol w="819150"/>
                <a:gridCol w="723900"/>
              </a:tblGrid>
              <a:tr h="50165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Scenario</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Adoption</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Time</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saved</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Annual h</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Annual</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capacity</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First-year</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value</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Net vs</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$115k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r>
              <a:tr h="4572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Downside</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864</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$108k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$54k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−$61k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r>
              <a:tr h="4699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Base</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1,944</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$243k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$121.5k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+$6.5k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r>
              <a:tr h="4762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Upside</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75%</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3,240</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$405k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$202.5k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+$87.5k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r>
            </a:tbl>
          </a:graphicData>
        </a:graphic>
      </p:graphicFrame>
      <p:sp>
        <p:nvSpPr>
          <p:cNvPr id="10" name="headline"/>
          <p:cNvSpPr txBox="1"/>
          <p:nvPr/>
        </p:nvSpPr>
        <p:spPr>
          <a:xfrm>
            <a:off x="304800" y="527050"/>
            <a:ext cx="11582400" cy="5080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Release the next investment against evidence</a:t>
            </a:r>
            <a:endParaRPr lang="en-US" sz="3200" dirty="0" spc="0"/>
          </a:p>
        </p:txBody>
      </p:sp>
      <p:sp>
        <p:nvSpPr>
          <p:cNvPr id="12" name="subtitle"/>
          <p:cNvSpPr txBox="1"/>
          <p:nvPr/>
        </p:nvSpPr>
        <p:spPr>
          <a:xfrm>
            <a:off x="304800" y="1060450"/>
            <a:ext cx="11582400" cy="2984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Use the full first-year cost, a realistic ramp and explicit go/no-go tests.</a:t>
            </a:r>
            <a:endParaRPr lang="en-US" sz="1600" dirty="0" spc="0"/>
          </a:p>
        </p:txBody>
      </p:sp>
      <p:sp>
        <p:nvSpPr>
          <p:cNvPr id="13" name="capacity-heading"/>
          <p:cNvSpPr txBox="1"/>
          <p:nvPr/>
        </p:nvSpPr>
        <p:spPr>
          <a:xfrm>
            <a:off x="260350" y="1682750"/>
            <a:ext cx="37084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BASE-CASE CAPACITY MODEL</a:t>
            </a:r>
            <a:endParaRPr lang="en-US" sz="1400" dirty="0" spc="0"/>
          </a:p>
        </p:txBody>
      </p:sp>
      <p:sp>
        <p:nvSpPr>
          <p:cNvPr id="14" name="investment-heading"/>
          <p:cNvSpPr txBox="1"/>
          <p:nvPr/>
        </p:nvSpPr>
        <p:spPr>
          <a:xfrm>
            <a:off x="4019550" y="1682750"/>
            <a:ext cx="239395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INVESTMENT</a:t>
            </a:r>
            <a:endParaRPr lang="en-US" sz="1400" dirty="0" spc="0"/>
          </a:p>
        </p:txBody>
      </p:sp>
      <p:sp>
        <p:nvSpPr>
          <p:cNvPr id="15" name="sensitivity-heading"/>
          <p:cNvSpPr txBox="1"/>
          <p:nvPr/>
        </p:nvSpPr>
        <p:spPr>
          <a:xfrm>
            <a:off x="6737350" y="1682750"/>
            <a:ext cx="520065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FIRST-YEAR SENSITIVITY · 50% RAMP</a:t>
            </a:r>
            <a:endParaRPr lang="en-US" sz="1400" dirty="0" spc="0"/>
          </a:p>
        </p:txBody>
      </p:sp>
      <p:sp>
        <p:nvSpPr>
          <p:cNvPr id="16" name="capacity-term-0"/>
          <p:cNvSpPr txBox="1"/>
          <p:nvPr/>
        </p:nvSpPr>
        <p:spPr>
          <a:xfrm>
            <a:off x="558800" y="2120900"/>
            <a:ext cx="46355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900</a:t>
            </a:r>
            <a:endParaRPr lang="en-US" sz="1400" dirty="0" spc="0"/>
          </a:p>
        </p:txBody>
      </p:sp>
      <p:sp>
        <p:nvSpPr>
          <p:cNvPr id="17" name="capacity-term-1"/>
          <p:cNvSpPr txBox="1"/>
          <p:nvPr/>
        </p:nvSpPr>
        <p:spPr>
          <a:xfrm>
            <a:off x="1104900" y="2120900"/>
            <a:ext cx="19050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a:t>
            </a:r>
            <a:endParaRPr lang="en-US" sz="1400" dirty="0" spc="0"/>
          </a:p>
        </p:txBody>
      </p:sp>
      <p:sp>
        <p:nvSpPr>
          <p:cNvPr id="18" name="capacity-term-2"/>
          <p:cNvSpPr txBox="1"/>
          <p:nvPr/>
        </p:nvSpPr>
        <p:spPr>
          <a:xfrm>
            <a:off x="1384300" y="2120900"/>
            <a:ext cx="49530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12 h</a:t>
            </a:r>
            <a:endParaRPr lang="en-US" sz="1400" dirty="0" spc="0"/>
          </a:p>
        </p:txBody>
      </p:sp>
      <p:sp>
        <p:nvSpPr>
          <p:cNvPr id="19" name="capacity-term-3"/>
          <p:cNvSpPr txBox="1"/>
          <p:nvPr/>
        </p:nvSpPr>
        <p:spPr>
          <a:xfrm>
            <a:off x="1790700" y="2120900"/>
            <a:ext cx="19050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a:t>
            </a:r>
            <a:endParaRPr lang="en-US" sz="1400" dirty="0" spc="0"/>
          </a:p>
        </p:txBody>
      </p:sp>
      <p:sp>
        <p:nvSpPr>
          <p:cNvPr id="20" name="capacity-term-4"/>
          <p:cNvSpPr txBox="1"/>
          <p:nvPr/>
        </p:nvSpPr>
        <p:spPr>
          <a:xfrm>
            <a:off x="2038350" y="2120900"/>
            <a:ext cx="47625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60%</a:t>
            </a:r>
            <a:endParaRPr lang="en-US" sz="1400" dirty="0" spc="0"/>
          </a:p>
        </p:txBody>
      </p:sp>
      <p:sp>
        <p:nvSpPr>
          <p:cNvPr id="21" name="capacity-term-5"/>
          <p:cNvSpPr txBox="1"/>
          <p:nvPr/>
        </p:nvSpPr>
        <p:spPr>
          <a:xfrm>
            <a:off x="2482850" y="2120900"/>
            <a:ext cx="19050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a:t>
            </a:r>
            <a:endParaRPr lang="en-US" sz="1400" dirty="0" spc="0"/>
          </a:p>
        </p:txBody>
      </p:sp>
      <p:sp>
        <p:nvSpPr>
          <p:cNvPr id="22" name="capacity-term-6"/>
          <p:cNvSpPr txBox="1"/>
          <p:nvPr/>
        </p:nvSpPr>
        <p:spPr>
          <a:xfrm>
            <a:off x="2698750" y="2120900"/>
            <a:ext cx="44450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30%</a:t>
            </a:r>
            <a:endParaRPr lang="en-US" sz="1400" dirty="0" spc="0"/>
          </a:p>
        </p:txBody>
      </p:sp>
      <p:sp>
        <p:nvSpPr>
          <p:cNvPr id="23" name="capacity-term-7"/>
          <p:cNvSpPr txBox="1"/>
          <p:nvPr/>
        </p:nvSpPr>
        <p:spPr>
          <a:xfrm>
            <a:off x="3124200" y="2120900"/>
            <a:ext cx="18415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a:t>
            </a:r>
            <a:endParaRPr lang="en-US" sz="1400" dirty="0" spc="0"/>
          </a:p>
        </p:txBody>
      </p:sp>
      <p:sp>
        <p:nvSpPr>
          <p:cNvPr id="24" name="capacity-result"/>
          <p:cNvSpPr txBox="1"/>
          <p:nvPr/>
        </p:nvSpPr>
        <p:spPr>
          <a:xfrm>
            <a:off x="3289300" y="2120900"/>
            <a:ext cx="698500" cy="3111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1,944 h</a:t>
            </a:r>
            <a:endParaRPr lang="en-US" sz="1400" dirty="0" spc="0"/>
          </a:p>
        </p:txBody>
      </p:sp>
      <p:sp>
        <p:nvSpPr>
          <p:cNvPr id="25" name="capacity-term-label-0"/>
          <p:cNvSpPr txBox="1"/>
          <p:nvPr/>
        </p:nvSpPr>
        <p:spPr>
          <a:xfrm>
            <a:off x="234950" y="2463800"/>
            <a:ext cx="1003300" cy="285750"/>
          </a:xfrm>
          <a:prstGeom prst="rect">
            <a:avLst/>
          </a:prstGeom>
          <a:noFill/>
          <a:ln/>
        </p:spPr>
        <p:txBody>
          <a:bodyPr wrap="square" lIns="12700" tIns="12700" rIns="12700" bIns="12700" rtlCol="0" anchor="t">
            <a:noAutofit/>
          </a:bodyPr>
          <a:lstStyle/>
          <a:p>
            <a:pPr algn="ctr" indent="0" marL="0">
              <a:lnSpc>
                <a:spcPct val="110000"/>
              </a:lnSpc>
              <a:buNone/>
              <a:defRPr spc="0"/>
            </a:pPr>
            <a:r>
              <a:rPr lang="en-US" sz="1200" dirty="0" spc="0">
                <a:solidFill>
                  <a:srgbClr val="000000"/>
                </a:solidFill>
                <a:latin typeface="Arial" pitchFamily="34" charset="0"/>
                <a:ea typeface="Arial" pitchFamily="34" charset="-122"/>
                <a:cs typeface="Arial" pitchFamily="34" charset="-120"/>
              </a:rPr>
              <a:t>Engagements</a:t>
            </a:r>
            <a:endParaRPr lang="en-US" sz="1200" dirty="0" spc="0"/>
          </a:p>
        </p:txBody>
      </p:sp>
      <p:sp>
        <p:nvSpPr>
          <p:cNvPr id="26" name="capacity-term-label-1"/>
          <p:cNvSpPr txBox="1"/>
          <p:nvPr/>
        </p:nvSpPr>
        <p:spPr>
          <a:xfrm>
            <a:off x="1225550" y="2463800"/>
            <a:ext cx="704850" cy="431800"/>
          </a:xfrm>
          <a:prstGeom prst="rect">
            <a:avLst/>
          </a:prstGeom>
          <a:noFill/>
          <a:ln/>
        </p:spPr>
        <p:txBody>
          <a:bodyPr wrap="square" lIns="12700" tIns="12700" rIns="12700" bIns="12700" rtlCol="0" anchor="t">
            <a:noAutofit/>
          </a:bodyPr>
          <a:lstStyle/>
          <a:p>
            <a:pPr algn="ctr" indent="0" marL="0">
              <a:lnSpc>
                <a:spcPct val="110000"/>
              </a:lnSpc>
              <a:buNone/>
              <a:defRPr spc="0"/>
            </a:pPr>
            <a:r>
              <a:rPr lang="en-US" sz="1200" dirty="0" spc="0">
                <a:solidFill>
                  <a:srgbClr val="000000"/>
                </a:solidFill>
                <a:latin typeface="Arial" pitchFamily="34" charset="0"/>
                <a:ea typeface="Arial" pitchFamily="34" charset="-122"/>
                <a:cs typeface="Arial" pitchFamily="34" charset="-120"/>
              </a:rPr>
              <a:t>Research</a:t>
            </a:r>
            <a:endParaRPr lang="en-US" sz="1200" dirty="0" spc="0"/>
          </a:p>
          <a:p>
            <a:pPr algn="ctr" indent="0" marL="0">
              <a:lnSpc>
                <a:spcPct val="110000"/>
              </a:lnSpc>
              <a:buNone/>
              <a:defRPr spc="0"/>
            </a:pPr>
            <a:r>
              <a:rPr lang="en-US" sz="1200" dirty="0" spc="0">
                <a:solidFill>
                  <a:srgbClr val="000000"/>
                </a:solidFill>
                <a:latin typeface="Arial" pitchFamily="34" charset="0"/>
                <a:ea typeface="Arial" pitchFamily="34" charset="-122"/>
                <a:cs typeface="Arial" pitchFamily="34" charset="-120"/>
              </a:rPr>
              <a:t>time</a:t>
            </a:r>
            <a:endParaRPr lang="en-US" sz="1200" dirty="0" spc="0"/>
          </a:p>
        </p:txBody>
      </p:sp>
      <p:sp>
        <p:nvSpPr>
          <p:cNvPr id="27" name="capacity-term-label-2"/>
          <p:cNvSpPr txBox="1"/>
          <p:nvPr/>
        </p:nvSpPr>
        <p:spPr>
          <a:xfrm>
            <a:off x="1924050" y="2463800"/>
            <a:ext cx="673100" cy="285750"/>
          </a:xfrm>
          <a:prstGeom prst="rect">
            <a:avLst/>
          </a:prstGeom>
          <a:noFill/>
          <a:ln/>
        </p:spPr>
        <p:txBody>
          <a:bodyPr wrap="square" lIns="12700" tIns="12700" rIns="12700" bIns="12700" rtlCol="0" anchor="t">
            <a:noAutofit/>
          </a:bodyPr>
          <a:lstStyle/>
          <a:p>
            <a:pPr algn="ctr" indent="0" marL="0">
              <a:lnSpc>
                <a:spcPct val="110000"/>
              </a:lnSpc>
              <a:buNone/>
              <a:defRPr spc="0"/>
            </a:pPr>
            <a:r>
              <a:rPr lang="en-US" sz="1200" dirty="0" spc="0">
                <a:solidFill>
                  <a:srgbClr val="000000"/>
                </a:solidFill>
                <a:latin typeface="Arial" pitchFamily="34" charset="0"/>
                <a:ea typeface="Arial" pitchFamily="34" charset="-122"/>
                <a:cs typeface="Arial" pitchFamily="34" charset="-120"/>
              </a:rPr>
              <a:t>Adoption</a:t>
            </a:r>
            <a:endParaRPr lang="en-US" sz="1200" dirty="0" spc="0"/>
          </a:p>
        </p:txBody>
      </p:sp>
      <p:sp>
        <p:nvSpPr>
          <p:cNvPr id="28" name="capacity-term-label-3"/>
          <p:cNvSpPr txBox="1"/>
          <p:nvPr/>
        </p:nvSpPr>
        <p:spPr>
          <a:xfrm>
            <a:off x="2647950" y="2463800"/>
            <a:ext cx="495300" cy="431800"/>
          </a:xfrm>
          <a:prstGeom prst="rect">
            <a:avLst/>
          </a:prstGeom>
          <a:noFill/>
          <a:ln/>
        </p:spPr>
        <p:txBody>
          <a:bodyPr wrap="square" lIns="12700" tIns="12700" rIns="12700" bIns="12700" rtlCol="0" anchor="t">
            <a:noAutofit/>
          </a:bodyPr>
          <a:lstStyle/>
          <a:p>
            <a:pPr algn="ctr" indent="0" marL="0">
              <a:lnSpc>
                <a:spcPct val="110000"/>
              </a:lnSpc>
              <a:buNone/>
              <a:defRPr spc="0"/>
            </a:pPr>
            <a:r>
              <a:rPr lang="en-US" sz="1200" dirty="0" spc="0">
                <a:solidFill>
                  <a:srgbClr val="000000"/>
                </a:solidFill>
                <a:latin typeface="Arial" pitchFamily="34" charset="0"/>
                <a:ea typeface="Arial" pitchFamily="34" charset="-122"/>
                <a:cs typeface="Arial" pitchFamily="34" charset="-120"/>
              </a:rPr>
              <a:t>Time</a:t>
            </a:r>
            <a:endParaRPr lang="en-US" sz="1200" dirty="0" spc="0"/>
          </a:p>
          <a:p>
            <a:pPr algn="ctr" indent="0" marL="0">
              <a:lnSpc>
                <a:spcPct val="110000"/>
              </a:lnSpc>
              <a:buNone/>
              <a:defRPr spc="0"/>
            </a:pPr>
            <a:r>
              <a:rPr lang="en-US" sz="1200" dirty="0" spc="0">
                <a:solidFill>
                  <a:srgbClr val="000000"/>
                </a:solidFill>
                <a:latin typeface="Arial" pitchFamily="34" charset="0"/>
                <a:ea typeface="Arial" pitchFamily="34" charset="-122"/>
                <a:cs typeface="Arial" pitchFamily="34" charset="-120"/>
              </a:rPr>
              <a:t>saved</a:t>
            </a:r>
            <a:endParaRPr lang="en-US" sz="1200" dirty="0" spc="0"/>
          </a:p>
        </p:txBody>
      </p:sp>
      <p:sp>
        <p:nvSpPr>
          <p:cNvPr id="29" name="capacity-valuation"/>
          <p:cNvSpPr txBox="1"/>
          <p:nvPr/>
        </p:nvSpPr>
        <p:spPr>
          <a:xfrm>
            <a:off x="247650" y="3270250"/>
            <a:ext cx="1612900" cy="317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1,944 h × $125/h =</a:t>
            </a:r>
            <a:endParaRPr lang="en-US" sz="1400" dirty="0" spc="0"/>
          </a:p>
        </p:txBody>
      </p:sp>
      <p:sp>
        <p:nvSpPr>
          <p:cNvPr id="30" name="capacity-value"/>
          <p:cNvSpPr txBox="1"/>
          <p:nvPr/>
        </p:nvSpPr>
        <p:spPr>
          <a:xfrm>
            <a:off x="1879600" y="3270250"/>
            <a:ext cx="1555750" cy="317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$243k</a:t>
            </a:r>
            <a:endParaRPr lang="en-US" sz="1400" dirty="0" spc="0"/>
          </a:p>
        </p:txBody>
      </p:sp>
      <p:sp>
        <p:nvSpPr>
          <p:cNvPr id="31" name="capacity-equivalent"/>
          <p:cNvSpPr txBox="1"/>
          <p:nvPr/>
        </p:nvSpPr>
        <p:spPr>
          <a:xfrm>
            <a:off x="260350" y="3594100"/>
            <a:ext cx="3670300" cy="2730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annual capacity equivalent</a:t>
            </a:r>
            <a:endParaRPr lang="en-US" sz="1400" dirty="0" spc="0"/>
          </a:p>
        </p:txBody>
      </p:sp>
      <p:sp>
        <p:nvSpPr>
          <p:cNvPr id="32" name="remaining-investment"/>
          <p:cNvSpPr txBox="1"/>
          <p:nvPr/>
        </p:nvSpPr>
        <p:spPr>
          <a:xfrm>
            <a:off x="4013200" y="3721100"/>
            <a:ext cx="2552700" cy="444500"/>
          </a:xfrm>
          <a:prstGeom prst="rect">
            <a:avLst/>
          </a:prstGeom>
          <a:noFill/>
          <a:ln/>
        </p:spPr>
        <p:txBody>
          <a:bodyPr wrap="square" lIns="12700" tIns="12700" rIns="12700" bIns="12700" rtlCol="0" anchor="t">
            <a:noAutofit/>
          </a:bodyPr>
          <a:lstStyle/>
          <a:p>
            <a:pPr algn="l" indent="0" marL="0">
              <a:lnSpc>
                <a:spcPct val="110000"/>
              </a:lnSpc>
              <a:buNone/>
              <a:defRPr spc="0"/>
            </a:pPr>
            <a:r>
              <a:rPr lang="en-US" sz="1400" dirty="0" spc="0">
                <a:solidFill>
                  <a:srgbClr val="000000"/>
                </a:solidFill>
                <a:latin typeface="Arial" pitchFamily="34" charset="0"/>
                <a:ea typeface="Arial" pitchFamily="34" charset="-122"/>
                <a:cs typeface="Arial" pitchFamily="34" charset="-120"/>
              </a:rPr>
              <a:t>Remaining implementation</a:t>
            </a:r>
            <a:endParaRPr lang="en-US" sz="1400" dirty="0" spc="0"/>
          </a:p>
          <a:p>
            <a:pPr algn="l" indent="0" marL="0">
              <a:lnSpc>
                <a:spcPct val="110000"/>
              </a:lnSpc>
              <a:buNone/>
              <a:defRPr spc="0"/>
            </a:pPr>
            <a:r>
              <a:rPr lang="en-US" sz="1400" dirty="0" spc="0">
                <a:solidFill>
                  <a:srgbClr val="000000"/>
                </a:solidFill>
                <a:latin typeface="Arial" pitchFamily="34" charset="0"/>
                <a:ea typeface="Arial" pitchFamily="34" charset="-122"/>
                <a:cs typeface="Arial" pitchFamily="34" charset="-120"/>
              </a:rPr>
              <a:t>after the pilot $60k.</a:t>
            </a:r>
            <a:endParaRPr lang="en-US" sz="1400" dirty="0" spc="0"/>
          </a:p>
        </p:txBody>
      </p:sp>
      <p:sp>
        <p:nvSpPr>
          <p:cNvPr id="33" name="criterion-heading-0"/>
          <p:cNvSpPr txBox="1"/>
          <p:nvPr/>
        </p:nvSpPr>
        <p:spPr>
          <a:xfrm>
            <a:off x="831850" y="4368800"/>
            <a:ext cx="27749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GO</a:t>
            </a:r>
            <a:endParaRPr lang="en-US" sz="1400" dirty="0" spc="0"/>
          </a:p>
        </p:txBody>
      </p:sp>
      <p:sp>
        <p:nvSpPr>
          <p:cNvPr id="34" name="criterion-body-0"/>
          <p:cNvSpPr txBox="1"/>
          <p:nvPr/>
        </p:nvSpPr>
        <p:spPr>
          <a:xfrm>
            <a:off x="831850" y="4699000"/>
            <a:ext cx="3117850" cy="577850"/>
          </a:xfrm>
          <a:prstGeom prst="rect">
            <a:avLst/>
          </a:prstGeom>
          <a:noFill/>
          <a:ln/>
        </p:spPr>
        <p:txBody>
          <a:bodyPr wrap="square" lIns="12700" tIns="12700" rIns="12700" bIns="12700" rtlCol="0" anchor="t">
            <a:noAutofit/>
          </a:bodyPr>
          <a:lstStyle/>
          <a:p>
            <a:pPr algn="l" indent="0" marL="0">
              <a:lnSpc>
                <a:spcPct val="135000"/>
              </a:lnSpc>
              <a:buNone/>
              <a:defRPr spc="0"/>
            </a:pPr>
            <a:r>
              <a:rPr lang="en-US" sz="1400" dirty="0" spc="0">
                <a:solidFill>
                  <a:srgbClr val="000000"/>
                </a:solidFill>
                <a:latin typeface="Arial" pitchFamily="34" charset="0"/>
                <a:ea typeface="Arial" pitchFamily="34" charset="-122"/>
                <a:cs typeface="Arial" pitchFamily="34" charset="-120"/>
              </a:rPr>
              <a:t>All four gates hold.</a:t>
            </a:r>
            <a:endParaRPr lang="en-US" sz="1400" dirty="0" spc="0"/>
          </a:p>
          <a:p>
            <a:pPr algn="l" indent="0" marL="0">
              <a:lnSpc>
                <a:spcPct val="135000"/>
              </a:lnSpc>
              <a:buNone/>
              <a:defRPr spc="0"/>
            </a:pPr>
            <a:r>
              <a:rPr lang="en-US" sz="1400" dirty="0" spc="0">
                <a:solidFill>
                  <a:srgbClr val="000000"/>
                </a:solidFill>
                <a:latin typeface="Arial" pitchFamily="34" charset="0"/>
                <a:ea typeface="Arial" pitchFamily="34" charset="-122"/>
                <a:cs typeface="Arial" pitchFamily="34" charset="-120"/>
              </a:rPr>
              <a:t>Practice lead owns rollout.</a:t>
            </a:r>
            <a:endParaRPr lang="en-US" sz="1400" dirty="0" spc="0"/>
          </a:p>
        </p:txBody>
      </p:sp>
      <p:sp>
        <p:nvSpPr>
          <p:cNvPr id="35" name="criterion-heading-1"/>
          <p:cNvSpPr txBox="1"/>
          <p:nvPr/>
        </p:nvSpPr>
        <p:spPr>
          <a:xfrm>
            <a:off x="4775200" y="4368800"/>
            <a:ext cx="27749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HOLD</a:t>
            </a:r>
            <a:endParaRPr lang="en-US" sz="1400" dirty="0" spc="0"/>
          </a:p>
        </p:txBody>
      </p:sp>
      <p:sp>
        <p:nvSpPr>
          <p:cNvPr id="36" name="criterion-body-1"/>
          <p:cNvSpPr txBox="1"/>
          <p:nvPr/>
        </p:nvSpPr>
        <p:spPr>
          <a:xfrm>
            <a:off x="4775200" y="4699000"/>
            <a:ext cx="3117850" cy="577850"/>
          </a:xfrm>
          <a:prstGeom prst="rect">
            <a:avLst/>
          </a:prstGeom>
          <a:noFill/>
          <a:ln/>
        </p:spPr>
        <p:txBody>
          <a:bodyPr wrap="square" lIns="12700" tIns="12700" rIns="12700" bIns="12700" rtlCol="0" anchor="t">
            <a:noAutofit/>
          </a:bodyPr>
          <a:lstStyle/>
          <a:p>
            <a:pPr algn="l" indent="0" marL="0">
              <a:lnSpc>
                <a:spcPct val="135000"/>
              </a:lnSpc>
              <a:buNone/>
              <a:defRPr spc="0"/>
            </a:pPr>
            <a:r>
              <a:rPr lang="en-US" sz="1400" dirty="0" spc="0">
                <a:solidFill>
                  <a:srgbClr val="000000"/>
                </a:solidFill>
                <a:latin typeface="Arial" pitchFamily="34" charset="0"/>
                <a:ea typeface="Arial" pitchFamily="34" charset="-122"/>
                <a:cs typeface="Arial" pitchFamily="34" charset="-120"/>
              </a:rPr>
              <a:t>Evidence or usage is weak.</a:t>
            </a:r>
            <a:endParaRPr lang="en-US" sz="1400" dirty="0" spc="0"/>
          </a:p>
          <a:p>
            <a:pPr algn="l" indent="0" marL="0">
              <a:lnSpc>
                <a:spcPct val="135000"/>
              </a:lnSpc>
              <a:buNone/>
              <a:defRPr spc="0"/>
            </a:pPr>
            <a:r>
              <a:rPr lang="en-US" sz="1400" dirty="0" spc="0">
                <a:solidFill>
                  <a:srgbClr val="000000"/>
                </a:solidFill>
                <a:latin typeface="Arial" pitchFamily="34" charset="0"/>
                <a:ea typeface="Arial" pitchFamily="34" charset="-122"/>
                <a:cs typeface="Arial" pitchFamily="34" charset="-120"/>
              </a:rPr>
              <a:t>Extend within an agreed cap.</a:t>
            </a:r>
            <a:endParaRPr lang="en-US" sz="1400" dirty="0" spc="0"/>
          </a:p>
        </p:txBody>
      </p:sp>
      <p:sp>
        <p:nvSpPr>
          <p:cNvPr id="37" name="criterion-heading-2"/>
          <p:cNvSpPr txBox="1"/>
          <p:nvPr/>
        </p:nvSpPr>
        <p:spPr>
          <a:xfrm>
            <a:off x="8763000" y="4368800"/>
            <a:ext cx="27749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STOP</a:t>
            </a:r>
            <a:endParaRPr lang="en-US" sz="1400" dirty="0" spc="0"/>
          </a:p>
        </p:txBody>
      </p:sp>
      <p:sp>
        <p:nvSpPr>
          <p:cNvPr id="38" name="criterion-body-2"/>
          <p:cNvSpPr txBox="1"/>
          <p:nvPr/>
        </p:nvSpPr>
        <p:spPr>
          <a:xfrm>
            <a:off x="8763000" y="4699000"/>
            <a:ext cx="3117850" cy="577850"/>
          </a:xfrm>
          <a:prstGeom prst="rect">
            <a:avLst/>
          </a:prstGeom>
          <a:noFill/>
          <a:ln/>
        </p:spPr>
        <p:txBody>
          <a:bodyPr wrap="square" lIns="12700" tIns="12700" rIns="12700" bIns="12700" rtlCol="0" anchor="t">
            <a:noAutofit/>
          </a:bodyPr>
          <a:lstStyle/>
          <a:p>
            <a:pPr algn="l" indent="0" marL="0">
              <a:lnSpc>
                <a:spcPct val="135000"/>
              </a:lnSpc>
              <a:buNone/>
              <a:defRPr spc="0"/>
            </a:pPr>
            <a:r>
              <a:rPr lang="en-US" sz="1400" dirty="0" spc="0">
                <a:solidFill>
                  <a:srgbClr val="000000"/>
                </a:solidFill>
                <a:latin typeface="Arial" pitchFamily="34" charset="0"/>
                <a:ea typeface="Arial" pitchFamily="34" charset="-122"/>
                <a:cs typeface="Arial" pitchFamily="34" charset="-120"/>
              </a:rPr>
              <a:t>A critical data control fails.</a:t>
            </a:r>
            <a:endParaRPr lang="en-US" sz="1400" dirty="0" spc="0"/>
          </a:p>
          <a:p>
            <a:pPr algn="l" indent="0" marL="0">
              <a:lnSpc>
                <a:spcPct val="135000"/>
              </a:lnSpc>
              <a:buNone/>
              <a:defRPr spc="0"/>
            </a:pPr>
            <a:r>
              <a:rPr lang="en-US" sz="1400" dirty="0" spc="0">
                <a:solidFill>
                  <a:srgbClr val="000000"/>
                </a:solidFill>
                <a:latin typeface="Arial" pitchFamily="34" charset="0"/>
                <a:ea typeface="Arial" pitchFamily="34" charset="-122"/>
                <a:cs typeface="Arial" pitchFamily="34" charset="-120"/>
              </a:rPr>
              <a:t>Suspend use and close the issue.</a:t>
            </a:r>
            <a:endParaRPr lang="en-US" sz="1400" dirty="0" spc="0"/>
          </a:p>
        </p:txBody>
      </p:sp>
      <p:sp>
        <p:nvSpPr>
          <p:cNvPr id="39" name="decision-label"/>
          <p:cNvSpPr txBox="1"/>
          <p:nvPr/>
        </p:nvSpPr>
        <p:spPr>
          <a:xfrm>
            <a:off x="635000" y="5689600"/>
            <a:ext cx="266700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APPROVE $25k NOW</a:t>
            </a:r>
            <a:endParaRPr lang="en-US" sz="1400" dirty="0" spc="0"/>
          </a:p>
        </p:txBody>
      </p:sp>
      <p:sp>
        <p:nvSpPr>
          <p:cNvPr id="40" name="decision-message"/>
          <p:cNvSpPr txBox="1"/>
          <p:nvPr/>
        </p:nvSpPr>
        <p:spPr>
          <a:xfrm>
            <a:off x="3556000" y="5689600"/>
            <a:ext cx="803275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Release the remaining $60k only after the week-12 gate.</a:t>
            </a:r>
            <a:endParaRPr lang="en-US" sz="1400" dirty="0" spc="0"/>
          </a:p>
        </p:txBody>
      </p:sp>
      <p:sp>
        <p:nvSpPr>
          <p:cNvPr id="41"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controlled path to shared AI capability</dc:title>
  <dc:subject>Editable presentation generated from SlidePoise scene contracts</dc:subject>
  <dc:creator>SlidePoise</dc:creator>
  <cp:lastModifiedBy>SlidePoise</cp:lastModifiedBy>
  <cp:revision>1</cp:revision>
  <dcterms:created xsi:type="dcterms:W3CDTF">2026-09-05T14:32:41Z</dcterms:created>
  <dcterms:modified xsi:type="dcterms:W3CDTF">2026-09-05T14:32:41Z</dcterms:modified>
</cp:coreProperties>
</file>