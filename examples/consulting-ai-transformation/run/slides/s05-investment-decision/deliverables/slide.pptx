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[SlidePoise sources]
Generated target visual: /private/tmp/.slidepoise-rebuild-h51errnw/slides/s05-investment-decision/work/accepted-slide.png
Canonical asset remix-play-circle-line: /Users/henry/Codes/AI_slide_drafting/examples/consulting-ai-transformation/run/work/icon-cache/play-circle/remix-play-circle-line.svg
Canonical asset remix-pause-circle-line: /Users/henry/Codes/AI_slide_drafting/examples/consulting-ai-transformation/run/work/icon-cache/pause-circle/remix-pause-circle-line.svg
Canonical asset remix-stop-circle-line: /Users/henry/Codes/AI_slide_drafting/examples/consulting-ai-transformation/run/work/icon-cache/stop-circle/remix-stop-circle-line.svg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POISE_MASTER_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_MASTER_HEADER_LEFT"/>
          <p:cNvSpPr/>
          <p:nvPr/>
        </p:nvSpPr>
        <p:spPr>
          <a:xfrm>
            <a:off x="304800" y="31750"/>
            <a:ext cx="5547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NORTHSTAR ADVISORY</a:t>
            </a:r>
            <a:endParaRPr lang="en-US" sz="1000" dirty="0"/>
          </a:p>
        </p:txBody>
      </p:sp>
      <p:sp>
        <p:nvSpPr>
          <p:cNvPr id="3" name="SC_MASTER_HEADER_RIGHT"/>
          <p:cNvSpPr/>
          <p:nvPr/>
        </p:nvSpPr>
        <p:spPr>
          <a:xfrm>
            <a:off x="6339840" y="31750"/>
            <a:ext cx="5547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TRANSFORMATION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04800" y="400050"/>
            <a:ext cx="11582400" cy="0"/>
          </a:xfrm>
          <a:prstGeom prst="line">
            <a:avLst/>
          </a:prstGeom>
          <a:noFill/>
          <a:ln w="6350">
            <a:solidFill>
              <a:srgbClr val="DFE3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800" y="6502400"/>
            <a:ext cx="11582400" cy="0"/>
          </a:xfrm>
          <a:prstGeom prst="line">
            <a:avLst/>
          </a:prstGeom>
          <a:noFill/>
          <a:ln w="6350">
            <a:solidFill>
              <a:srgbClr val="DFE3E6"/>
            </a:solidFill>
            <a:prstDash val="solid"/>
          </a:ln>
        </p:spPr>
      </p:sp>
      <p:sp>
        <p:nvSpPr>
          <p:cNvPr id="6" name="SC_MASTER_FOOTER_LEFT"/>
          <p:cNvSpPr/>
          <p:nvPr/>
        </p:nvSpPr>
        <p:spPr>
          <a:xfrm>
            <a:off x="304800" y="6534150"/>
            <a:ext cx="4267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PLANNING ASSUMPTIONS</a:t>
            </a:r>
            <a:endParaRPr lang="en-US" sz="900" dirty="0"/>
          </a:p>
        </p:txBody>
      </p:sp>
      <p:sp>
        <p:nvSpPr>
          <p:cNvPr id="7" name="SC_MASTER_FOOTER_CENTER"/>
          <p:cNvSpPr/>
          <p:nvPr/>
        </p:nvSpPr>
        <p:spPr>
          <a:xfrm>
            <a:off x="4267200" y="6534150"/>
            <a:ext cx="3657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value is not a cash saving.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71200" y="6534150"/>
            <a:ext cx="1016000" cy="2921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71200" y="6534150"/>
            <a:ext cx="1016000" cy="2921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troduction-rule"/>
          <p:cNvSpPr/>
          <p:nvPr/>
        </p:nvSpPr>
        <p:spPr>
          <a:xfrm>
            <a:off x="292100" y="1409700"/>
            <a:ext cx="11607800" cy="12700"/>
          </a:xfrm>
          <a:prstGeom prst="rect">
            <a:avLst/>
          </a:prstGeom>
          <a:solidFill>
            <a:srgbClr val="91969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capacity-panel"/>
          <p:cNvSpPr/>
          <p:nvPr/>
        </p:nvSpPr>
        <p:spPr>
          <a:xfrm>
            <a:off x="292100" y="1924050"/>
            <a:ext cx="3460750" cy="2032000"/>
          </a:xfrm>
          <a:prstGeom prst="rect">
            <a:avLst/>
          </a:prstGeom>
          <a:solidFill>
            <a:srgbClr val="FFF5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capacity-divider"/>
          <p:cNvSpPr/>
          <p:nvPr/>
        </p:nvSpPr>
        <p:spPr>
          <a:xfrm>
            <a:off x="412750" y="3238500"/>
            <a:ext cx="3111500" cy="6350"/>
          </a:xfrm>
          <a:prstGeom prst="rect">
            <a:avLst/>
          </a:prstGeom>
          <a:solidFill>
            <a:srgbClr val="C1C4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criterion-panel-go"/>
          <p:cNvSpPr/>
          <p:nvPr/>
        </p:nvSpPr>
        <p:spPr>
          <a:xfrm>
            <a:off x="292100" y="4406900"/>
            <a:ext cx="3784600" cy="952500"/>
          </a:xfrm>
          <a:prstGeom prst="rect">
            <a:avLst/>
          </a:prstGeom>
          <a:solidFill>
            <a:srgbClr val="F5F7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criterion-panel-hold"/>
          <p:cNvSpPr/>
          <p:nvPr/>
        </p:nvSpPr>
        <p:spPr>
          <a:xfrm>
            <a:off x="4159250" y="4406900"/>
            <a:ext cx="3784600" cy="952500"/>
          </a:xfrm>
          <a:prstGeom prst="rect">
            <a:avLst/>
          </a:prstGeom>
          <a:solidFill>
            <a:srgbClr val="F5F7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criterion-panel-stop"/>
          <p:cNvSpPr/>
          <p:nvPr/>
        </p:nvSpPr>
        <p:spPr>
          <a:xfrm>
            <a:off x="8026400" y="4406900"/>
            <a:ext cx="3784600" cy="952500"/>
          </a:xfrm>
          <a:prstGeom prst="rect">
            <a:avLst/>
          </a:prstGeom>
          <a:solidFill>
            <a:srgbClr val="F5F7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decision-band"/>
          <p:cNvSpPr/>
          <p:nvPr/>
        </p:nvSpPr>
        <p:spPr>
          <a:xfrm>
            <a:off x="292100" y="5708650"/>
            <a:ext cx="11607800" cy="590550"/>
          </a:xfrm>
          <a:prstGeom prst="rect">
            <a:avLst/>
          </a:prstGeom>
          <a:solidFill>
            <a:srgbClr val="FFF5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decision-accent"/>
          <p:cNvSpPr/>
          <p:nvPr/>
        </p:nvSpPr>
        <p:spPr>
          <a:xfrm>
            <a:off x="292100" y="5708650"/>
            <a:ext cx="50800" cy="590550"/>
          </a:xfrm>
          <a:prstGeom prst="rect">
            <a:avLst/>
          </a:prstGeom>
          <a:solidFill>
            <a:srgbClr val="FD51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aphicFrame>
        <p:nvGraphicFramePr>
          <p:cNvPr id="10" name="investmen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7000" y="1924050"/>
          <a:ext cx="3079750" cy="1727200"/>
        </p:xfrm>
        <a:graphic>
          <a:graphicData uri="http://schemas.openxmlformats.org/drawingml/2006/table">
            <a:tbl>
              <a:tblPr/>
              <a:tblGrid>
                <a:gridCol w="1809750"/>
                <a:gridCol w="1270000"/>
              </a:tblGrid>
              <a:tr h="33020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item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Amount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4925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$85k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25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Pilot included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  <a:tr h="34925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operations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25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First-year total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$115k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sensitivity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07250" y="1924050"/>
          <a:ext cx="4686300" cy="2032000"/>
        </p:xfrm>
        <a:graphic>
          <a:graphicData uri="http://schemas.openxmlformats.org/drawingml/2006/table">
            <a:tbl>
              <a:tblPr/>
              <a:tblGrid>
                <a:gridCol w="730250"/>
                <a:gridCol w="666750"/>
                <a:gridCol w="603250"/>
                <a:gridCol w="666750"/>
                <a:gridCol w="685800"/>
                <a:gridCol w="711200"/>
                <a:gridCol w="622300"/>
              </a:tblGrid>
              <a:tr h="55880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Adoption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saved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capacity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First-year value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vs $115k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8895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Downside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$108k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$54k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D510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−$61k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895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1,944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$243k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$121.5k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D510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+$6.5k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D"/>
                    </a:solidFill>
                  </a:tcPr>
                </a:tc>
              </a:tr>
              <a:tr h="49530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Upside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3,240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$202.5k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D510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+$87.5k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headline"/>
          <p:cNvSpPr txBox="1"/>
          <p:nvPr/>
        </p:nvSpPr>
        <p:spPr>
          <a:xfrm>
            <a:off x="292100" y="533400"/>
            <a:ext cx="116078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3200" dirty="0" spc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Release the next investment against evidence</a:t>
            </a:r>
            <a:endParaRPr lang="en-US" sz="3200" dirty="0" spc="0"/>
          </a:p>
        </p:txBody>
      </p:sp>
      <p:sp>
        <p:nvSpPr>
          <p:cNvPr id="13" name="subtitle"/>
          <p:cNvSpPr txBox="1"/>
          <p:nvPr/>
        </p:nvSpPr>
        <p:spPr>
          <a:xfrm>
            <a:off x="298450" y="1047750"/>
            <a:ext cx="11588750" cy="304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6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full first-year cost, a realistic ramp and explicit go/no-go tests.</a:t>
            </a:r>
            <a:endParaRPr lang="en-US" sz="1600" dirty="0" spc="0"/>
          </a:p>
        </p:txBody>
      </p:sp>
      <p:sp>
        <p:nvSpPr>
          <p:cNvPr id="14" name="capacity-heading"/>
          <p:cNvSpPr txBox="1"/>
          <p:nvPr/>
        </p:nvSpPr>
        <p:spPr>
          <a:xfrm>
            <a:off x="292100" y="1644650"/>
            <a:ext cx="3460750" cy="2413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5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BASE-CASE CAPACITY MODEL</a:t>
            </a:r>
            <a:endParaRPr lang="en-US" sz="1350" dirty="0" spc="0"/>
          </a:p>
        </p:txBody>
      </p:sp>
      <p:sp>
        <p:nvSpPr>
          <p:cNvPr id="15" name="capacity-equation"/>
          <p:cNvSpPr txBox="1"/>
          <p:nvPr/>
        </p:nvSpPr>
        <p:spPr>
          <a:xfrm>
            <a:off x="406400" y="2044700"/>
            <a:ext cx="3206750" cy="7302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 indent="0" marL="0">
              <a:lnSpc>
                <a:spcPct val="100000"/>
              </a:lnSpc>
              <a:buNone/>
              <a:defRPr spc="0"/>
            </a:pPr>
            <a:r>
              <a:rPr lang="en-US" sz="2150" b="1" dirty="0" spc="0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 × 12 h × 60% × 30%</a:t>
            </a:r>
            <a:endParaRPr lang="en-US" sz="2150" dirty="0" spc="0"/>
          </a:p>
          <a:p>
            <a:pPr algn="ctr" indent="0" marL="0">
              <a:lnSpc>
                <a:spcPct val="100000"/>
              </a:lnSpc>
              <a:buNone/>
              <a:defRPr spc="0"/>
            </a:pPr>
            <a:r>
              <a:rPr lang="en-US" sz="2150" b="1" dirty="0" spc="0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1,944 h</a:t>
            </a:r>
            <a:endParaRPr lang="en-US" sz="2150" dirty="0" spc="0"/>
          </a:p>
        </p:txBody>
      </p:sp>
      <p:sp>
        <p:nvSpPr>
          <p:cNvPr id="16" name="capacity-labels"/>
          <p:cNvSpPr txBox="1"/>
          <p:nvPr/>
        </p:nvSpPr>
        <p:spPr>
          <a:xfrm>
            <a:off x="412750" y="2781300"/>
            <a:ext cx="3175000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 indent="0" marL="0">
              <a:lnSpc>
                <a:spcPct val="100000"/>
              </a:lnSpc>
              <a:buNone/>
              <a:defRPr spc="0"/>
            </a:pPr>
            <a:r>
              <a:rPr lang="en-US" sz="95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Engagements Research time Adoption Time saved</a:t>
            </a:r>
            <a:endParaRPr lang="en-US" sz="950" dirty="0" spc="0"/>
          </a:p>
        </p:txBody>
      </p:sp>
      <p:sp>
        <p:nvSpPr>
          <p:cNvPr id="17" name="capacity-value"/>
          <p:cNvSpPr txBox="1"/>
          <p:nvPr/>
        </p:nvSpPr>
        <p:spPr>
          <a:xfrm>
            <a:off x="412750" y="3390900"/>
            <a:ext cx="1714500" cy="279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5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1,944 h × $125/h =</a:t>
            </a:r>
            <a:endParaRPr lang="en-US" sz="1350" dirty="0" spc="0"/>
          </a:p>
        </p:txBody>
      </p:sp>
      <p:sp>
        <p:nvSpPr>
          <p:cNvPr id="18" name="capacity-value-number"/>
          <p:cNvSpPr txBox="1"/>
          <p:nvPr/>
        </p:nvSpPr>
        <p:spPr>
          <a:xfrm>
            <a:off x="2095500" y="3302000"/>
            <a:ext cx="1397000" cy="3810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2350" b="1" dirty="0" spc="0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$243k</a:t>
            </a:r>
            <a:endParaRPr lang="en-US" sz="2350" dirty="0" spc="0"/>
          </a:p>
        </p:txBody>
      </p:sp>
      <p:sp>
        <p:nvSpPr>
          <p:cNvPr id="19" name="capacity-caption"/>
          <p:cNvSpPr txBox="1"/>
          <p:nvPr/>
        </p:nvSpPr>
        <p:spPr>
          <a:xfrm>
            <a:off x="412750" y="3708400"/>
            <a:ext cx="2984500" cy="2159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1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capacity equivalent</a:t>
            </a:r>
            <a:endParaRPr lang="en-US" sz="1100" dirty="0" spc="0"/>
          </a:p>
        </p:txBody>
      </p:sp>
      <p:sp>
        <p:nvSpPr>
          <p:cNvPr id="20" name="investment-heading"/>
          <p:cNvSpPr txBox="1"/>
          <p:nvPr/>
        </p:nvSpPr>
        <p:spPr>
          <a:xfrm>
            <a:off x="3937000" y="1644650"/>
            <a:ext cx="3079750" cy="2413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5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</a:t>
            </a:r>
            <a:endParaRPr lang="en-US" sz="1350" dirty="0" spc="0"/>
          </a:p>
        </p:txBody>
      </p:sp>
      <p:sp>
        <p:nvSpPr>
          <p:cNvPr id="21" name="investment-note"/>
          <p:cNvSpPr txBox="1"/>
          <p:nvPr/>
        </p:nvSpPr>
        <p:spPr>
          <a:xfrm>
            <a:off x="3937000" y="3708400"/>
            <a:ext cx="3079750" cy="228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05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implementation after the pilot $60k.</a:t>
            </a:r>
            <a:endParaRPr lang="en-US" sz="1050" dirty="0" spc="0"/>
          </a:p>
        </p:txBody>
      </p:sp>
      <p:sp>
        <p:nvSpPr>
          <p:cNvPr id="22" name="sensitivity-heading"/>
          <p:cNvSpPr txBox="1"/>
          <p:nvPr/>
        </p:nvSpPr>
        <p:spPr>
          <a:xfrm>
            <a:off x="7207250" y="1644650"/>
            <a:ext cx="4686300" cy="2413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5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FIRST-YEAR SENSITIVITY · 50% RAMP</a:t>
            </a:r>
            <a:endParaRPr lang="en-US" sz="1350" dirty="0" spc="0"/>
          </a:p>
        </p:txBody>
      </p:sp>
      <p:sp>
        <p:nvSpPr>
          <p:cNvPr id="23" name="criteria-heading"/>
          <p:cNvSpPr txBox="1"/>
          <p:nvPr/>
        </p:nvSpPr>
        <p:spPr>
          <a:xfrm>
            <a:off x="292100" y="4152900"/>
            <a:ext cx="5715000" cy="228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5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CRITERIA</a:t>
            </a:r>
            <a:endParaRPr lang="en-US" sz="1350" dirty="0" spc="0"/>
          </a:p>
        </p:txBody>
      </p:sp>
      <p:sp>
        <p:nvSpPr>
          <p:cNvPr id="24" name="criterion-label-go"/>
          <p:cNvSpPr txBox="1"/>
          <p:nvPr/>
        </p:nvSpPr>
        <p:spPr>
          <a:xfrm>
            <a:off x="1371600" y="4546600"/>
            <a:ext cx="1143000" cy="2540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50" b="1" dirty="0" spc="0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</a:t>
            </a:r>
            <a:endParaRPr lang="en-US" sz="1350" dirty="0" spc="0"/>
          </a:p>
        </p:txBody>
      </p:sp>
      <p:sp>
        <p:nvSpPr>
          <p:cNvPr id="25" name="criterion-body-go"/>
          <p:cNvSpPr txBox="1"/>
          <p:nvPr/>
        </p:nvSpPr>
        <p:spPr>
          <a:xfrm>
            <a:off x="1371600" y="4838700"/>
            <a:ext cx="2476500" cy="412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15000"/>
              </a:lnSpc>
              <a:buNone/>
              <a:defRPr spc="0"/>
            </a:pPr>
            <a:r>
              <a:rPr lang="en-US" sz="11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gates hold.</a:t>
            </a:r>
            <a:endParaRPr lang="en-US" sz="1100" dirty="0" spc="0"/>
          </a:p>
          <a:p>
            <a:pPr algn="l" indent="0" marL="0">
              <a:lnSpc>
                <a:spcPct val="115000"/>
              </a:lnSpc>
              <a:buNone/>
              <a:defRPr spc="0"/>
            </a:pPr>
            <a:r>
              <a:rPr lang="en-US" sz="11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lead owns rollout.</a:t>
            </a:r>
            <a:endParaRPr lang="en-US" sz="1100" dirty="0" spc="0"/>
          </a:p>
        </p:txBody>
      </p:sp>
      <p:sp>
        <p:nvSpPr>
          <p:cNvPr id="26" name="criterion-label-hold"/>
          <p:cNvSpPr txBox="1"/>
          <p:nvPr/>
        </p:nvSpPr>
        <p:spPr>
          <a:xfrm>
            <a:off x="5238750" y="4546600"/>
            <a:ext cx="1143000" cy="2540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50" b="1" dirty="0" spc="0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</a:t>
            </a:r>
            <a:endParaRPr lang="en-US" sz="1350" dirty="0" spc="0"/>
          </a:p>
        </p:txBody>
      </p:sp>
      <p:sp>
        <p:nvSpPr>
          <p:cNvPr id="27" name="criterion-body-hold"/>
          <p:cNvSpPr txBox="1"/>
          <p:nvPr/>
        </p:nvSpPr>
        <p:spPr>
          <a:xfrm>
            <a:off x="5238750" y="4838700"/>
            <a:ext cx="2476500" cy="412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15000"/>
              </a:lnSpc>
              <a:buNone/>
              <a:defRPr spc="0"/>
            </a:pPr>
            <a:r>
              <a:rPr lang="en-US" sz="11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or usage is weak.</a:t>
            </a:r>
            <a:endParaRPr lang="en-US" sz="1100" dirty="0" spc="0"/>
          </a:p>
          <a:p>
            <a:pPr algn="l" indent="0" marL="0">
              <a:lnSpc>
                <a:spcPct val="115000"/>
              </a:lnSpc>
              <a:buNone/>
              <a:defRPr spc="0"/>
            </a:pPr>
            <a:r>
              <a:rPr lang="en-US" sz="11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within an agreed cap.</a:t>
            </a:r>
            <a:endParaRPr lang="en-US" sz="1100" dirty="0" spc="0"/>
          </a:p>
        </p:txBody>
      </p:sp>
      <p:sp>
        <p:nvSpPr>
          <p:cNvPr id="28" name="criterion-label-stop"/>
          <p:cNvSpPr txBox="1"/>
          <p:nvPr/>
        </p:nvSpPr>
        <p:spPr>
          <a:xfrm>
            <a:off x="9105900" y="4546600"/>
            <a:ext cx="1143000" cy="2540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50" b="1" dirty="0" spc="0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1350" dirty="0" spc="0"/>
          </a:p>
        </p:txBody>
      </p:sp>
      <p:sp>
        <p:nvSpPr>
          <p:cNvPr id="29" name="criterion-body-stop"/>
          <p:cNvSpPr txBox="1"/>
          <p:nvPr/>
        </p:nvSpPr>
        <p:spPr>
          <a:xfrm>
            <a:off x="9105900" y="4838700"/>
            <a:ext cx="2476500" cy="412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15000"/>
              </a:lnSpc>
              <a:buNone/>
              <a:defRPr spc="0"/>
            </a:pPr>
            <a:r>
              <a:rPr lang="en-US" sz="11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critical data control fails.</a:t>
            </a:r>
            <a:endParaRPr lang="en-US" sz="1100" dirty="0" spc="0"/>
          </a:p>
          <a:p>
            <a:pPr algn="l" indent="0" marL="0">
              <a:lnSpc>
                <a:spcPct val="115000"/>
              </a:lnSpc>
              <a:buNone/>
              <a:defRPr spc="0"/>
            </a:pPr>
            <a:r>
              <a:rPr lang="en-US" sz="11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Suspend use and close the issue.</a:t>
            </a:r>
            <a:endParaRPr lang="en-US" sz="1100" dirty="0" spc="0"/>
          </a:p>
        </p:txBody>
      </p:sp>
      <p:sp>
        <p:nvSpPr>
          <p:cNvPr id="30" name="decision-label"/>
          <p:cNvSpPr txBox="1"/>
          <p:nvPr/>
        </p:nvSpPr>
        <p:spPr>
          <a:xfrm>
            <a:off x="508000" y="5822950"/>
            <a:ext cx="2730500" cy="3175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$25k NOW</a:t>
            </a:r>
            <a:endParaRPr lang="en-US" sz="1400" dirty="0" spc="0"/>
          </a:p>
        </p:txBody>
      </p:sp>
      <p:sp>
        <p:nvSpPr>
          <p:cNvPr id="31" name="decision-message"/>
          <p:cNvSpPr txBox="1"/>
          <p:nvPr/>
        </p:nvSpPr>
        <p:spPr>
          <a:xfrm>
            <a:off x="3302000" y="5822950"/>
            <a:ext cx="8369300" cy="3175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the remaining $60k only after the week-12 gate.</a:t>
            </a:r>
            <a:endParaRPr lang="en-US" sz="1400" dirty="0" spc="0"/>
          </a:p>
        </p:txBody>
      </p:sp>
      <p:pic>
        <p:nvPicPr>
          <p:cNvPr id="32" name="criterion-icon-go" descr="remix-play-circle-lin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8000" y="4591050"/>
            <a:ext cx="546100" cy="546100"/>
          </a:xfrm>
          <a:prstGeom prst="rect">
            <a:avLst/>
          </a:prstGeom>
        </p:spPr>
      </p:pic>
      <p:pic>
        <p:nvPicPr>
          <p:cNvPr id="33" name="criterion-icon-hold" descr="remix-pause-circle-lin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5150" y="4591050"/>
            <a:ext cx="546100" cy="546100"/>
          </a:xfrm>
          <a:prstGeom prst="rect">
            <a:avLst/>
          </a:prstGeom>
        </p:spPr>
      </p:pic>
      <p:pic>
        <p:nvPicPr>
          <p:cNvPr id="34" name="criterion-icon-stop" descr="remix-stop-circle-lin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2300" y="4591050"/>
            <a:ext cx="546100" cy="546100"/>
          </a:xfrm>
          <a:prstGeom prst="rect">
            <a:avLst/>
          </a:prstGeom>
        </p:spPr>
      </p:pic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71200" y="6534150"/>
            <a:ext cx="1016000" cy="2921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>
            <a:noAutofit/>
          </a:bodyPr>
          <a:lstStyle>
            <a:lvl1pPr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s05-investment-decision</dc:title>
  <dc:subject>Editable presentation generated from SlidePoise scene contracts</dc:subject>
  <dc:creator>SlidePoise</dc:creator>
  <cp:lastModifiedBy>SlidePoise</cp:lastModifiedBy>
  <cp:revision>1</cp:revision>
  <dcterms:created xsi:type="dcterms:W3CDTF">2026-09-08T09:04:44Z</dcterms:created>
  <dcterms:modified xsi:type="dcterms:W3CDTF">2026-09-08T09:04:44Z</dcterms:modified>
</cp:coreProperties>
</file>