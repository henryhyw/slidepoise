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[SlidePoise sources]
Generated target visual: /Users/henry/Codes/AI_slide_drafting/output/showcase-revisions/consulting-v3-authoring/slides/s05-investment-decision/work/accepted-slide.png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POISE_MASTER_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_MASTER_HEADER_LEFT"/>
          <p:cNvSpPr/>
          <p:nvPr/>
        </p:nvSpPr>
        <p:spPr>
          <a:xfrm>
            <a:off x="304800" y="31750"/>
            <a:ext cx="5547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NORTHSTAR ADVISORY</a:t>
            </a:r>
            <a:endParaRPr lang="en-US" sz="1000" dirty="0"/>
          </a:p>
        </p:txBody>
      </p:sp>
      <p:sp>
        <p:nvSpPr>
          <p:cNvPr id="3" name="SC_MASTER_HEADER_RIGHT"/>
          <p:cNvSpPr/>
          <p:nvPr/>
        </p:nvSpPr>
        <p:spPr>
          <a:xfrm>
            <a:off x="6339840" y="31750"/>
            <a:ext cx="5547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TRANSFORMATION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04800" y="400050"/>
            <a:ext cx="11582400" cy="0"/>
          </a:xfrm>
          <a:prstGeom prst="line">
            <a:avLst/>
          </a:prstGeom>
          <a:noFill/>
          <a:ln w="6350">
            <a:solidFill>
              <a:srgbClr val="DFE3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4800" y="6502400"/>
            <a:ext cx="11582400" cy="0"/>
          </a:xfrm>
          <a:prstGeom prst="line">
            <a:avLst/>
          </a:prstGeom>
          <a:noFill/>
          <a:ln w="6350">
            <a:solidFill>
              <a:srgbClr val="DFE3E6"/>
            </a:solidFill>
            <a:prstDash val="solid"/>
          </a:ln>
        </p:spPr>
      </p:sp>
      <p:sp>
        <p:nvSpPr>
          <p:cNvPr id="6" name="SC_MASTER_FOOTER_LEFT"/>
          <p:cNvSpPr/>
          <p:nvPr/>
        </p:nvSpPr>
        <p:spPr>
          <a:xfrm>
            <a:off x="304800" y="6534150"/>
            <a:ext cx="42672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PLANNING ASSUMPTIONS</a:t>
            </a:r>
            <a:endParaRPr lang="en-US" sz="900" dirty="0"/>
          </a:p>
        </p:txBody>
      </p:sp>
      <p:sp>
        <p:nvSpPr>
          <p:cNvPr id="7" name="SC_MASTER_FOOTER_CENTER"/>
          <p:cNvSpPr/>
          <p:nvPr/>
        </p:nvSpPr>
        <p:spPr>
          <a:xfrm>
            <a:off x="4267200" y="6534150"/>
            <a:ext cx="36576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value is not a cash saving.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71200" y="6534150"/>
            <a:ext cx="1016000" cy="2921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71200" y="6534150"/>
            <a:ext cx="1016000" cy="2921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troduction-rule"/>
          <p:cNvSpPr/>
          <p:nvPr/>
        </p:nvSpPr>
        <p:spPr>
          <a:xfrm>
            <a:off x="247650" y="1435100"/>
            <a:ext cx="11690350" cy="12700"/>
          </a:xfrm>
          <a:prstGeom prst="rect">
            <a:avLst/>
          </a:prstGeom>
          <a:solidFill>
            <a:srgbClr val="AAAAA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capacity-divider"/>
          <p:cNvSpPr/>
          <p:nvPr/>
        </p:nvSpPr>
        <p:spPr>
          <a:xfrm>
            <a:off x="247650" y="2927350"/>
            <a:ext cx="2959100" cy="6350"/>
          </a:xfrm>
          <a:prstGeom prst="rect">
            <a:avLst/>
          </a:prstGeom>
          <a:solidFill>
            <a:srgbClr val="B5B5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criteria-rule"/>
          <p:cNvSpPr/>
          <p:nvPr/>
        </p:nvSpPr>
        <p:spPr>
          <a:xfrm>
            <a:off x="241300" y="4171950"/>
            <a:ext cx="11696700" cy="12700"/>
          </a:xfrm>
          <a:prstGeom prst="rect">
            <a:avLst/>
          </a:prstGeom>
          <a:solidFill>
            <a:srgbClr val="DFE3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criteria-divider-1"/>
          <p:cNvSpPr/>
          <p:nvPr/>
        </p:nvSpPr>
        <p:spPr>
          <a:xfrm>
            <a:off x="3994150" y="4178300"/>
            <a:ext cx="6350" cy="1143000"/>
          </a:xfrm>
          <a:prstGeom prst="rect">
            <a:avLst/>
          </a:prstGeom>
          <a:solidFill>
            <a:srgbClr val="DFE3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criteria-divider-2"/>
          <p:cNvSpPr/>
          <p:nvPr/>
        </p:nvSpPr>
        <p:spPr>
          <a:xfrm>
            <a:off x="7905750" y="4178300"/>
            <a:ext cx="6350" cy="1143000"/>
          </a:xfrm>
          <a:prstGeom prst="rect">
            <a:avLst/>
          </a:prstGeom>
          <a:solidFill>
            <a:srgbClr val="DFE3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decision-band"/>
          <p:cNvSpPr/>
          <p:nvPr/>
        </p:nvSpPr>
        <p:spPr>
          <a:xfrm>
            <a:off x="241300" y="5441950"/>
            <a:ext cx="11696700" cy="876300"/>
          </a:xfrm>
          <a:prstGeom prst="rect">
            <a:avLst/>
          </a:prstGeom>
          <a:solidFill>
            <a:srgbClr val="FFF5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decision-accent"/>
          <p:cNvSpPr/>
          <p:nvPr/>
        </p:nvSpPr>
        <p:spPr>
          <a:xfrm>
            <a:off x="241300" y="5441950"/>
            <a:ext cx="50800" cy="876300"/>
          </a:xfrm>
          <a:prstGeom prst="rect">
            <a:avLst/>
          </a:prstGeom>
          <a:solidFill>
            <a:srgbClr val="FD51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graphicFrame>
        <p:nvGraphicFramePr>
          <p:cNvPr id="9" name="investmen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13200" y="1930400"/>
          <a:ext cx="2393950" cy="1733550"/>
        </p:xfrm>
        <a:graphic>
          <a:graphicData uri="http://schemas.openxmlformats.org/drawingml/2006/table">
            <a:tbl>
              <a:tblPr/>
              <a:tblGrid>
                <a:gridCol w="1466850"/>
                <a:gridCol w="927100"/>
              </a:tblGrid>
              <a:tr h="342900"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 item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 anchor="ctr">
                    <a:lnL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Amount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 anchor="ctr">
                    <a:lnL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200"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 anchor="ctr">
                    <a:lnL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$85k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 anchor="ctr">
                    <a:lnL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6550"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Pilot included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 anchor="ctr">
                    <a:lnL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 anchor="ctr">
                    <a:lnL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</a:tr>
              <a:tr h="355600"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Annual operations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 anchor="ctr">
                    <a:lnL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 anchor="ctr">
                    <a:lnL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8300"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First-year total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 anchor="ctr">
                    <a:lnL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$115k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 anchor="ctr">
                    <a:lnL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E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scenario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37350" y="1930400"/>
          <a:ext cx="5200650" cy="1905000"/>
        </p:xfrm>
        <a:graphic>
          <a:graphicData uri="http://schemas.openxmlformats.org/drawingml/2006/table">
            <a:tbl>
              <a:tblPr/>
              <a:tblGrid>
                <a:gridCol w="857250"/>
                <a:gridCol w="736600"/>
                <a:gridCol w="673100"/>
                <a:gridCol w="749300"/>
                <a:gridCol w="717550"/>
                <a:gridCol w="768350"/>
                <a:gridCol w="698500"/>
              </a:tblGrid>
              <a:tr h="501650"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Scenario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Adoption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saved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Annual 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Annual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capacity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First-year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vs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$115k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Downside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$108k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$54k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D510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−$61k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9900"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1,944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$243k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$121.5k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D510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+$6.5k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</a:tr>
              <a:tr h="476250"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Upside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3,240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$405k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$202.5k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D510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+$87.5k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headline"/>
          <p:cNvSpPr txBox="1"/>
          <p:nvPr/>
        </p:nvSpPr>
        <p:spPr>
          <a:xfrm>
            <a:off x="254000" y="527050"/>
            <a:ext cx="1166495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3200" dirty="0" spc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Release the next investment against evidence</a:t>
            </a:r>
            <a:endParaRPr lang="en-US" sz="3200" dirty="0" spc="0"/>
          </a:p>
        </p:txBody>
      </p:sp>
      <p:sp>
        <p:nvSpPr>
          <p:cNvPr id="12" name="subtitle"/>
          <p:cNvSpPr txBox="1"/>
          <p:nvPr/>
        </p:nvSpPr>
        <p:spPr>
          <a:xfrm>
            <a:off x="260350" y="1060450"/>
            <a:ext cx="11639550" cy="2984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6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full first-year cost, a realistic ramp and explicit go/no-go tests.</a:t>
            </a:r>
            <a:endParaRPr lang="en-US" sz="1600" dirty="0" spc="0"/>
          </a:p>
        </p:txBody>
      </p:sp>
      <p:sp>
        <p:nvSpPr>
          <p:cNvPr id="13" name="capacity-heading"/>
          <p:cNvSpPr txBox="1"/>
          <p:nvPr/>
        </p:nvSpPr>
        <p:spPr>
          <a:xfrm>
            <a:off x="260350" y="1682750"/>
            <a:ext cx="3708400" cy="279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00" b="1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BASE-CASE CAPACITY MODEL</a:t>
            </a:r>
            <a:endParaRPr lang="en-US" sz="1400" dirty="0" spc="0"/>
          </a:p>
        </p:txBody>
      </p:sp>
      <p:sp>
        <p:nvSpPr>
          <p:cNvPr id="14" name="investment-heading"/>
          <p:cNvSpPr txBox="1"/>
          <p:nvPr/>
        </p:nvSpPr>
        <p:spPr>
          <a:xfrm>
            <a:off x="4019550" y="1682750"/>
            <a:ext cx="2393950" cy="279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00" b="1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</a:t>
            </a:r>
            <a:endParaRPr lang="en-US" sz="1400" dirty="0" spc="0"/>
          </a:p>
        </p:txBody>
      </p:sp>
      <p:sp>
        <p:nvSpPr>
          <p:cNvPr id="15" name="sensitivity-heading"/>
          <p:cNvSpPr txBox="1"/>
          <p:nvPr/>
        </p:nvSpPr>
        <p:spPr>
          <a:xfrm>
            <a:off x="6737350" y="1682750"/>
            <a:ext cx="5200650" cy="279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00" b="1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FIRST-YEAR SENSITIVITY · 50% RAMP</a:t>
            </a:r>
            <a:endParaRPr lang="en-US" sz="1400" dirty="0" spc="0"/>
          </a:p>
        </p:txBody>
      </p:sp>
      <p:sp>
        <p:nvSpPr>
          <p:cNvPr id="16" name="capacity-term-0"/>
          <p:cNvSpPr txBox="1"/>
          <p:nvPr/>
        </p:nvSpPr>
        <p:spPr>
          <a:xfrm>
            <a:off x="298450" y="2120900"/>
            <a:ext cx="463550" cy="2857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900</a:t>
            </a:r>
            <a:endParaRPr lang="en-US" sz="1400" dirty="0" spc="0"/>
          </a:p>
        </p:txBody>
      </p:sp>
      <p:sp>
        <p:nvSpPr>
          <p:cNvPr id="17" name="capacity-term-1"/>
          <p:cNvSpPr txBox="1"/>
          <p:nvPr/>
        </p:nvSpPr>
        <p:spPr>
          <a:xfrm>
            <a:off x="812800" y="2120900"/>
            <a:ext cx="222250" cy="2857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400" dirty="0" spc="0"/>
          </a:p>
        </p:txBody>
      </p:sp>
      <p:sp>
        <p:nvSpPr>
          <p:cNvPr id="18" name="capacity-term-2"/>
          <p:cNvSpPr txBox="1"/>
          <p:nvPr/>
        </p:nvSpPr>
        <p:spPr>
          <a:xfrm>
            <a:off x="1079500" y="2120900"/>
            <a:ext cx="495300" cy="2857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h</a:t>
            </a:r>
            <a:endParaRPr lang="en-US" sz="1400" dirty="0" spc="0"/>
          </a:p>
        </p:txBody>
      </p:sp>
      <p:sp>
        <p:nvSpPr>
          <p:cNvPr id="19" name="capacity-term-3"/>
          <p:cNvSpPr txBox="1"/>
          <p:nvPr/>
        </p:nvSpPr>
        <p:spPr>
          <a:xfrm>
            <a:off x="1587500" y="2120900"/>
            <a:ext cx="222250" cy="2857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400" dirty="0" spc="0"/>
          </a:p>
        </p:txBody>
      </p:sp>
      <p:sp>
        <p:nvSpPr>
          <p:cNvPr id="20" name="capacity-term-4"/>
          <p:cNvSpPr txBox="1"/>
          <p:nvPr/>
        </p:nvSpPr>
        <p:spPr>
          <a:xfrm>
            <a:off x="1797050" y="2120900"/>
            <a:ext cx="533400" cy="2857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1400" dirty="0" spc="0"/>
          </a:p>
        </p:txBody>
      </p:sp>
      <p:sp>
        <p:nvSpPr>
          <p:cNvPr id="21" name="capacity-term-5"/>
          <p:cNvSpPr txBox="1"/>
          <p:nvPr/>
        </p:nvSpPr>
        <p:spPr>
          <a:xfrm>
            <a:off x="2330450" y="2120900"/>
            <a:ext cx="222250" cy="2857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400" dirty="0" spc="0"/>
          </a:p>
        </p:txBody>
      </p:sp>
      <p:sp>
        <p:nvSpPr>
          <p:cNvPr id="22" name="capacity-term-6"/>
          <p:cNvSpPr txBox="1"/>
          <p:nvPr/>
        </p:nvSpPr>
        <p:spPr>
          <a:xfrm>
            <a:off x="2540000" y="2120900"/>
            <a:ext cx="527050" cy="2857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400" dirty="0" spc="0"/>
          </a:p>
        </p:txBody>
      </p:sp>
      <p:sp>
        <p:nvSpPr>
          <p:cNvPr id="23" name="capacity-term-7"/>
          <p:cNvSpPr txBox="1"/>
          <p:nvPr/>
        </p:nvSpPr>
        <p:spPr>
          <a:xfrm>
            <a:off x="2959100" y="2120900"/>
            <a:ext cx="203200" cy="2857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400" dirty="0" spc="0"/>
          </a:p>
        </p:txBody>
      </p:sp>
      <p:sp>
        <p:nvSpPr>
          <p:cNvPr id="24" name="capacity-result"/>
          <p:cNvSpPr txBox="1"/>
          <p:nvPr/>
        </p:nvSpPr>
        <p:spPr>
          <a:xfrm>
            <a:off x="3105150" y="2120900"/>
            <a:ext cx="876300" cy="3111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00" b="1" dirty="0" spc="0">
                <a:solidFill>
                  <a:srgbClr val="FD51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1,944 h</a:t>
            </a:r>
            <a:endParaRPr lang="en-US" sz="1400" dirty="0" spc="0"/>
          </a:p>
        </p:txBody>
      </p:sp>
      <p:sp>
        <p:nvSpPr>
          <p:cNvPr id="25" name="capacity-term-label-0"/>
          <p:cNvSpPr txBox="1"/>
          <p:nvPr/>
        </p:nvSpPr>
        <p:spPr>
          <a:xfrm>
            <a:off x="215900" y="2463800"/>
            <a:ext cx="1003300" cy="2857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10000"/>
              </a:lnSpc>
              <a:buNone/>
              <a:defRPr spc="0"/>
            </a:pPr>
            <a:r>
              <a:rPr lang="en-US" sz="12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Engagements</a:t>
            </a:r>
            <a:endParaRPr lang="en-US" sz="1200" dirty="0" spc="0"/>
          </a:p>
        </p:txBody>
      </p:sp>
      <p:sp>
        <p:nvSpPr>
          <p:cNvPr id="26" name="capacity-term-label-1"/>
          <p:cNvSpPr txBox="1"/>
          <p:nvPr/>
        </p:nvSpPr>
        <p:spPr>
          <a:xfrm>
            <a:off x="1225550" y="2463800"/>
            <a:ext cx="704850" cy="4318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10000"/>
              </a:lnSpc>
              <a:buNone/>
              <a:defRPr spc="0"/>
            </a:pPr>
            <a:r>
              <a:rPr lang="en-US" sz="12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1200" dirty="0" spc="0"/>
          </a:p>
          <a:p>
            <a:pPr algn="l" indent="0" marL="0">
              <a:lnSpc>
                <a:spcPct val="110000"/>
              </a:lnSpc>
              <a:buNone/>
              <a:defRPr spc="0"/>
            </a:pPr>
            <a:r>
              <a:rPr lang="en-US" sz="12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1200" dirty="0" spc="0"/>
          </a:p>
        </p:txBody>
      </p:sp>
      <p:sp>
        <p:nvSpPr>
          <p:cNvPr id="27" name="capacity-term-label-2"/>
          <p:cNvSpPr txBox="1"/>
          <p:nvPr/>
        </p:nvSpPr>
        <p:spPr>
          <a:xfrm>
            <a:off x="1949450" y="2463800"/>
            <a:ext cx="685800" cy="2857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10000"/>
              </a:lnSpc>
              <a:buNone/>
              <a:defRPr spc="0"/>
            </a:pPr>
            <a:r>
              <a:rPr lang="en-US" sz="12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Adoption</a:t>
            </a:r>
            <a:endParaRPr lang="en-US" sz="1200" dirty="0" spc="0"/>
          </a:p>
        </p:txBody>
      </p:sp>
      <p:sp>
        <p:nvSpPr>
          <p:cNvPr id="28" name="capacity-term-label-3"/>
          <p:cNvSpPr txBox="1"/>
          <p:nvPr/>
        </p:nvSpPr>
        <p:spPr>
          <a:xfrm>
            <a:off x="2711450" y="2463800"/>
            <a:ext cx="889000" cy="2857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10000"/>
              </a:lnSpc>
              <a:buNone/>
              <a:defRPr spc="0"/>
            </a:pPr>
            <a:r>
              <a:rPr lang="en-US" sz="12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saved</a:t>
            </a:r>
            <a:endParaRPr lang="en-US" sz="1200" dirty="0" spc="0"/>
          </a:p>
        </p:txBody>
      </p:sp>
      <p:sp>
        <p:nvSpPr>
          <p:cNvPr id="29" name="capacity-valuation"/>
          <p:cNvSpPr txBox="1"/>
          <p:nvPr/>
        </p:nvSpPr>
        <p:spPr>
          <a:xfrm>
            <a:off x="247650" y="3270250"/>
            <a:ext cx="1612900" cy="3175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1,944 h × $125/h =</a:t>
            </a:r>
            <a:endParaRPr lang="en-US" sz="1400" dirty="0" spc="0"/>
          </a:p>
        </p:txBody>
      </p:sp>
      <p:sp>
        <p:nvSpPr>
          <p:cNvPr id="30" name="capacity-value"/>
          <p:cNvSpPr txBox="1"/>
          <p:nvPr/>
        </p:nvSpPr>
        <p:spPr>
          <a:xfrm>
            <a:off x="1879600" y="3270250"/>
            <a:ext cx="1555750" cy="3175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00" b="1" dirty="0" spc="0">
                <a:solidFill>
                  <a:srgbClr val="FD51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$243k</a:t>
            </a:r>
            <a:endParaRPr lang="en-US" sz="1400" dirty="0" spc="0"/>
          </a:p>
        </p:txBody>
      </p:sp>
      <p:sp>
        <p:nvSpPr>
          <p:cNvPr id="31" name="capacity-equivalent"/>
          <p:cNvSpPr txBox="1"/>
          <p:nvPr/>
        </p:nvSpPr>
        <p:spPr>
          <a:xfrm>
            <a:off x="260350" y="3594100"/>
            <a:ext cx="3670300" cy="2730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2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capacity equivalent</a:t>
            </a:r>
            <a:endParaRPr lang="en-US" sz="1200" dirty="0" spc="0"/>
          </a:p>
        </p:txBody>
      </p:sp>
      <p:sp>
        <p:nvSpPr>
          <p:cNvPr id="32" name="remaining-investment"/>
          <p:cNvSpPr txBox="1"/>
          <p:nvPr/>
        </p:nvSpPr>
        <p:spPr>
          <a:xfrm>
            <a:off x="4013200" y="3752850"/>
            <a:ext cx="2552700" cy="3810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10000"/>
              </a:lnSpc>
              <a:buNone/>
              <a:defRPr spc="0"/>
            </a:pPr>
            <a:r>
              <a:rPr lang="en-US" sz="12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Remaining implementation after the pilot $60k.</a:t>
            </a:r>
            <a:endParaRPr lang="en-US" sz="1200" dirty="0" spc="0"/>
          </a:p>
        </p:txBody>
      </p:sp>
      <p:sp>
        <p:nvSpPr>
          <p:cNvPr id="33" name="criterion-heading-0"/>
          <p:cNvSpPr txBox="1"/>
          <p:nvPr/>
        </p:nvSpPr>
        <p:spPr>
          <a:xfrm>
            <a:off x="831850" y="4368800"/>
            <a:ext cx="2774950" cy="3048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00" b="1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</a:t>
            </a:r>
            <a:endParaRPr lang="en-US" sz="1400" dirty="0" spc="0"/>
          </a:p>
        </p:txBody>
      </p:sp>
      <p:sp>
        <p:nvSpPr>
          <p:cNvPr id="34" name="criterion-body-0"/>
          <p:cNvSpPr txBox="1"/>
          <p:nvPr/>
        </p:nvSpPr>
        <p:spPr>
          <a:xfrm>
            <a:off x="831850" y="4699000"/>
            <a:ext cx="3117850" cy="5778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35000"/>
              </a:lnSpc>
              <a:buNone/>
              <a:defRPr spc="0"/>
            </a:pPr>
            <a:r>
              <a:rPr lang="en-US" sz="14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four gates hold.</a:t>
            </a:r>
            <a:endParaRPr lang="en-US" sz="1400" dirty="0" spc="0"/>
          </a:p>
          <a:p>
            <a:pPr algn="l" indent="0" marL="0">
              <a:lnSpc>
                <a:spcPct val="135000"/>
              </a:lnSpc>
              <a:buNone/>
              <a:defRPr spc="0"/>
            </a:pPr>
            <a:r>
              <a:rPr lang="en-US" sz="14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lead owns rollout.</a:t>
            </a:r>
            <a:endParaRPr lang="en-US" sz="1400" dirty="0" spc="0"/>
          </a:p>
        </p:txBody>
      </p:sp>
      <p:sp>
        <p:nvSpPr>
          <p:cNvPr id="35" name="criterion-heading-1"/>
          <p:cNvSpPr txBox="1"/>
          <p:nvPr/>
        </p:nvSpPr>
        <p:spPr>
          <a:xfrm>
            <a:off x="4775200" y="4368800"/>
            <a:ext cx="2774950" cy="3048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00" b="1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</a:t>
            </a:r>
            <a:endParaRPr lang="en-US" sz="1400" dirty="0" spc="0"/>
          </a:p>
        </p:txBody>
      </p:sp>
      <p:sp>
        <p:nvSpPr>
          <p:cNvPr id="36" name="criterion-body-1"/>
          <p:cNvSpPr txBox="1"/>
          <p:nvPr/>
        </p:nvSpPr>
        <p:spPr>
          <a:xfrm>
            <a:off x="4775200" y="4699000"/>
            <a:ext cx="3117850" cy="5778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35000"/>
              </a:lnSpc>
              <a:buNone/>
              <a:defRPr spc="0"/>
            </a:pPr>
            <a:r>
              <a:rPr lang="en-US" sz="14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or usage is weak.</a:t>
            </a:r>
            <a:endParaRPr lang="en-US" sz="1400" dirty="0" spc="0"/>
          </a:p>
          <a:p>
            <a:pPr algn="l" indent="0" marL="0">
              <a:lnSpc>
                <a:spcPct val="135000"/>
              </a:lnSpc>
              <a:buNone/>
              <a:defRPr spc="0"/>
            </a:pPr>
            <a:r>
              <a:rPr lang="en-US" sz="14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within an agreed cap.</a:t>
            </a:r>
            <a:endParaRPr lang="en-US" sz="1400" dirty="0" spc="0"/>
          </a:p>
        </p:txBody>
      </p:sp>
      <p:sp>
        <p:nvSpPr>
          <p:cNvPr id="37" name="criterion-heading-2"/>
          <p:cNvSpPr txBox="1"/>
          <p:nvPr/>
        </p:nvSpPr>
        <p:spPr>
          <a:xfrm>
            <a:off x="8763000" y="4368800"/>
            <a:ext cx="2774950" cy="3048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00" b="1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</a:t>
            </a:r>
            <a:endParaRPr lang="en-US" sz="1400" dirty="0" spc="0"/>
          </a:p>
        </p:txBody>
      </p:sp>
      <p:sp>
        <p:nvSpPr>
          <p:cNvPr id="38" name="criterion-body-2"/>
          <p:cNvSpPr txBox="1"/>
          <p:nvPr/>
        </p:nvSpPr>
        <p:spPr>
          <a:xfrm>
            <a:off x="8763000" y="4699000"/>
            <a:ext cx="3117850" cy="5778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35000"/>
              </a:lnSpc>
              <a:buNone/>
              <a:defRPr spc="0"/>
            </a:pPr>
            <a:r>
              <a:rPr lang="en-US" sz="14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critical data control fails.</a:t>
            </a:r>
            <a:endParaRPr lang="en-US" sz="1400" dirty="0" spc="0"/>
          </a:p>
          <a:p>
            <a:pPr algn="l" indent="0" marL="0">
              <a:lnSpc>
                <a:spcPct val="135000"/>
              </a:lnSpc>
              <a:buNone/>
              <a:defRPr spc="0"/>
            </a:pPr>
            <a:r>
              <a:rPr lang="en-US" sz="14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Suspend use and close the issue.</a:t>
            </a:r>
            <a:endParaRPr lang="en-US" sz="1400" dirty="0" spc="0"/>
          </a:p>
        </p:txBody>
      </p:sp>
      <p:sp>
        <p:nvSpPr>
          <p:cNvPr id="39" name="decision-label"/>
          <p:cNvSpPr txBox="1"/>
          <p:nvPr/>
        </p:nvSpPr>
        <p:spPr>
          <a:xfrm>
            <a:off x="666750" y="5746750"/>
            <a:ext cx="3098800" cy="3429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00" b="1" dirty="0" spc="0">
                <a:solidFill>
                  <a:srgbClr val="FD51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$25k NOW</a:t>
            </a:r>
            <a:endParaRPr lang="en-US" sz="1400" dirty="0" spc="0"/>
          </a:p>
        </p:txBody>
      </p:sp>
      <p:sp>
        <p:nvSpPr>
          <p:cNvPr id="40" name="decision-message"/>
          <p:cNvSpPr txBox="1"/>
          <p:nvPr/>
        </p:nvSpPr>
        <p:spPr>
          <a:xfrm>
            <a:off x="4089400" y="5746750"/>
            <a:ext cx="7556500" cy="3429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00" b="1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the remaining $60k only after the week-12 gate.</a:t>
            </a:r>
            <a:endParaRPr lang="en-US" sz="1400" dirty="0" spc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71200" y="6534150"/>
            <a:ext cx="1016000" cy="2921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>
            <a:noAutofit/>
          </a:bodyPr>
          <a:lstStyle>
            <a:lvl1pPr>
              <a:defRPr sz="9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SlidePoise presentation</dc:title>
  <dc:subject>Editable presentation generated from SlidePoise scene contracts</dc:subject>
  <dc:creator>SlidePoise</dc:creator>
  <cp:lastModifiedBy>SlidePoise</cp:lastModifiedBy>
  <cp:revision>1</cp:revision>
  <dcterms:created xsi:type="dcterms:W3CDTF">2026-09-05T14:16:11Z</dcterms:created>
  <dcterms:modified xsi:type="dcterms:W3CDTF">2026-09-05T14:16:11Z</dcterms:modified>
</cp:coreProperties>
</file>