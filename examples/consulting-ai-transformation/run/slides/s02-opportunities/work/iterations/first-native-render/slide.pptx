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0967741935483872"/>
          <c:y val="0"/>
          <c:w val="0.5693548387096774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annual capacity hours</c:v>
                </c:pt>
              </c:strCache>
            </c:strRef>
          </c:tx>
          <c:spPr>
            <a:solidFill>
              <a:srgbClr val="FD5108"/>
            </a:solidFill>
            <a:effectLst/>
          </c:spPr>
          <c:invertIfNegative val="0"/>
          <c:dLbls>
            <c:numFmt formatCode="#,##0&quot; h&quot;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FD510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D510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1A8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1D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Research
synthesis</c:v>
                  </c:pt>
                  <c:pt idx="1">
                    <c:v>Proposal
drafting</c:v>
                  </c:pt>
                  <c:pt idx="2">
                    <c:v>Knowledge
retrieval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1944</c:v>
                </c:pt>
                <c:pt idx="1">
                  <c:v>1440</c:v>
                </c:pt>
                <c:pt idx="2">
                  <c:v>1080</c:v>
                </c:pt>
              </c:numCache>
            </c:numRef>
          </c:val>
        </c:ser>
        <c:dLbls>
          <c:numFmt formatCode="#,##0&quot; h&quot;" sourceLinked="0"/>
          <c:txPr>
            <a:bodyPr/>
            <a:lstStyle/>
            <a:p>
              <a:pPr>
                <a:defRPr b="0" i="0" strike="noStrike" sz="1800" u="none">
                  <a:solidFill>
                    <a:srgbClr val="FD510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44"/>
          <c:min val="0"/>
        </c:scaling>
        <c:delete val="1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/Users/henry/Codes/AI_slide_drafting/output/showcase-revisions/consulting-v3-authoring/slides/s02-opportunities/work/accepted-slide.png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POISE_MASTER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_MASTER_HEADER_LEFT"/>
          <p:cNvSpPr/>
          <p:nvPr/>
        </p:nvSpPr>
        <p:spPr>
          <a:xfrm>
            <a:off x="30480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ADVISORY</a:t>
            </a:r>
            <a:endParaRPr lang="en-US" sz="1000" dirty="0"/>
          </a:p>
        </p:txBody>
      </p:sp>
      <p:sp>
        <p:nvSpPr>
          <p:cNvPr id="3" name="SC_MASTER_HEADER_RIGHT"/>
          <p:cNvSpPr/>
          <p:nvPr/>
        </p:nvSpPr>
        <p:spPr>
          <a:xfrm>
            <a:off x="633984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04800" y="40005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650240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6" name="SC_MASTER_FOOTER_LEFT"/>
          <p:cNvSpPr/>
          <p:nvPr/>
        </p:nvSpPr>
        <p:spPr>
          <a:xfrm>
            <a:off x="304800" y="6534150"/>
            <a:ext cx="426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ASSUMPTIONS</a:t>
            </a:r>
            <a:endParaRPr lang="en-US" sz="900" dirty="0"/>
          </a:p>
        </p:txBody>
      </p:sp>
      <p:sp>
        <p:nvSpPr>
          <p:cNvPr id="7" name="SC_MASTER_FOOTER_CENTER"/>
          <p:cNvSpPr/>
          <p:nvPr/>
        </p:nvSpPr>
        <p:spPr>
          <a:xfrm>
            <a:off x="4267200" y="6534150"/>
            <a:ext cx="3657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value is not a cash saving.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ction-rule"/>
          <p:cNvSpPr/>
          <p:nvPr/>
        </p:nvSpPr>
        <p:spPr>
          <a:xfrm>
            <a:off x="209550" y="1454150"/>
            <a:ext cx="11741150" cy="12700"/>
          </a:xfrm>
          <a:prstGeom prst="rect">
            <a:avLst/>
          </a:prstGeom>
          <a:solidFill>
            <a:srgbClr val="999DA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reason-divider-1"/>
          <p:cNvSpPr/>
          <p:nvPr/>
        </p:nvSpPr>
        <p:spPr>
          <a:xfrm>
            <a:off x="8775700" y="2800350"/>
            <a:ext cx="3175000" cy="6350"/>
          </a:xfrm>
          <a:prstGeom prst="rect">
            <a:avLst/>
          </a:prstGeom>
          <a:solidFill>
            <a:srgbClr val="B5B7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reason-divider-2"/>
          <p:cNvSpPr/>
          <p:nvPr/>
        </p:nvSpPr>
        <p:spPr>
          <a:xfrm>
            <a:off x="8775700" y="3759200"/>
            <a:ext cx="3175000" cy="6350"/>
          </a:xfrm>
          <a:prstGeom prst="rect">
            <a:avLst/>
          </a:prstGeom>
          <a:solidFill>
            <a:srgbClr val="B5B7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overlap-note-panel"/>
          <p:cNvSpPr/>
          <p:nvPr/>
        </p:nvSpPr>
        <p:spPr>
          <a:xfrm>
            <a:off x="8775700" y="4737100"/>
            <a:ext cx="3175000" cy="584200"/>
          </a:xfrm>
          <a:prstGeom prst="rect">
            <a:avLst/>
          </a:prstGeom>
          <a:solidFill>
            <a:srgbClr val="F5F7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decision-band"/>
          <p:cNvSpPr/>
          <p:nvPr/>
        </p:nvSpPr>
        <p:spPr>
          <a:xfrm>
            <a:off x="209550" y="5486400"/>
            <a:ext cx="11747500" cy="806450"/>
          </a:xfrm>
          <a:prstGeom prst="rect">
            <a:avLst/>
          </a:pr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decision-accent"/>
          <p:cNvSpPr/>
          <p:nvPr/>
        </p:nvSpPr>
        <p:spPr>
          <a:xfrm>
            <a:off x="209550" y="5486400"/>
            <a:ext cx="50800" cy="80645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8" name="annual-capacity-chart" descr=""/>
          <p:cNvGraphicFramePr/>
          <p:nvPr/>
        </p:nvGraphicFramePr>
        <p:xfrm>
          <a:off x="196850" y="2063750"/>
          <a:ext cx="3937000" cy="14859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workflow-assump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9550" y="3594100"/>
          <a:ext cx="3695700" cy="1257300"/>
        </p:xfrm>
        <a:graphic>
          <a:graphicData uri="http://schemas.openxmlformats.org/drawingml/2006/table">
            <a:tbl>
              <a:tblPr/>
              <a:tblGrid>
                <a:gridCol w="996950"/>
                <a:gridCol w="920750"/>
                <a:gridCol w="914400"/>
                <a:gridCol w="863600"/>
              </a:tblGrid>
              <a:tr h="3175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saved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11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11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3175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pilot-sequenci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4500" y="2019300"/>
          <a:ext cx="4197350" cy="3213100"/>
        </p:xfrm>
        <a:graphic>
          <a:graphicData uri="http://schemas.openxmlformats.org/drawingml/2006/table">
            <a:tbl>
              <a:tblPr/>
              <a:tblGrid>
                <a:gridCol w="946150"/>
                <a:gridCol w="1606550"/>
                <a:gridCol w="774700"/>
                <a:gridCol w="869950"/>
              </a:tblGrid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readiness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Sequence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699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synthesis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corpus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controls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9207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Permissions need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headline"/>
          <p:cNvSpPr txBox="1"/>
          <p:nvPr/>
        </p:nvSpPr>
        <p:spPr>
          <a:xfrm>
            <a:off x="203200" y="508000"/>
            <a:ext cx="11747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200" dirty="0" spc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where value and control readiness meet</a:t>
            </a:r>
            <a:endParaRPr lang="en-US" sz="3200" dirty="0" spc="0"/>
          </a:p>
        </p:txBody>
      </p:sp>
      <p:sp>
        <p:nvSpPr>
          <p:cNvPr id="12" name="subtitle"/>
          <p:cNvSpPr txBox="1"/>
          <p:nvPr/>
        </p:nvSpPr>
        <p:spPr>
          <a:xfrm>
            <a:off x="203200" y="1066800"/>
            <a:ext cx="117411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6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creates the opportunity. Control readiness sets the sequence.</a:t>
            </a:r>
            <a:endParaRPr lang="en-US" sz="1600" dirty="0" spc="0"/>
          </a:p>
        </p:txBody>
      </p:sp>
      <p:sp>
        <p:nvSpPr>
          <p:cNvPr id="13" name="capacity-heading"/>
          <p:cNvSpPr txBox="1"/>
          <p:nvPr/>
        </p:nvSpPr>
        <p:spPr>
          <a:xfrm>
            <a:off x="203200" y="1625600"/>
            <a:ext cx="39370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CAPACITY POTENTIAL</a:t>
            </a:r>
            <a:endParaRPr lang="en-US" sz="1400" dirty="0" spc="0"/>
          </a:p>
        </p:txBody>
      </p:sp>
      <p:sp>
        <p:nvSpPr>
          <p:cNvPr id="14" name="sequencing-heading"/>
          <p:cNvSpPr txBox="1"/>
          <p:nvPr/>
        </p:nvSpPr>
        <p:spPr>
          <a:xfrm>
            <a:off x="4254500" y="1625600"/>
            <a:ext cx="419735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SEQUENCING TEST</a:t>
            </a:r>
            <a:endParaRPr lang="en-US" sz="1400" dirty="0" spc="0"/>
          </a:p>
        </p:txBody>
      </p:sp>
      <p:sp>
        <p:nvSpPr>
          <p:cNvPr id="15" name="reason-heading"/>
          <p:cNvSpPr txBox="1"/>
          <p:nvPr/>
        </p:nvSpPr>
        <p:spPr>
          <a:xfrm>
            <a:off x="8775700" y="1625600"/>
            <a:ext cx="31750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RESEARCH WINS FIRST</a:t>
            </a:r>
            <a:endParaRPr lang="en-US" sz="1400" dirty="0" spc="0"/>
          </a:p>
        </p:txBody>
      </p:sp>
      <p:sp>
        <p:nvSpPr>
          <p:cNvPr id="16" name="chart-unit"/>
          <p:cNvSpPr txBox="1"/>
          <p:nvPr/>
        </p:nvSpPr>
        <p:spPr>
          <a:xfrm>
            <a:off x="203200" y="1847850"/>
            <a:ext cx="393700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hours</a:t>
            </a:r>
            <a:endParaRPr lang="en-US" sz="1200" dirty="0" spc="0"/>
          </a:p>
        </p:txBody>
      </p:sp>
      <p:sp>
        <p:nvSpPr>
          <p:cNvPr id="17" name="capacity-formula"/>
          <p:cNvSpPr txBox="1"/>
          <p:nvPr/>
        </p:nvSpPr>
        <p:spPr>
          <a:xfrm>
            <a:off x="203200" y="4895850"/>
            <a:ext cx="3943350" cy="501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hours = 900 engagements ×</a:t>
            </a:r>
            <a:endParaRPr lang="en-US" sz="14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h × adoption × time saved</a:t>
            </a:r>
            <a:endParaRPr lang="en-US" sz="1400" dirty="0" spc="0"/>
          </a:p>
        </p:txBody>
      </p:sp>
      <p:sp>
        <p:nvSpPr>
          <p:cNvPr id="18" name="reason-number-01"/>
          <p:cNvSpPr txBox="1"/>
          <p:nvPr/>
        </p:nvSpPr>
        <p:spPr>
          <a:xfrm>
            <a:off x="8769350" y="2006600"/>
            <a:ext cx="45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 spc="0"/>
          </a:p>
        </p:txBody>
      </p:sp>
      <p:sp>
        <p:nvSpPr>
          <p:cNvPr id="19" name="reason-title-01"/>
          <p:cNvSpPr txBox="1"/>
          <p:nvPr/>
        </p:nvSpPr>
        <p:spPr>
          <a:xfrm>
            <a:off x="9340850" y="1993900"/>
            <a:ext cx="27178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Frequent, comparable tasks</a:t>
            </a:r>
            <a:endParaRPr lang="en-US" sz="1400" dirty="0" spc="0"/>
          </a:p>
        </p:txBody>
      </p:sp>
      <p:sp>
        <p:nvSpPr>
          <p:cNvPr id="20" name="reason-detail-01"/>
          <p:cNvSpPr txBox="1"/>
          <p:nvPr/>
        </p:nvSpPr>
        <p:spPr>
          <a:xfrm>
            <a:off x="9340850" y="2241550"/>
            <a:ext cx="2724150" cy="552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engagements use the</a:t>
            </a:r>
            <a:endParaRPr lang="en-US" sz="14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research task.</a:t>
            </a:r>
            <a:endParaRPr lang="en-US" sz="1400" dirty="0" spc="0"/>
          </a:p>
        </p:txBody>
      </p:sp>
      <p:sp>
        <p:nvSpPr>
          <p:cNvPr id="21" name="reason-number-02"/>
          <p:cNvSpPr txBox="1"/>
          <p:nvPr/>
        </p:nvSpPr>
        <p:spPr>
          <a:xfrm>
            <a:off x="8769350" y="3022600"/>
            <a:ext cx="45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 spc="0"/>
          </a:p>
        </p:txBody>
      </p:sp>
      <p:sp>
        <p:nvSpPr>
          <p:cNvPr id="22" name="reason-title-02"/>
          <p:cNvSpPr txBox="1"/>
          <p:nvPr/>
        </p:nvSpPr>
        <p:spPr>
          <a:xfrm>
            <a:off x="9340850" y="3009900"/>
            <a:ext cx="27178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 source corpus</a:t>
            </a:r>
            <a:endParaRPr lang="en-US" sz="1400" dirty="0" spc="0"/>
          </a:p>
        </p:txBody>
      </p:sp>
      <p:sp>
        <p:nvSpPr>
          <p:cNvPr id="23" name="reason-detail-02"/>
          <p:cNvSpPr txBox="1"/>
          <p:nvPr/>
        </p:nvSpPr>
        <p:spPr>
          <a:xfrm>
            <a:off x="9340850" y="3257550"/>
            <a:ext cx="2724150" cy="552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sources limit scope</a:t>
            </a:r>
            <a:endParaRPr lang="en-US" sz="14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simplify review.</a:t>
            </a:r>
            <a:endParaRPr lang="en-US" sz="1400" dirty="0" spc="0"/>
          </a:p>
        </p:txBody>
      </p:sp>
      <p:sp>
        <p:nvSpPr>
          <p:cNvPr id="24" name="reason-number-03"/>
          <p:cNvSpPr txBox="1"/>
          <p:nvPr/>
        </p:nvSpPr>
        <p:spPr>
          <a:xfrm>
            <a:off x="8769350" y="3981450"/>
            <a:ext cx="45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 spc="0"/>
          </a:p>
        </p:txBody>
      </p:sp>
      <p:sp>
        <p:nvSpPr>
          <p:cNvPr id="25" name="reason-title-03"/>
          <p:cNvSpPr txBox="1"/>
          <p:nvPr/>
        </p:nvSpPr>
        <p:spPr>
          <a:xfrm>
            <a:off x="9340850" y="3968750"/>
            <a:ext cx="27178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expert reviewer</a:t>
            </a:r>
            <a:endParaRPr lang="en-US" sz="1400" dirty="0" spc="0"/>
          </a:p>
        </p:txBody>
      </p:sp>
      <p:sp>
        <p:nvSpPr>
          <p:cNvPr id="26" name="reason-detail-03"/>
          <p:cNvSpPr txBox="1"/>
          <p:nvPr/>
        </p:nvSpPr>
        <p:spPr>
          <a:xfrm>
            <a:off x="9340850" y="4216400"/>
            <a:ext cx="2724150" cy="552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accountable reviewer verifies</a:t>
            </a:r>
            <a:endParaRPr lang="en-US" sz="14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before client release.</a:t>
            </a:r>
            <a:endParaRPr lang="en-US" sz="1400" dirty="0" spc="0"/>
          </a:p>
        </p:txBody>
      </p:sp>
      <p:sp>
        <p:nvSpPr>
          <p:cNvPr id="27" name="overlap-qualification"/>
          <p:cNvSpPr txBox="1"/>
          <p:nvPr/>
        </p:nvSpPr>
        <p:spPr>
          <a:xfrm>
            <a:off x="8890000" y="4781550"/>
            <a:ext cx="2959100" cy="520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task overlap before adding</a:t>
            </a:r>
            <a:endParaRPr lang="en-US" sz="14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benefits.</a:t>
            </a:r>
            <a:endParaRPr lang="en-US" sz="1400" dirty="0" spc="0"/>
          </a:p>
        </p:txBody>
      </p:sp>
      <p:sp>
        <p:nvSpPr>
          <p:cNvPr id="28" name="decision-label"/>
          <p:cNvSpPr txBox="1"/>
          <p:nvPr/>
        </p:nvSpPr>
        <p:spPr>
          <a:xfrm>
            <a:off x="654050" y="5746750"/>
            <a:ext cx="2552700" cy="311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BOUNDARY</a:t>
            </a:r>
            <a:endParaRPr lang="en-US" sz="1400" dirty="0" spc="0"/>
          </a:p>
        </p:txBody>
      </p:sp>
      <p:sp>
        <p:nvSpPr>
          <p:cNvPr id="29" name="decision-message"/>
          <p:cNvSpPr txBox="1"/>
          <p:nvPr/>
        </p:nvSpPr>
        <p:spPr>
          <a:xfrm>
            <a:off x="3238500" y="5746750"/>
            <a:ext cx="8382000" cy="311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approved-source research synthesis.</a:t>
            </a:r>
            <a:endParaRPr lang="en-US" sz="1400" dirty="0" spc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>
            <a:noAutofit/>
          </a:bodyPr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2026-09-05T14:15:29Z</dcterms:created>
  <dcterms:modified xsi:type="dcterms:W3CDTF">2026-09-05T14:15:29Z</dcterms:modified>
</cp:coreProperties>
</file>