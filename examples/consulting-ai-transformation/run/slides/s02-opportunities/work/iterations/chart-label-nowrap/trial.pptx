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a="http://schemas.openxmlformats.org/drawingml/2006/main" xmlns:c="http://schemas.openxmlformats.org/drawingml/2006/chart" xmlns:ns2="http://schemas.openxmlformats.org/officeDocument/2006/relationships">
  <c:date1904 val="0"/>
  <c:roundedCorners val="1"/>
  <c:chart>
    <c:autoTitleDeleted val="1"/>
    <c:plotArea>
      <c:layout>
        <c:manualLayout>
          <c:layoutTarget val="inner"/>
          <c:xMode val="edge"/>
          <c:yMode val="edge"/>
          <c:x val="0.20967741935483872"/>
          <c:y val="0"/>
          <c:w val="0.5693548387096774"/>
          <c:h val="1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Illustrative annual capacity hours</c:v>
                </c:pt>
              </c:strCache>
            </c:strRef>
          </c:tx>
          <c:spPr>
            <a:solidFill>
              <a:srgbClr val="FD5108"/>
            </a:solidFill>
            <a:effectLst/>
          </c:spPr>
          <c:invertIfNegative val="0"/>
          <c:dLbls>
            <c:numFmt formatCode="#,##0&quot; h&quot;" sourceLinked="0"/>
            <c:txPr>
              <a:bodyPr wrap="none"/>
              <a:lstStyle/>
              <a:p>
                <a:pPr>
                  <a:defRPr b="0" i="0" strike="noStrike" sz="1800" u="none">
                    <a:solidFill>
                      <a:srgbClr val="FD5108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D510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A1A8B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BD1D6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Research
synthesis</c:v>
                  </c:pt>
                  <c:pt idx="1">
                    <c:v>Proposal
drafting</c:v>
                  </c:pt>
                  <c:pt idx="2">
                    <c:v>Knowledge
retrieval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1944</c:v>
                </c:pt>
                <c:pt idx="1">
                  <c:v>1440</c:v>
                </c:pt>
                <c:pt idx="2">
                  <c:v>1080</c:v>
                </c:pt>
              </c:numCache>
            </c:numRef>
          </c:val>
        </c:ser>
        <c:dLbls>
          <c:numFmt formatCode="#,##0&quot; h&quot;" sourceLinked="0"/>
          <c:txPr>
            <a:bodyPr wrap="none"/>
            <a:lstStyle/>
            <a:p>
              <a:pPr>
                <a:defRPr b="0" i="0" strike="noStrike" sz="1800" u="none">
                  <a:solidFill>
                    <a:srgbClr val="FD5108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944"/>
          <c:min val="0"/>
        </c:scaling>
        <c:delete val="1"/>
        <c:axPos val="b"/>
        <c:majorGridlines>
          <c:spPr>
            <a:ln w="12700" cap="flat">
              <a:solidFill>
                <a:srgbClr val="FFFFF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plotVisOnly val="1"/>
    <c:dispBlanksAs val="span"/>
  </c:chart>
  <c:spPr>
    <a:noFill/>
    <a:ln>
      <a:noFill/>
    </a:ln>
    <a:effectLst/>
  </c:spPr>
  <c:externalData ns2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[SlidePoise sources]
Generated target visual: /Users/henry/Codes/AI_slide_drafting/output/showcase-revisions/consulting-v3-authoring/slides/s02-opportunities/work/accepted-slide.png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POISE_MASTER_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C_MASTER_HEADER_LEFT"/>
          <p:cNvSpPr/>
          <p:nvPr/>
        </p:nvSpPr>
        <p:spPr>
          <a:xfrm>
            <a:off x="304800" y="31750"/>
            <a:ext cx="55473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NORTHSTAR ADVISORY</a:t>
            </a:r>
            <a:endParaRPr lang="en-US" sz="1000" dirty="0"/>
          </a:p>
        </p:txBody>
      </p:sp>
      <p:sp>
        <p:nvSpPr>
          <p:cNvPr id="3" name="SC_MASTER_HEADER_RIGHT"/>
          <p:cNvSpPr/>
          <p:nvPr/>
        </p:nvSpPr>
        <p:spPr>
          <a:xfrm>
            <a:off x="6339840" y="31750"/>
            <a:ext cx="55473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TRANSFORMATION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304800" y="400050"/>
            <a:ext cx="11582400" cy="0"/>
          </a:xfrm>
          <a:prstGeom prst="line">
            <a:avLst/>
          </a:prstGeom>
          <a:noFill/>
          <a:ln w="6350">
            <a:solidFill>
              <a:srgbClr val="DFE3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04800" y="6502400"/>
            <a:ext cx="11582400" cy="0"/>
          </a:xfrm>
          <a:prstGeom prst="line">
            <a:avLst/>
          </a:prstGeom>
          <a:noFill/>
          <a:ln w="6350">
            <a:solidFill>
              <a:srgbClr val="DFE3E6"/>
            </a:solidFill>
            <a:prstDash val="solid"/>
          </a:ln>
        </p:spPr>
      </p:sp>
      <p:sp>
        <p:nvSpPr>
          <p:cNvPr id="6" name="SC_MASTER_FOOTER_LEFT"/>
          <p:cNvSpPr/>
          <p:nvPr/>
        </p:nvSpPr>
        <p:spPr>
          <a:xfrm>
            <a:off x="304800" y="6534150"/>
            <a:ext cx="42672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PLANNING ASSUMPTIONS</a:t>
            </a:r>
            <a:endParaRPr lang="en-US" sz="900" dirty="0"/>
          </a:p>
        </p:txBody>
      </p:sp>
      <p:sp>
        <p:nvSpPr>
          <p:cNvPr id="7" name="SC_MASTER_FOOTER_CENTER"/>
          <p:cNvSpPr/>
          <p:nvPr/>
        </p:nvSpPr>
        <p:spPr>
          <a:xfrm>
            <a:off x="4267200" y="6534150"/>
            <a:ext cx="36576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Capacity value is not a cash saving.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71200" y="6534150"/>
            <a:ext cx="1016000" cy="2921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71200" y="6534150"/>
            <a:ext cx="1016000" cy="2921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troduction-rule"/>
          <p:cNvSpPr/>
          <p:nvPr/>
        </p:nvSpPr>
        <p:spPr>
          <a:xfrm>
            <a:off x="209550" y="1454150"/>
            <a:ext cx="11741150" cy="12700"/>
          </a:xfrm>
          <a:prstGeom prst="rect">
            <a:avLst/>
          </a:prstGeom>
          <a:solidFill>
            <a:srgbClr val="999DA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reason-divider-1"/>
          <p:cNvSpPr/>
          <p:nvPr/>
        </p:nvSpPr>
        <p:spPr>
          <a:xfrm>
            <a:off x="8775700" y="2800350"/>
            <a:ext cx="3175000" cy="6350"/>
          </a:xfrm>
          <a:prstGeom prst="rect">
            <a:avLst/>
          </a:prstGeom>
          <a:solidFill>
            <a:srgbClr val="B5B7B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reason-divider-2"/>
          <p:cNvSpPr/>
          <p:nvPr/>
        </p:nvSpPr>
        <p:spPr>
          <a:xfrm>
            <a:off x="8775700" y="3759200"/>
            <a:ext cx="3175000" cy="6350"/>
          </a:xfrm>
          <a:prstGeom prst="rect">
            <a:avLst/>
          </a:prstGeom>
          <a:solidFill>
            <a:srgbClr val="B5B7B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overlap-note-panel"/>
          <p:cNvSpPr/>
          <p:nvPr/>
        </p:nvSpPr>
        <p:spPr>
          <a:xfrm>
            <a:off x="8775700" y="4737100"/>
            <a:ext cx="3175000" cy="584200"/>
          </a:xfrm>
          <a:prstGeom prst="rect">
            <a:avLst/>
          </a:prstGeom>
          <a:solidFill>
            <a:srgbClr val="F5F7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decision-band"/>
          <p:cNvSpPr/>
          <p:nvPr/>
        </p:nvSpPr>
        <p:spPr>
          <a:xfrm>
            <a:off x="209550" y="5486400"/>
            <a:ext cx="11747500" cy="806450"/>
          </a:xfrm>
          <a:prstGeom prst="rect">
            <a:avLst/>
          </a:prstGeom>
          <a:solidFill>
            <a:srgbClr val="FFF5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decision-accent"/>
          <p:cNvSpPr/>
          <p:nvPr/>
        </p:nvSpPr>
        <p:spPr>
          <a:xfrm>
            <a:off x="209550" y="5486400"/>
            <a:ext cx="50800" cy="806450"/>
          </a:xfrm>
          <a:prstGeom prst="rect">
            <a:avLst/>
          </a:prstGeom>
          <a:solidFill>
            <a:srgbClr val="FD510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graphicFrame>
        <p:nvGraphicFramePr>
          <p:cNvPr id="8" name="annual-capacity-chart" descr=""/>
          <p:cNvGraphicFramePr/>
          <p:nvPr/>
        </p:nvGraphicFramePr>
        <p:xfrm>
          <a:off x="196850" y="2063750"/>
          <a:ext cx="3937000" cy="14859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9" name="workflow-assumption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09550" y="3594100"/>
          <a:ext cx="3695700" cy="1257300"/>
        </p:xfrm>
        <a:graphic>
          <a:graphicData uri="http://schemas.openxmlformats.org/drawingml/2006/table">
            <a:tbl>
              <a:tblPr/>
              <a:tblGrid>
                <a:gridCol w="996950"/>
                <a:gridCol w="920750"/>
                <a:gridCol w="914400"/>
                <a:gridCol w="863600"/>
              </a:tblGrid>
              <a:tr h="317500">
                <a:tc>
                  <a:txBody>
                    <a:bodyPr>
                      <a:noAutofit/>
                    </a:bodyPr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Workflow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AEB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B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B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B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Baseline 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EB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B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B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B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Adoption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EB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B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B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B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Time saved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EB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B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B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B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11150">
                <a:tc>
                  <a:txBody>
                    <a:bodyPr>
                      <a:noAutofit/>
                    </a:bodyPr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Research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AEB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B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B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B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AEB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B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B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B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AEB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B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B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B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AEB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B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B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B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1150">
                <a:tc>
                  <a:txBody>
                    <a:bodyPr>
                      <a:noAutofit/>
                    </a:bodyPr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Proposal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AEB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B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B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B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AEB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B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B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B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AEB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B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B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B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AEB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B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B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B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8"/>
                    </a:solidFill>
                  </a:tcPr>
                </a:tc>
              </a:tr>
              <a:tr h="317500">
                <a:tc>
                  <a:txBody>
                    <a:bodyPr>
                      <a:noAutofit/>
                    </a:bodyPr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Retrieval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AEB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B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B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B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AEB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B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B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B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AEB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B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B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B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AEB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B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B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B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pilot-sequencing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254500" y="2019300"/>
          <a:ext cx="4197350" cy="3213100"/>
        </p:xfrm>
        <a:graphic>
          <a:graphicData uri="http://schemas.openxmlformats.org/drawingml/2006/table">
            <a:tbl>
              <a:tblPr/>
              <a:tblGrid>
                <a:gridCol w="946150"/>
                <a:gridCol w="1606550"/>
                <a:gridCol w="774700"/>
                <a:gridCol w="869950"/>
              </a:tblGrid>
              <a:tr h="482600">
                <a:tc>
                  <a:txBody>
                    <a:bodyPr>
                      <a:noAutofit/>
                    </a:bodyPr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Workflow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AEB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B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B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B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Control readiness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AEB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B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B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B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Owner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EB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B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B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B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Sequence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AEB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B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B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B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869950">
                <a:tc>
                  <a:txBody>
                    <a:bodyPr>
                      <a:noAutofit/>
                    </a:bodyPr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Research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synthesis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AEB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B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B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B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Approved corpus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Explicit review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AEB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B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B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B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Practice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EB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B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B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B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D510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START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AEB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B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B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B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39800">
                <a:tc>
                  <a:txBody>
                    <a:bodyPr>
                      <a:noAutofit/>
                    </a:bodyPr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Proposal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drafting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AEB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B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B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B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Claims and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commitments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need controls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AEB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B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B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B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EB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B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B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B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D510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NEXT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AEB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B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B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B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8"/>
                    </a:solidFill>
                  </a:tcPr>
                </a:tc>
              </a:tr>
              <a:tr h="920750">
                <a:tc>
                  <a:txBody>
                    <a:bodyPr>
                      <a:noAutofit/>
                    </a:bodyPr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Knowledge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retrieval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AEB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B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B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B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Permissions need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cleanup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AEB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B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B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B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Knowledge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EB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B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B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B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D510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LATER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AEB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B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B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B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headline"/>
          <p:cNvSpPr txBox="1"/>
          <p:nvPr/>
        </p:nvSpPr>
        <p:spPr>
          <a:xfrm>
            <a:off x="203200" y="508000"/>
            <a:ext cx="11747500" cy="546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3200" dirty="0" spc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Start where value and control readiness meet</a:t>
            </a:r>
            <a:endParaRPr lang="en-US" sz="3200" dirty="0" spc="0"/>
          </a:p>
        </p:txBody>
      </p:sp>
      <p:sp>
        <p:nvSpPr>
          <p:cNvPr id="12" name="subtitle"/>
          <p:cNvSpPr txBox="1"/>
          <p:nvPr/>
        </p:nvSpPr>
        <p:spPr>
          <a:xfrm>
            <a:off x="203200" y="1066800"/>
            <a:ext cx="11741150" cy="3048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1600" dirty="0" spc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Capacity creates the opportunity. Control readiness sets the sequence.</a:t>
            </a:r>
            <a:endParaRPr lang="en-US" sz="1600" dirty="0" spc="0"/>
          </a:p>
        </p:txBody>
      </p:sp>
      <p:sp>
        <p:nvSpPr>
          <p:cNvPr id="13" name="capacity-heading"/>
          <p:cNvSpPr txBox="1"/>
          <p:nvPr/>
        </p:nvSpPr>
        <p:spPr>
          <a:xfrm>
            <a:off x="203200" y="1625600"/>
            <a:ext cx="3937000" cy="2667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1400" b="1" dirty="0" spc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CAPACITY POTENTIAL</a:t>
            </a:r>
            <a:endParaRPr lang="en-US" sz="1400" dirty="0" spc="0"/>
          </a:p>
        </p:txBody>
      </p:sp>
      <p:sp>
        <p:nvSpPr>
          <p:cNvPr id="14" name="sequencing-heading"/>
          <p:cNvSpPr txBox="1"/>
          <p:nvPr/>
        </p:nvSpPr>
        <p:spPr>
          <a:xfrm>
            <a:off x="4254500" y="1625600"/>
            <a:ext cx="4197350" cy="2667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1400" b="1" dirty="0" spc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SEQUENCING TEST</a:t>
            </a:r>
            <a:endParaRPr lang="en-US" sz="1400" dirty="0" spc="0"/>
          </a:p>
        </p:txBody>
      </p:sp>
      <p:sp>
        <p:nvSpPr>
          <p:cNvPr id="15" name="reason-heading"/>
          <p:cNvSpPr txBox="1"/>
          <p:nvPr/>
        </p:nvSpPr>
        <p:spPr>
          <a:xfrm>
            <a:off x="8775700" y="1625600"/>
            <a:ext cx="3175000" cy="2667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1400" b="1" dirty="0" spc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RESEARCH WINS FIRST</a:t>
            </a:r>
            <a:endParaRPr lang="en-US" sz="1400" dirty="0" spc="0"/>
          </a:p>
        </p:txBody>
      </p:sp>
      <p:sp>
        <p:nvSpPr>
          <p:cNvPr id="16" name="chart-unit"/>
          <p:cNvSpPr txBox="1"/>
          <p:nvPr/>
        </p:nvSpPr>
        <p:spPr>
          <a:xfrm>
            <a:off x="203200" y="1847850"/>
            <a:ext cx="3937000" cy="2286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1200" dirty="0" spc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hours</a:t>
            </a:r>
            <a:endParaRPr lang="en-US" sz="1200" dirty="0" spc="0"/>
          </a:p>
        </p:txBody>
      </p:sp>
      <p:sp>
        <p:nvSpPr>
          <p:cNvPr id="17" name="capacity-formula"/>
          <p:cNvSpPr txBox="1"/>
          <p:nvPr/>
        </p:nvSpPr>
        <p:spPr>
          <a:xfrm>
            <a:off x="203200" y="4895850"/>
            <a:ext cx="3943350" cy="5016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Autofit/>
          </a:bodyPr>
          <a:lstStyle/>
          <a:p>
            <a:pPr algn="l" indent="0" marL="0">
              <a:lnSpc>
                <a:spcPct val="120000"/>
              </a:lnSpc>
              <a:buNone/>
              <a:defRPr spc="0"/>
            </a:pPr>
            <a:r>
              <a:rPr lang="en-US" sz="1400" dirty="0" spc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hours = 900 engagements ×</a:t>
            </a:r>
            <a:endParaRPr lang="en-US" sz="1400" dirty="0" spc="0"/>
          </a:p>
          <a:p>
            <a:pPr algn="l" indent="0" marL="0">
              <a:lnSpc>
                <a:spcPct val="120000"/>
              </a:lnSpc>
              <a:buNone/>
              <a:defRPr spc="0"/>
            </a:pPr>
            <a:r>
              <a:rPr lang="en-US" sz="1400" dirty="0" spc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 h × adoption × time saved</a:t>
            </a:r>
            <a:endParaRPr lang="en-US" sz="1400" dirty="0" spc="0"/>
          </a:p>
        </p:txBody>
      </p:sp>
      <p:sp>
        <p:nvSpPr>
          <p:cNvPr id="18" name="reason-number-01"/>
          <p:cNvSpPr txBox="1"/>
          <p:nvPr/>
        </p:nvSpPr>
        <p:spPr>
          <a:xfrm>
            <a:off x="8769350" y="2006600"/>
            <a:ext cx="4572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2400" b="1" dirty="0" spc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400" dirty="0" spc="0"/>
          </a:p>
        </p:txBody>
      </p:sp>
      <p:sp>
        <p:nvSpPr>
          <p:cNvPr id="19" name="reason-title-01"/>
          <p:cNvSpPr txBox="1"/>
          <p:nvPr/>
        </p:nvSpPr>
        <p:spPr>
          <a:xfrm>
            <a:off x="9340850" y="1993900"/>
            <a:ext cx="2717800" cy="2794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1400" b="1" dirty="0" spc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Frequent, comparable tasks</a:t>
            </a:r>
            <a:endParaRPr lang="en-US" sz="1400" dirty="0" spc="0"/>
          </a:p>
        </p:txBody>
      </p:sp>
      <p:sp>
        <p:nvSpPr>
          <p:cNvPr id="20" name="reason-detail-01"/>
          <p:cNvSpPr txBox="1"/>
          <p:nvPr/>
        </p:nvSpPr>
        <p:spPr>
          <a:xfrm>
            <a:off x="9340850" y="2241550"/>
            <a:ext cx="2724150" cy="5524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Autofit/>
          </a:bodyPr>
          <a:lstStyle/>
          <a:p>
            <a:pPr algn="l" indent="0" marL="0">
              <a:lnSpc>
                <a:spcPct val="120000"/>
              </a:lnSpc>
              <a:buNone/>
              <a:defRPr spc="0"/>
            </a:pPr>
            <a:r>
              <a:rPr lang="en-US" sz="1400" dirty="0" spc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Many engagements use the</a:t>
            </a:r>
            <a:endParaRPr lang="en-US" sz="1400" dirty="0" spc="0"/>
          </a:p>
          <a:p>
            <a:pPr algn="l" indent="0" marL="0">
              <a:lnSpc>
                <a:spcPct val="120000"/>
              </a:lnSpc>
              <a:buNone/>
              <a:defRPr spc="0"/>
            </a:pPr>
            <a:r>
              <a:rPr lang="en-US" sz="1400" dirty="0" spc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research task.</a:t>
            </a:r>
            <a:endParaRPr lang="en-US" sz="1400" dirty="0" spc="0"/>
          </a:p>
        </p:txBody>
      </p:sp>
      <p:sp>
        <p:nvSpPr>
          <p:cNvPr id="21" name="reason-number-02"/>
          <p:cNvSpPr txBox="1"/>
          <p:nvPr/>
        </p:nvSpPr>
        <p:spPr>
          <a:xfrm>
            <a:off x="8769350" y="3022600"/>
            <a:ext cx="4572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2400" b="1" dirty="0" spc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400" dirty="0" spc="0"/>
          </a:p>
        </p:txBody>
      </p:sp>
      <p:sp>
        <p:nvSpPr>
          <p:cNvPr id="22" name="reason-title-02"/>
          <p:cNvSpPr txBox="1"/>
          <p:nvPr/>
        </p:nvSpPr>
        <p:spPr>
          <a:xfrm>
            <a:off x="9340850" y="3009900"/>
            <a:ext cx="2717800" cy="2794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1400" b="1" dirty="0" spc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bounded source corpus</a:t>
            </a:r>
            <a:endParaRPr lang="en-US" sz="1400" dirty="0" spc="0"/>
          </a:p>
        </p:txBody>
      </p:sp>
      <p:sp>
        <p:nvSpPr>
          <p:cNvPr id="23" name="reason-detail-02"/>
          <p:cNvSpPr txBox="1"/>
          <p:nvPr/>
        </p:nvSpPr>
        <p:spPr>
          <a:xfrm>
            <a:off x="9340850" y="3257550"/>
            <a:ext cx="2724150" cy="5524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Autofit/>
          </a:bodyPr>
          <a:lstStyle/>
          <a:p>
            <a:pPr algn="l" indent="0" marL="0">
              <a:lnSpc>
                <a:spcPct val="120000"/>
              </a:lnSpc>
              <a:buNone/>
              <a:defRPr spc="0"/>
            </a:pPr>
            <a:r>
              <a:rPr lang="en-US" sz="1400" dirty="0" spc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Approved sources limit scope</a:t>
            </a:r>
            <a:endParaRPr lang="en-US" sz="1400" dirty="0" spc="0"/>
          </a:p>
          <a:p>
            <a:pPr algn="l" indent="0" marL="0">
              <a:lnSpc>
                <a:spcPct val="120000"/>
              </a:lnSpc>
              <a:buNone/>
              <a:defRPr spc="0"/>
            </a:pPr>
            <a:r>
              <a:rPr lang="en-US" sz="1400" dirty="0" spc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simplify review.</a:t>
            </a:r>
            <a:endParaRPr lang="en-US" sz="1400" dirty="0" spc="0"/>
          </a:p>
        </p:txBody>
      </p:sp>
      <p:sp>
        <p:nvSpPr>
          <p:cNvPr id="24" name="reason-number-03"/>
          <p:cNvSpPr txBox="1"/>
          <p:nvPr/>
        </p:nvSpPr>
        <p:spPr>
          <a:xfrm>
            <a:off x="8769350" y="3981450"/>
            <a:ext cx="4572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2400" b="1" dirty="0" spc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400" dirty="0" spc="0"/>
          </a:p>
        </p:txBody>
      </p:sp>
      <p:sp>
        <p:nvSpPr>
          <p:cNvPr id="25" name="reason-title-03"/>
          <p:cNvSpPr txBox="1"/>
          <p:nvPr/>
        </p:nvSpPr>
        <p:spPr>
          <a:xfrm>
            <a:off x="9340850" y="3968750"/>
            <a:ext cx="2717800" cy="2794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1400" b="1" dirty="0" spc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named expert reviewer</a:t>
            </a:r>
            <a:endParaRPr lang="en-US" sz="1400" dirty="0" spc="0"/>
          </a:p>
        </p:txBody>
      </p:sp>
      <p:sp>
        <p:nvSpPr>
          <p:cNvPr id="26" name="reason-detail-03"/>
          <p:cNvSpPr txBox="1"/>
          <p:nvPr/>
        </p:nvSpPr>
        <p:spPr>
          <a:xfrm>
            <a:off x="9340850" y="4216400"/>
            <a:ext cx="2724150" cy="5524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Autofit/>
          </a:bodyPr>
          <a:lstStyle/>
          <a:p>
            <a:pPr algn="l" indent="0" marL="0">
              <a:lnSpc>
                <a:spcPct val="120000"/>
              </a:lnSpc>
              <a:buNone/>
              <a:defRPr spc="0"/>
            </a:pPr>
            <a:r>
              <a:rPr lang="en-US" sz="1400" dirty="0" spc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accountable reviewer verifies</a:t>
            </a:r>
            <a:endParaRPr lang="en-US" sz="1400" dirty="0" spc="0"/>
          </a:p>
          <a:p>
            <a:pPr algn="l" indent="0" marL="0">
              <a:lnSpc>
                <a:spcPct val="120000"/>
              </a:lnSpc>
              <a:buNone/>
              <a:defRPr spc="0"/>
            </a:pPr>
            <a:r>
              <a:rPr lang="en-US" sz="1400" dirty="0" spc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outputs before client release.</a:t>
            </a:r>
            <a:endParaRPr lang="en-US" sz="1400" dirty="0" spc="0"/>
          </a:p>
        </p:txBody>
      </p:sp>
      <p:sp>
        <p:nvSpPr>
          <p:cNvPr id="27" name="overlap-qualification"/>
          <p:cNvSpPr txBox="1"/>
          <p:nvPr/>
        </p:nvSpPr>
        <p:spPr>
          <a:xfrm>
            <a:off x="8890000" y="4781550"/>
            <a:ext cx="2959100" cy="5207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Autofit/>
          </a:bodyPr>
          <a:lstStyle/>
          <a:p>
            <a:pPr algn="l" indent="0" marL="0">
              <a:lnSpc>
                <a:spcPct val="120000"/>
              </a:lnSpc>
              <a:buNone/>
              <a:defRPr spc="0"/>
            </a:pPr>
            <a:r>
              <a:rPr lang="en-US" sz="1400" dirty="0" spc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task overlap before adding</a:t>
            </a:r>
            <a:endParaRPr lang="en-US" sz="1400" dirty="0" spc="0"/>
          </a:p>
          <a:p>
            <a:pPr algn="l" indent="0" marL="0">
              <a:lnSpc>
                <a:spcPct val="120000"/>
              </a:lnSpc>
              <a:buNone/>
              <a:defRPr spc="0"/>
            </a:pPr>
            <a:r>
              <a:rPr lang="en-US" sz="1400" dirty="0" spc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 benefits.</a:t>
            </a:r>
            <a:endParaRPr lang="en-US" sz="1400" dirty="0" spc="0"/>
          </a:p>
        </p:txBody>
      </p:sp>
      <p:sp>
        <p:nvSpPr>
          <p:cNvPr id="28" name="decision-label"/>
          <p:cNvSpPr txBox="1"/>
          <p:nvPr/>
        </p:nvSpPr>
        <p:spPr>
          <a:xfrm>
            <a:off x="654050" y="5746750"/>
            <a:ext cx="2552700" cy="3111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1400" b="1" dirty="0" spc="0">
                <a:solidFill>
                  <a:srgbClr val="FD51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BOUNDARY</a:t>
            </a:r>
            <a:endParaRPr lang="en-US" sz="1400" dirty="0" spc="0"/>
          </a:p>
        </p:txBody>
      </p:sp>
      <p:sp>
        <p:nvSpPr>
          <p:cNvPr id="29" name="decision-message"/>
          <p:cNvSpPr txBox="1"/>
          <p:nvPr/>
        </p:nvSpPr>
        <p:spPr>
          <a:xfrm>
            <a:off x="3238500" y="5746750"/>
            <a:ext cx="8382000" cy="3111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1400" b="1" dirty="0" spc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with approved-source research synthesis.</a:t>
            </a:r>
            <a:endParaRPr lang="en-US" sz="1400" dirty="0" spc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71200" y="6534150"/>
            <a:ext cx="1016000" cy="2921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>
            <a:noAutofit/>
          </a:bodyPr>
          <a:lstStyle>
            <a:lvl1pPr>
              <a:defRPr sz="90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SlidePoise presentation</dc:title>
  <dc:subject>Editable presentation generated from SlidePoise scene contracts</dc:subject>
  <dc:creator>SlidePoise</dc:creator>
  <cp:lastModifiedBy>SlidePoise</cp:lastModifiedBy>
  <cp:revision>1</cp:revision>
  <dcterms:created xsi:type="dcterms:W3CDTF">2026-09-05T14:15:29Z</dcterms:created>
  <dcterms:modified xsi:type="dcterms:W3CDTF">2026-09-05T14:15:29Z</dcterms:modified>
</cp:coreProperties>
</file>