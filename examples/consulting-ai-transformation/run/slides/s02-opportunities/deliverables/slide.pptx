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0967741935483872"/>
          <c:y val="0"/>
          <c:w val="0.5693548387096774"/>
          <c:h val="1"/>
        </c:manualLayout>
      </c:layout>
      <c:barChart>
        <c:barDir val="bar"/>
        <c:grouping val="clustered"/>
        <c:varyColors val="0"/>
        <c:ser>
          <c:idx val="0"/>
          <c:order val="0"/>
          <c:tx>
            <c:strRef>
              <c:f>Sheet1!$B$1</c:f>
              <c:strCache>
                <c:ptCount val="1"/>
                <c:pt idx="0">
                  <c:v>Illustrative annual capacity hours</c:v>
                </c:pt>
              </c:strCache>
            </c:strRef>
          </c:tx>
          <c:spPr>
            <a:solidFill>
              <a:srgbClr val="FD5108"/>
            </a:solidFill>
            <a:effectLst/>
          </c:spPr>
          <c:invertIfNegative val="0"/>
          <c:dLbls>
            <c:numFmt formatCode="#,##0&quot; h&quot;" sourceLinked="0"/>
            <c:txPr>
              <a:bodyPr wrap="none"/>
              <a:lstStyle/>
              <a:p>
                <a:pPr>
                  <a:defRPr b="0" i="0" strike="noStrike" sz="1800" u="none">
                    <a:solidFill>
                      <a:srgbClr val="FD5108"/>
                    </a:solidFill>
                    <a:latin typeface="Arial"/>
                  </a:defRPr>
                </a:pPr>
              </a:p>
            </c:txPr>
            <c:dLblPos val="outEnd"/>
            <c:showLegendKey val="0"/>
            <c:showVal val="1"/>
            <c:showCatName val="0"/>
            <c:showSerName val="0"/>
            <c:showPercent val="0"/>
            <c:showBubbleSize val="0"/>
            <c:showLeaderLines val="0"/>
          </c:dLbls>
          <c:dPt>
            <c:idx val="0"/>
            <c:invertIfNegative val="0"/>
            <c:bubble3D val="0"/>
            <c:spPr>
              <a:solidFill>
                <a:srgbClr val="FD5108"/>
              </a:solidFill>
              <a:effectLst/>
            </c:spPr>
          </c:dPt>
          <c:dPt>
            <c:idx val="1"/>
            <c:invertIfNegative val="0"/>
            <c:bubble3D val="0"/>
            <c:spPr>
              <a:solidFill>
                <a:srgbClr val="A1A8B3"/>
              </a:solidFill>
              <a:effectLst/>
            </c:spPr>
          </c:dPt>
          <c:dPt>
            <c:idx val="2"/>
            <c:invertIfNegative val="0"/>
            <c:bubble3D val="0"/>
            <c:spPr>
              <a:solidFill>
                <a:srgbClr val="CBD1D6"/>
              </a:solidFill>
              <a:effectLst/>
            </c:spPr>
          </c:dPt>
          <c:cat>
            <c:multiLvlStrRef>
              <c:f>Sheet1!$A$2:$A$4</c:f>
              <c:multiLvlStrCache>
                <c:ptCount val="3"/>
                <c:lvl>
                  <c:pt idx="0">
                    <c:v>Research
synthesis</c:v>
                  </c:pt>
                  <c:pt idx="1">
                    <c:v>Proposal
drafting</c:v>
                  </c:pt>
                  <c:pt idx="2">
                    <c:v>Knowledge
retrieval</c:v>
                  </c:pt>
                </c:lvl>
              </c:multiLvlStrCache>
            </c:multiLvlStrRef>
          </c:cat>
          <c:val>
            <c:numRef>
              <c:f>Sheet1!$B$2:$B$4</c:f>
              <c:numCache>
                <c:formatCode>General</c:formatCode>
                <c:ptCount val="3"/>
                <c:pt idx="0">
                  <c:v>1944</c:v>
                </c:pt>
                <c:pt idx="1">
                  <c:v>1440</c:v>
                </c:pt>
                <c:pt idx="2">
                  <c:v>1080</c:v>
                </c:pt>
              </c:numCache>
            </c:numRef>
          </c:val>
        </c:ser>
        <c:dLbls>
          <c:numFmt formatCode="#,##0&quot; h&quot;" sourceLinked="0"/>
          <c:txPr>
            <a:bodyPr wrap="none"/>
            <a:lstStyle/>
            <a:p>
              <a:pPr>
                <a:defRPr b="0" i="0" strike="noStrike" sz="1800" u="none">
                  <a:solidFill>
                    <a:srgbClr val="FD5108"/>
                  </a:solidFill>
                  <a:latin typeface="Arial"/>
                </a:defRPr>
              </a:pPr>
            </a:p>
          </c:txPr>
          <c:dLblPos val="outEnd"/>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44"/>
          <c:min val="0"/>
        </c:scaling>
        <c:delete val="1"/>
        <c:axPos val="b"/>
        <c:majorGridlines>
          <c:spPr>
            <a:ln w="12700" cap="flat">
              <a:solidFill>
                <a:srgbClr val="FFFFFF"/>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planning model for fictional Northstar Advisory. Annual capacity assumes 900 engagements. Research uses 900 x 12 baseline hours x 60% adoption x 30% time saved = 1,944 hours. The same formula produces 1,440 proposal hours and 1,080 retrieval hours from the displayed assumptions.
The three workflow estimates may overlap and cannot be added without checking task boundaries. Capacity released is not a cash saving. Control readiness determines the proposed sequence, and expert review remains required before any client release.
[SlidePoise sources]
Generated target visual: /Users/henry/Codes/AI_slide_drafting/output/showcase-revisions/consulting-v3-authoring/slides/s02-opportunities/work/accepted-slide.png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POISE_MASTER_1">
    <p:bg>
      <p:bgPr>
        <a:solidFill>
          <a:srgbClr val="FFFFFF"/>
        </a:solidFill>
      </p:bgPr>
    </p:bg>
    <p:spTree>
      <p:nvGrpSpPr>
        <p:cNvPr id="1" name=""/>
        <p:cNvGrpSpPr/>
        <p:nvPr/>
      </p:nvGrpSpPr>
      <p:grpSpPr>
        <a:xfrm>
          <a:off x="0" y="0"/>
          <a:ext cx="0" cy="0"/>
          <a:chOff x="0" y="0"/>
          <a:chExt cx="0" cy="0"/>
        </a:xfrm>
      </p:grpSpPr>
      <p:sp>
        <p:nvSpPr>
          <p:cNvPr id="2" name="SC_MASTER_HEADER_LEFT"/>
          <p:cNvSpPr/>
          <p:nvPr/>
        </p:nvSpPr>
        <p:spPr>
          <a:xfrm>
            <a:off x="304800" y="31750"/>
            <a:ext cx="5547360" cy="342900"/>
          </a:xfrm>
          <a:prstGeom prst="rect">
            <a:avLst/>
          </a:prstGeom>
          <a:noFill/>
          <a:ln/>
        </p:spPr>
        <p:txBody>
          <a:bodyPr wrap="square" lIns="0" tIns="0" rIns="0" bIns="0" rtlCol="0" anchor="ctr">
            <a:normAutofit/>
          </a:bodyPr>
          <a:lstStyle/>
          <a:p>
            <a:pPr algn="l" indent="0" marL="0">
              <a:buNone/>
            </a:pPr>
            <a:r>
              <a:rPr lang="en-US" sz="1000" dirty="0">
                <a:solidFill>
                  <a:srgbClr val="666666"/>
                </a:solidFill>
                <a:latin typeface="Arial" pitchFamily="34" charset="0"/>
                <a:ea typeface="Arial" pitchFamily="34" charset="-122"/>
                <a:cs typeface="Arial" pitchFamily="34" charset="-120"/>
              </a:rPr>
              <a:t>NORTHSTAR ADVISORY</a:t>
            </a:r>
            <a:endParaRPr lang="en-US" sz="1000" dirty="0"/>
          </a:p>
        </p:txBody>
      </p:sp>
      <p:sp>
        <p:nvSpPr>
          <p:cNvPr id="3" name="SC_MASTER_HEADER_RIGHT"/>
          <p:cNvSpPr/>
          <p:nvPr/>
        </p:nvSpPr>
        <p:spPr>
          <a:xfrm>
            <a:off x="6339840" y="31750"/>
            <a:ext cx="5547360" cy="342900"/>
          </a:xfrm>
          <a:prstGeom prst="rect">
            <a:avLst/>
          </a:prstGeom>
          <a:noFill/>
          <a:ln/>
        </p:spPr>
        <p:txBody>
          <a:bodyPr wrap="square" lIns="0" tIns="0" rIns="0" bIns="0" rtlCol="0" anchor="ctr">
            <a:normAutofit/>
          </a:bodyPr>
          <a:lstStyle/>
          <a:p>
            <a:pPr algn="r" indent="0" marL="0">
              <a:buNone/>
            </a:pPr>
            <a:r>
              <a:rPr lang="en-US" sz="1000" dirty="0">
                <a:solidFill>
                  <a:srgbClr val="666666"/>
                </a:solidFill>
                <a:latin typeface="Arial" pitchFamily="34" charset="0"/>
                <a:ea typeface="Arial" pitchFamily="34" charset="-122"/>
                <a:cs typeface="Arial" pitchFamily="34" charset="-120"/>
              </a:rPr>
              <a:t>AI TRANSFORMATION</a:t>
            </a:r>
            <a:endParaRPr lang="en-US" sz="1000" dirty="0"/>
          </a:p>
        </p:txBody>
      </p:sp>
      <p:sp>
        <p:nvSpPr>
          <p:cNvPr id="4" name="Shape 2"/>
          <p:cNvSpPr/>
          <p:nvPr/>
        </p:nvSpPr>
        <p:spPr>
          <a:xfrm>
            <a:off x="304800" y="400050"/>
            <a:ext cx="11582400" cy="0"/>
          </a:xfrm>
          <a:prstGeom prst="line">
            <a:avLst/>
          </a:prstGeom>
          <a:noFill/>
          <a:ln w="6350">
            <a:solidFill>
              <a:srgbClr val="DFE3E6"/>
            </a:solidFill>
            <a:prstDash val="solid"/>
          </a:ln>
        </p:spPr>
      </p:sp>
      <p:sp>
        <p:nvSpPr>
          <p:cNvPr id="5" name="Shape 3"/>
          <p:cNvSpPr/>
          <p:nvPr/>
        </p:nvSpPr>
        <p:spPr>
          <a:xfrm>
            <a:off x="304800" y="6502400"/>
            <a:ext cx="11582400" cy="0"/>
          </a:xfrm>
          <a:prstGeom prst="line">
            <a:avLst/>
          </a:prstGeom>
          <a:noFill/>
          <a:ln w="6350">
            <a:solidFill>
              <a:srgbClr val="DFE3E6"/>
            </a:solidFill>
            <a:prstDash val="solid"/>
          </a:ln>
        </p:spPr>
      </p:sp>
      <p:sp>
        <p:nvSpPr>
          <p:cNvPr id="6" name="SC_MASTER_FOOTER_LEFT"/>
          <p:cNvSpPr/>
          <p:nvPr/>
        </p:nvSpPr>
        <p:spPr>
          <a:xfrm>
            <a:off x="304800" y="6534150"/>
            <a:ext cx="4267200" cy="292100"/>
          </a:xfrm>
          <a:prstGeom prst="rect">
            <a:avLst/>
          </a:prstGeom>
          <a:noFill/>
          <a:ln/>
        </p:spPr>
        <p:txBody>
          <a:bodyPr wrap="square" lIns="0" tIns="0" rIns="0" bIns="0" rtlCol="0" anchor="ctr">
            <a:normAutofit/>
          </a:bodyPr>
          <a:lstStyle/>
          <a:p>
            <a:pPr algn="l" indent="0" marL="0">
              <a:buNone/>
            </a:pPr>
            <a:r>
              <a:rPr lang="en-US" sz="900" dirty="0">
                <a:solidFill>
                  <a:srgbClr val="666666"/>
                </a:solidFill>
                <a:latin typeface="Arial" pitchFamily="34" charset="0"/>
                <a:ea typeface="Arial" pitchFamily="34" charset="-122"/>
                <a:cs typeface="Arial" pitchFamily="34" charset="-120"/>
              </a:rPr>
              <a:t>ILLUSTRATIVE PLANNING ASSUMPTIONS</a:t>
            </a:r>
            <a:endParaRPr lang="en-US" sz="900" dirty="0"/>
          </a:p>
        </p:txBody>
      </p:sp>
      <p:sp>
        <p:nvSpPr>
          <p:cNvPr id="7" name="SC_MASTER_FOOTER_CENTER"/>
          <p:cNvSpPr/>
          <p:nvPr/>
        </p:nvSpPr>
        <p:spPr>
          <a:xfrm>
            <a:off x="4267200" y="6534150"/>
            <a:ext cx="3657600" cy="292100"/>
          </a:xfrm>
          <a:prstGeom prst="rect">
            <a:avLst/>
          </a:prstGeom>
          <a:noFill/>
          <a:ln/>
        </p:spPr>
        <p:txBody>
          <a:bodyPr wrap="square" lIns="0" tIns="0" rIns="0" bIns="0" rtlCol="0" anchor="ctr">
            <a:normAutofit/>
          </a:bodyPr>
          <a:lstStyle/>
          <a:p>
            <a:pPr algn="ctr" indent="0" marL="0">
              <a:buNone/>
            </a:pPr>
            <a:r>
              <a:rPr lang="en-US" sz="900" dirty="0">
                <a:solidFill>
                  <a:srgbClr val="666666"/>
                </a:solidFill>
                <a:latin typeface="Arial" pitchFamily="34" charset="0"/>
                <a:ea typeface="Arial" pitchFamily="34" charset="-122"/>
                <a:cs typeface="Arial" pitchFamily="34" charset="-120"/>
              </a:rPr>
              <a:t>Capacity value is not a cash saving.</a:t>
            </a:r>
            <a:endParaRPr lang="en-US" sz="900" dirty="0"/>
          </a:p>
        </p:txBody>
      </p:sp>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introduction-rule"/>
          <p:cNvSpPr/>
          <p:nvPr/>
        </p:nvSpPr>
        <p:spPr>
          <a:xfrm>
            <a:off x="304800" y="1454150"/>
            <a:ext cx="11582400" cy="12700"/>
          </a:xfrm>
          <a:prstGeom prst="rect">
            <a:avLst/>
          </a:prstGeom>
          <a:solidFill>
            <a:srgbClr val="999DA4"/>
          </a:solidFill>
          <a:ln w="12700">
            <a:solidFill>
              <a:srgbClr val="FFFFFF">
                <a:alpha val="0"/>
              </a:srgbClr>
            </a:solidFill>
            <a:prstDash val="solid"/>
          </a:ln>
        </p:spPr>
      </p:sp>
      <p:sp>
        <p:nvSpPr>
          <p:cNvPr id="3" name="reason-divider-1"/>
          <p:cNvSpPr/>
          <p:nvPr/>
        </p:nvSpPr>
        <p:spPr>
          <a:xfrm>
            <a:off x="8775700" y="2800350"/>
            <a:ext cx="3175000" cy="6350"/>
          </a:xfrm>
          <a:prstGeom prst="rect">
            <a:avLst/>
          </a:prstGeom>
          <a:solidFill>
            <a:srgbClr val="B5B7BA"/>
          </a:solidFill>
          <a:ln w="12700">
            <a:solidFill>
              <a:srgbClr val="FFFFFF">
                <a:alpha val="0"/>
              </a:srgbClr>
            </a:solidFill>
            <a:prstDash val="solid"/>
          </a:ln>
        </p:spPr>
      </p:sp>
      <p:sp>
        <p:nvSpPr>
          <p:cNvPr id="4" name="reason-divider-2"/>
          <p:cNvSpPr/>
          <p:nvPr/>
        </p:nvSpPr>
        <p:spPr>
          <a:xfrm>
            <a:off x="8775700" y="3759200"/>
            <a:ext cx="3175000" cy="6350"/>
          </a:xfrm>
          <a:prstGeom prst="rect">
            <a:avLst/>
          </a:prstGeom>
          <a:solidFill>
            <a:srgbClr val="B5B7BA"/>
          </a:solidFill>
          <a:ln w="12700">
            <a:solidFill>
              <a:srgbClr val="FFFFFF">
                <a:alpha val="0"/>
              </a:srgbClr>
            </a:solidFill>
            <a:prstDash val="solid"/>
          </a:ln>
        </p:spPr>
      </p:sp>
      <p:sp>
        <p:nvSpPr>
          <p:cNvPr id="5" name="overlap-note-panel"/>
          <p:cNvSpPr/>
          <p:nvPr/>
        </p:nvSpPr>
        <p:spPr>
          <a:xfrm>
            <a:off x="8775700" y="4737100"/>
            <a:ext cx="3175000" cy="584200"/>
          </a:xfrm>
          <a:prstGeom prst="rect">
            <a:avLst/>
          </a:prstGeom>
          <a:solidFill>
            <a:srgbClr val="F5F7F8"/>
          </a:solidFill>
          <a:ln w="12700">
            <a:solidFill>
              <a:srgbClr val="FFFFFF">
                <a:alpha val="0"/>
              </a:srgbClr>
            </a:solidFill>
            <a:prstDash val="solid"/>
          </a:ln>
        </p:spPr>
      </p:sp>
      <p:sp>
        <p:nvSpPr>
          <p:cNvPr id="6" name="decision-band"/>
          <p:cNvSpPr/>
          <p:nvPr/>
        </p:nvSpPr>
        <p:spPr>
          <a:xfrm>
            <a:off x="304800" y="5441950"/>
            <a:ext cx="11582400" cy="850900"/>
          </a:xfrm>
          <a:prstGeom prst="rect">
            <a:avLst/>
          </a:prstGeom>
          <a:solidFill>
            <a:srgbClr val="FFF5ED"/>
          </a:solidFill>
          <a:ln w="12700">
            <a:solidFill>
              <a:srgbClr val="FFFFFF">
                <a:alpha val="0"/>
              </a:srgbClr>
            </a:solidFill>
            <a:prstDash val="solid"/>
          </a:ln>
        </p:spPr>
      </p:sp>
      <p:sp>
        <p:nvSpPr>
          <p:cNvPr id="7" name="decision-accent"/>
          <p:cNvSpPr/>
          <p:nvPr/>
        </p:nvSpPr>
        <p:spPr>
          <a:xfrm>
            <a:off x="304800" y="5441950"/>
            <a:ext cx="50800" cy="850900"/>
          </a:xfrm>
          <a:prstGeom prst="rect">
            <a:avLst/>
          </a:prstGeom>
          <a:solidFill>
            <a:srgbClr val="FD5108"/>
          </a:solidFill>
          <a:ln w="12700">
            <a:solidFill>
              <a:srgbClr val="FFFFFF">
                <a:alpha val="0"/>
              </a:srgbClr>
            </a:solidFill>
            <a:prstDash val="solid"/>
          </a:ln>
        </p:spPr>
      </p:sp>
      <p:graphicFrame>
        <p:nvGraphicFramePr>
          <p:cNvPr id="8" name="annual-capacity-chart" descr=""/>
          <p:cNvGraphicFramePr/>
          <p:nvPr/>
        </p:nvGraphicFramePr>
        <p:xfrm>
          <a:off x="196850" y="2063750"/>
          <a:ext cx="3937000" cy="148590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workflow-assumptions"/>
          <p:cNvGraphicFramePr>
            <a:graphicFrameLocks noGrp="1"/>
          </p:cNvGraphicFramePr>
          <p:nvPr>
            <p:extLst>
              <p:ext uri="{D42A27DB-BD31-4B8C-83A1-F6EECF244321}">
                <p14:modId xmlns:p14="http://schemas.microsoft.com/office/powerpoint/2010/main" val="1579011935"/>
              </p:ext>
            </p:extLst>
          </p:nvPr>
        </p:nvGraphicFramePr>
        <p:xfrm>
          <a:off x="209550" y="3594100"/>
          <a:ext cx="3695700" cy="1257300"/>
        </p:xfrm>
        <a:graphic>
          <a:graphicData uri="http://schemas.openxmlformats.org/drawingml/2006/table">
            <a:tbl>
              <a:tblPr/>
              <a:tblGrid>
                <a:gridCol w="996950"/>
                <a:gridCol w="920750"/>
                <a:gridCol w="914400"/>
                <a:gridCol w="863600"/>
              </a:tblGrid>
              <a:tr h="317500">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Workflow</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Baseline h</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Adoption</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Time saved</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r>
              <a:tr h="3111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Research</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60%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r>
              <a:tr h="3111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Proposal</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50%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r>
              <a:tr h="3175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Retrieval</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60%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r>
            </a:tbl>
          </a:graphicData>
        </a:graphic>
      </p:graphicFrame>
      <p:graphicFrame>
        <p:nvGraphicFramePr>
          <p:cNvPr id="10" name="pilot-sequencing"/>
          <p:cNvGraphicFramePr>
            <a:graphicFrameLocks noGrp="1"/>
          </p:cNvGraphicFramePr>
          <p:nvPr>
            <p:extLst>
              <p:ext uri="{D42A27DB-BD31-4B8C-83A1-F6EECF244321}">
                <p14:modId xmlns:p14="http://schemas.microsoft.com/office/powerpoint/2010/main" val="1579011935"/>
              </p:ext>
            </p:extLst>
          </p:nvPr>
        </p:nvGraphicFramePr>
        <p:xfrm>
          <a:off x="4254500" y="2019300"/>
          <a:ext cx="4197350" cy="3213100"/>
        </p:xfrm>
        <a:graphic>
          <a:graphicData uri="http://schemas.openxmlformats.org/drawingml/2006/table">
            <a:tbl>
              <a:tblPr/>
              <a:tblGrid>
                <a:gridCol w="946150"/>
                <a:gridCol w="1606550"/>
                <a:gridCol w="774700"/>
                <a:gridCol w="869950"/>
              </a:tblGrid>
              <a:tr h="482600">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Workflow</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Control readiness</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Owner</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c>
                  <a:txBody>
                    <a:bodyPr>
                      <a:noAutofit/>
                    </a:bodyPr>
                    <a:lstStyle/>
                    <a:p>
                      <a:pPr algn="ctr" indent="0" marL="0">
                        <a:buNone/>
                      </a:pPr>
                      <a:r>
                        <a:rPr lang="en-US" sz="1200" b="1" dirty="0">
                          <a:solidFill>
                            <a:srgbClr val="FFFFFF"/>
                          </a:solidFill>
                          <a:latin typeface="Arial" pitchFamily="34" charset="0"/>
                          <a:ea typeface="Arial" pitchFamily="34" charset="-122"/>
                          <a:cs typeface="Arial" pitchFamily="34" charset="-120"/>
                        </a:rPr>
                        <a:t>Sequence</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000000"/>
                    </a:solidFill>
                  </a:tcPr>
                </a:tc>
              </a:tr>
              <a:tr h="8699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Research</a:t>
                      </a:r>
                      <a:endParaRPr lang="en-US" sz="1200" dirty="0">
                        <a:latin typeface="Arial" charset="0"/>
                        <a:ea typeface="Arial" charset="0"/>
                        <a:cs typeface="Arial" charset="0"/>
                      </a:endParaRPr>
                    </a:p>
                    <a:p>
                      <a:pPr algn="l" indent="0" marL="0">
                        <a:buNone/>
                      </a:pPr>
                      <a:r>
                        <a:rPr lang="en-US" sz="1200" b="1" dirty="0">
                          <a:solidFill>
                            <a:srgbClr val="000000"/>
                          </a:solidFill>
                          <a:latin typeface="Arial" pitchFamily="34" charset="0"/>
                          <a:ea typeface="Arial" pitchFamily="34" charset="-122"/>
                          <a:cs typeface="Arial" pitchFamily="34" charset="-120"/>
                        </a:rPr>
                        <a:t>synthesis</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Approved corpus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Explicit review</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Practice</a:t>
                      </a:r>
                      <a:endParaRPr lang="en-US" sz="1200" dirty="0">
                        <a:latin typeface="Arial" charset="0"/>
                        <a:ea typeface="Arial" charset="0"/>
                        <a:cs typeface="Arial" charset="0"/>
                      </a:endParaRPr>
                    </a:p>
                    <a:p>
                      <a:pPr algn="ctr" indent="0" marL="0">
                        <a:buNone/>
                      </a:pPr>
                      <a:r>
                        <a:rPr lang="en-US" sz="1200" dirty="0">
                          <a:solidFill>
                            <a:srgbClr val="000000"/>
                          </a:solidFill>
                          <a:latin typeface="Arial" pitchFamily="34" charset="0"/>
                          <a:ea typeface="Arial" pitchFamily="34" charset="-122"/>
                          <a:cs typeface="Arial" pitchFamily="34" charset="-120"/>
                        </a:rPr>
                        <a:t>lead</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START</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r>
              <a:tr h="9398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Proposal</a:t>
                      </a:r>
                      <a:endParaRPr lang="en-US" sz="1200" dirty="0">
                        <a:latin typeface="Arial" charset="0"/>
                        <a:ea typeface="Arial" charset="0"/>
                        <a:cs typeface="Arial" charset="0"/>
                      </a:endParaRPr>
                    </a:p>
                    <a:p>
                      <a:pPr algn="l" indent="0" marL="0">
                        <a:buNone/>
                      </a:pPr>
                      <a:r>
                        <a:rPr lang="en-US" sz="1200" b="1" dirty="0">
                          <a:solidFill>
                            <a:srgbClr val="000000"/>
                          </a:solidFill>
                          <a:latin typeface="Arial" pitchFamily="34" charset="0"/>
                          <a:ea typeface="Arial" pitchFamily="34" charset="-122"/>
                          <a:cs typeface="Arial" pitchFamily="34" charset="-120"/>
                        </a:rPr>
                        <a:t>drafting</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Claims and</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commitments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need controls</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BD</a:t>
                      </a:r>
                      <a:endParaRPr lang="en-US" sz="1200" dirty="0">
                        <a:latin typeface="Arial" charset="0"/>
                        <a:ea typeface="Arial" charset="0"/>
                        <a:cs typeface="Arial" charset="0"/>
                      </a:endParaRPr>
                    </a:p>
                    <a:p>
                      <a:pPr algn="ctr" indent="0" marL="0">
                        <a:buNone/>
                      </a:pPr>
                      <a:r>
                        <a:rPr lang="en-US" sz="1200" dirty="0">
                          <a:solidFill>
                            <a:srgbClr val="000000"/>
                          </a:solidFill>
                          <a:latin typeface="Arial" pitchFamily="34" charset="0"/>
                          <a:ea typeface="Arial" pitchFamily="34" charset="-122"/>
                          <a:cs typeface="Arial" pitchFamily="34" charset="-120"/>
                        </a:rPr>
                        <a:t>lead</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NEXT</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5F7F8"/>
                    </a:solidFill>
                  </a:tcPr>
                </a:tc>
              </a:tr>
              <a:tr h="9207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Knowledge</a:t>
                      </a:r>
                      <a:endParaRPr lang="en-US" sz="1200" dirty="0">
                        <a:latin typeface="Arial" charset="0"/>
                        <a:ea typeface="Arial" charset="0"/>
                        <a:cs typeface="Arial" charset="0"/>
                      </a:endParaRPr>
                    </a:p>
                    <a:p>
                      <a:pPr algn="l" indent="0" marL="0">
                        <a:buNone/>
                      </a:pPr>
                      <a:r>
                        <a:rPr lang="en-US" sz="1200" b="1" dirty="0">
                          <a:solidFill>
                            <a:srgbClr val="000000"/>
                          </a:solidFill>
                          <a:latin typeface="Arial" pitchFamily="34" charset="0"/>
                          <a:ea typeface="Arial" pitchFamily="34" charset="-122"/>
                          <a:cs typeface="Arial" pitchFamily="34" charset="-120"/>
                        </a:rPr>
                        <a:t>retrieval</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Permissions need</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cleanup</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dirty="0">
                          <a:solidFill>
                            <a:srgbClr val="000000"/>
                          </a:solidFill>
                          <a:latin typeface="Arial" pitchFamily="34" charset="0"/>
                          <a:ea typeface="Arial" pitchFamily="34" charset="-122"/>
                          <a:cs typeface="Arial" pitchFamily="34" charset="-120"/>
                        </a:rPr>
                        <a:t>Knowledge</a:t>
                      </a:r>
                      <a:endParaRPr lang="en-US" sz="1200" dirty="0">
                        <a:latin typeface="Arial" charset="0"/>
                        <a:ea typeface="Arial" charset="0"/>
                        <a:cs typeface="Arial" charset="0"/>
                      </a:endParaRPr>
                    </a:p>
                    <a:p>
                      <a:pPr algn="ctr" indent="0" marL="0">
                        <a:buNone/>
                      </a:pPr>
                      <a:r>
                        <a:rPr lang="en-US" sz="1200" dirty="0">
                          <a:solidFill>
                            <a:srgbClr val="000000"/>
                          </a:solidFill>
                          <a:latin typeface="Arial" pitchFamily="34" charset="0"/>
                          <a:ea typeface="Arial" pitchFamily="34" charset="-122"/>
                          <a:cs typeface="Arial" pitchFamily="34" charset="-120"/>
                        </a:rPr>
                        <a:t>lead</a:t>
                      </a:r>
                      <a:endParaRPr lang="en-US" sz="1200" dirty="0">
                        <a:latin typeface="Arial" charset="0"/>
                        <a:ea typeface="Arial" charset="0"/>
                        <a:cs typeface="Arial" charset="0"/>
                      </a:endParaRPr>
                    </a:p>
                  </a:txBody>
                  <a:tcPr marL="0" marR="0" marT="0" marB="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c>
                  <a:txBody>
                    <a:bodyPr>
                      <a:noAutofit/>
                    </a:bodyPr>
                    <a:lstStyle/>
                    <a:p>
                      <a:pPr algn="ctr" indent="0" marL="0">
                        <a:buNone/>
                      </a:pPr>
                      <a:r>
                        <a:rPr lang="en-US" sz="1200" b="1" dirty="0">
                          <a:solidFill>
                            <a:srgbClr val="FD5108"/>
                          </a:solidFill>
                          <a:latin typeface="Arial" pitchFamily="34" charset="0"/>
                          <a:ea typeface="Arial" pitchFamily="34" charset="-122"/>
                          <a:cs typeface="Arial" pitchFamily="34" charset="-120"/>
                        </a:rPr>
                        <a:t>LATER</a:t>
                      </a:r>
                      <a:endParaRPr lang="en-US" sz="1200" dirty="0">
                        <a:latin typeface="Arial" charset="0"/>
                        <a:ea typeface="Arial" charset="0"/>
                        <a:cs typeface="Arial" charset="0"/>
                      </a:endParaRPr>
                    </a:p>
                  </a:txBody>
                  <a:tcPr marL="63500" marR="63500" marT="63500" marB="63500" anchor="ctr">
                    <a:lnL w="6350" cap="flat" cmpd="sng" algn="ctr">
                      <a:solidFill>
                        <a:srgbClr val="AEB2B8"/>
                      </a:solidFill>
                      <a:prstDash val="solid"/>
                      <a:round/>
                      <a:headEnd type="none" w="med" len="med"/>
                      <a:tailEnd type="none" w="med" len="med"/>
                    </a:lnL>
                    <a:lnR w="6350" cap="flat" cmpd="sng" algn="ctr">
                      <a:solidFill>
                        <a:srgbClr val="AEB2B8"/>
                      </a:solidFill>
                      <a:prstDash val="solid"/>
                      <a:round/>
                      <a:headEnd type="none" w="med" len="med"/>
                      <a:tailEnd type="none" w="med" len="med"/>
                    </a:lnR>
                    <a:lnT w="6350" cap="flat" cmpd="sng" algn="ctr">
                      <a:solidFill>
                        <a:srgbClr val="AEB2B8"/>
                      </a:solidFill>
                      <a:prstDash val="solid"/>
                      <a:round/>
                      <a:headEnd type="none" w="med" len="med"/>
                      <a:tailEnd type="none" w="med" len="med"/>
                    </a:lnT>
                    <a:lnB w="6350" cap="flat" cmpd="sng" algn="ctr">
                      <a:solidFill>
                        <a:srgbClr val="AEB2B8"/>
                      </a:solidFill>
                      <a:prstDash val="solid"/>
                      <a:round/>
                      <a:headEnd type="none" w="med" len="med"/>
                      <a:tailEnd type="none" w="med" len="med"/>
                    </a:lnB>
                    <a:solidFill>
                      <a:srgbClr val="FFFFFF"/>
                    </a:solidFill>
                  </a:tcPr>
                </a:tc>
              </a:tr>
            </a:tbl>
          </a:graphicData>
        </a:graphic>
      </p:graphicFrame>
      <p:sp>
        <p:nvSpPr>
          <p:cNvPr id="11" name="headline"/>
          <p:cNvSpPr txBox="1"/>
          <p:nvPr/>
        </p:nvSpPr>
        <p:spPr>
          <a:xfrm>
            <a:off x="304800" y="527050"/>
            <a:ext cx="11582400" cy="5080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Start where value and control readiness meet</a:t>
            </a:r>
            <a:endParaRPr lang="en-US" sz="3200" dirty="0" spc="0"/>
          </a:p>
        </p:txBody>
      </p:sp>
      <p:sp>
        <p:nvSpPr>
          <p:cNvPr id="12" name="subtitle"/>
          <p:cNvSpPr txBox="1"/>
          <p:nvPr/>
        </p:nvSpPr>
        <p:spPr>
          <a:xfrm>
            <a:off x="304800" y="1060450"/>
            <a:ext cx="1158240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Capacity creates the opportunity. Control readiness sets the sequence.</a:t>
            </a:r>
            <a:endParaRPr lang="en-US" sz="1600" dirty="0" spc="0"/>
          </a:p>
        </p:txBody>
      </p:sp>
      <p:sp>
        <p:nvSpPr>
          <p:cNvPr id="13" name="capacity-heading"/>
          <p:cNvSpPr txBox="1"/>
          <p:nvPr/>
        </p:nvSpPr>
        <p:spPr>
          <a:xfrm>
            <a:off x="203200" y="1625600"/>
            <a:ext cx="39370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ANNUAL CAPACITY POTENTIAL</a:t>
            </a:r>
            <a:endParaRPr lang="en-US" sz="1400" dirty="0" spc="0"/>
          </a:p>
        </p:txBody>
      </p:sp>
      <p:sp>
        <p:nvSpPr>
          <p:cNvPr id="14" name="sequencing-heading"/>
          <p:cNvSpPr txBox="1"/>
          <p:nvPr/>
        </p:nvSpPr>
        <p:spPr>
          <a:xfrm>
            <a:off x="4254500" y="1625600"/>
            <a:ext cx="419735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PILOT SEQUENCING TEST</a:t>
            </a:r>
            <a:endParaRPr lang="en-US" sz="1400" dirty="0" spc="0"/>
          </a:p>
        </p:txBody>
      </p:sp>
      <p:sp>
        <p:nvSpPr>
          <p:cNvPr id="15" name="reason-heading"/>
          <p:cNvSpPr txBox="1"/>
          <p:nvPr/>
        </p:nvSpPr>
        <p:spPr>
          <a:xfrm>
            <a:off x="8775700" y="1625600"/>
            <a:ext cx="31750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WHY RESEARCH WINS FIRST</a:t>
            </a:r>
            <a:endParaRPr lang="en-US" sz="1400" dirty="0" spc="0"/>
          </a:p>
        </p:txBody>
      </p:sp>
      <p:sp>
        <p:nvSpPr>
          <p:cNvPr id="16" name="chart-unit"/>
          <p:cNvSpPr txBox="1"/>
          <p:nvPr/>
        </p:nvSpPr>
        <p:spPr>
          <a:xfrm>
            <a:off x="203200" y="1847850"/>
            <a:ext cx="3937000" cy="2286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Illustrative hours</a:t>
            </a:r>
            <a:endParaRPr lang="en-US" sz="1200" dirty="0" spc="0"/>
          </a:p>
        </p:txBody>
      </p:sp>
      <p:sp>
        <p:nvSpPr>
          <p:cNvPr id="17" name="capacity-formula"/>
          <p:cNvSpPr txBox="1"/>
          <p:nvPr/>
        </p:nvSpPr>
        <p:spPr>
          <a:xfrm>
            <a:off x="203200" y="4895850"/>
            <a:ext cx="3943350" cy="501650"/>
          </a:xfrm>
          <a:prstGeom prst="rect">
            <a:avLst/>
          </a:prstGeom>
          <a:noFill/>
          <a:ln/>
        </p:spPr>
        <p:txBody>
          <a:bodyPr wrap="square" lIns="12700" tIns="12700" rIns="12700" bIns="12700" rtlCol="0" anchor="t">
            <a:noAutofit/>
          </a:bodyPr>
          <a:lstStyle/>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Annual hours = 900 engagements ×</a:t>
            </a:r>
            <a:endParaRPr lang="en-US" sz="1400" dirty="0" spc="0"/>
          </a:p>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baseline h × adoption × time saved</a:t>
            </a:r>
            <a:endParaRPr lang="en-US" sz="1400" dirty="0" spc="0"/>
          </a:p>
        </p:txBody>
      </p:sp>
      <p:sp>
        <p:nvSpPr>
          <p:cNvPr id="18" name="reason-number-01"/>
          <p:cNvSpPr txBox="1"/>
          <p:nvPr/>
        </p:nvSpPr>
        <p:spPr>
          <a:xfrm>
            <a:off x="8769350" y="2038350"/>
            <a:ext cx="457200" cy="4191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01</a:t>
            </a:r>
            <a:endParaRPr lang="en-US" sz="2400" dirty="0" spc="0"/>
          </a:p>
        </p:txBody>
      </p:sp>
      <p:sp>
        <p:nvSpPr>
          <p:cNvPr id="19" name="reason-title-01"/>
          <p:cNvSpPr txBox="1"/>
          <p:nvPr/>
        </p:nvSpPr>
        <p:spPr>
          <a:xfrm>
            <a:off x="9340850" y="1993900"/>
            <a:ext cx="27178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Frequent, comparable tasks</a:t>
            </a:r>
            <a:endParaRPr lang="en-US" sz="1400" dirty="0" spc="0"/>
          </a:p>
        </p:txBody>
      </p:sp>
      <p:sp>
        <p:nvSpPr>
          <p:cNvPr id="20" name="reason-detail-01"/>
          <p:cNvSpPr txBox="1"/>
          <p:nvPr/>
        </p:nvSpPr>
        <p:spPr>
          <a:xfrm>
            <a:off x="9340850" y="2216150"/>
            <a:ext cx="2724150" cy="552450"/>
          </a:xfrm>
          <a:prstGeom prst="rect">
            <a:avLst/>
          </a:prstGeom>
          <a:noFill/>
          <a:ln/>
        </p:spPr>
        <p:txBody>
          <a:bodyPr wrap="square" lIns="12700" tIns="12700" rIns="12700" bIns="12700" rtlCol="0" anchor="t">
            <a:noAutofit/>
          </a:bodyPr>
          <a:lstStyle/>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Many engagements use the</a:t>
            </a:r>
            <a:endParaRPr lang="en-US" sz="1400" dirty="0" spc="0"/>
          </a:p>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same research task.</a:t>
            </a:r>
            <a:endParaRPr lang="en-US" sz="1400" dirty="0" spc="0"/>
          </a:p>
        </p:txBody>
      </p:sp>
      <p:sp>
        <p:nvSpPr>
          <p:cNvPr id="21" name="reason-number-02"/>
          <p:cNvSpPr txBox="1"/>
          <p:nvPr/>
        </p:nvSpPr>
        <p:spPr>
          <a:xfrm>
            <a:off x="8769350" y="2933700"/>
            <a:ext cx="457200" cy="4191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02</a:t>
            </a:r>
            <a:endParaRPr lang="en-US" sz="2400" dirty="0" spc="0"/>
          </a:p>
        </p:txBody>
      </p:sp>
      <p:sp>
        <p:nvSpPr>
          <p:cNvPr id="22" name="reason-title-02"/>
          <p:cNvSpPr txBox="1"/>
          <p:nvPr/>
        </p:nvSpPr>
        <p:spPr>
          <a:xfrm>
            <a:off x="9340850" y="2946400"/>
            <a:ext cx="27178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 bounded source corpus</a:t>
            </a:r>
            <a:endParaRPr lang="en-US" sz="1400" dirty="0" spc="0"/>
          </a:p>
        </p:txBody>
      </p:sp>
      <p:sp>
        <p:nvSpPr>
          <p:cNvPr id="23" name="reason-detail-02"/>
          <p:cNvSpPr txBox="1"/>
          <p:nvPr/>
        </p:nvSpPr>
        <p:spPr>
          <a:xfrm>
            <a:off x="9340850" y="3168650"/>
            <a:ext cx="2724150" cy="552450"/>
          </a:xfrm>
          <a:prstGeom prst="rect">
            <a:avLst/>
          </a:prstGeom>
          <a:noFill/>
          <a:ln/>
        </p:spPr>
        <p:txBody>
          <a:bodyPr wrap="square" lIns="12700" tIns="12700" rIns="12700" bIns="12700" rtlCol="0" anchor="t">
            <a:noAutofit/>
          </a:bodyPr>
          <a:lstStyle/>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Approved sources limit scope</a:t>
            </a:r>
            <a:endParaRPr lang="en-US" sz="1400" dirty="0" spc="0"/>
          </a:p>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and simplify review.</a:t>
            </a:r>
            <a:endParaRPr lang="en-US" sz="1400" dirty="0" spc="0"/>
          </a:p>
        </p:txBody>
      </p:sp>
      <p:sp>
        <p:nvSpPr>
          <p:cNvPr id="24" name="reason-number-03"/>
          <p:cNvSpPr txBox="1"/>
          <p:nvPr/>
        </p:nvSpPr>
        <p:spPr>
          <a:xfrm>
            <a:off x="8769350" y="3892550"/>
            <a:ext cx="457200" cy="419100"/>
          </a:xfrm>
          <a:prstGeom prst="rect">
            <a:avLst/>
          </a:prstGeom>
          <a:noFill/>
          <a:ln/>
        </p:spPr>
        <p:txBody>
          <a:bodyPr wrap="square" lIns="0" tIns="0" rIns="0" bIns="0" rtlCol="0" anchor="t">
            <a:noAutofit/>
          </a:bodyPr>
          <a:lstStyle/>
          <a:p>
            <a:pPr algn="l" indent="0" marL="0">
              <a:lnSpc>
                <a:spcPct val="100000"/>
              </a:lnSpc>
              <a:buNone/>
              <a:defRPr spc="0"/>
            </a:pPr>
            <a:r>
              <a:rPr lang="en-US" sz="2400" b="1" dirty="0" spc="0">
                <a:solidFill>
                  <a:srgbClr val="000000"/>
                </a:solidFill>
                <a:latin typeface="Arial" pitchFamily="34" charset="0"/>
                <a:ea typeface="Arial" pitchFamily="34" charset="-122"/>
                <a:cs typeface="Arial" pitchFamily="34" charset="-120"/>
              </a:rPr>
              <a:t>03</a:t>
            </a:r>
            <a:endParaRPr lang="en-US" sz="2400" dirty="0" spc="0"/>
          </a:p>
        </p:txBody>
      </p:sp>
      <p:sp>
        <p:nvSpPr>
          <p:cNvPr id="25" name="reason-title-03"/>
          <p:cNvSpPr txBox="1"/>
          <p:nvPr/>
        </p:nvSpPr>
        <p:spPr>
          <a:xfrm>
            <a:off x="9340850" y="3905250"/>
            <a:ext cx="27178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 named expert reviewer</a:t>
            </a:r>
            <a:endParaRPr lang="en-US" sz="1400" dirty="0" spc="0"/>
          </a:p>
        </p:txBody>
      </p:sp>
      <p:sp>
        <p:nvSpPr>
          <p:cNvPr id="26" name="reason-detail-03"/>
          <p:cNvSpPr txBox="1"/>
          <p:nvPr/>
        </p:nvSpPr>
        <p:spPr>
          <a:xfrm>
            <a:off x="9340850" y="4127500"/>
            <a:ext cx="2724150" cy="552450"/>
          </a:xfrm>
          <a:prstGeom prst="rect">
            <a:avLst/>
          </a:prstGeom>
          <a:noFill/>
          <a:ln/>
        </p:spPr>
        <p:txBody>
          <a:bodyPr wrap="square" lIns="12700" tIns="12700" rIns="12700" bIns="12700" rtlCol="0" anchor="t">
            <a:noAutofit/>
          </a:bodyPr>
          <a:lstStyle/>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An accountable reviewer verifies</a:t>
            </a:r>
            <a:endParaRPr lang="en-US" sz="1400" dirty="0" spc="0"/>
          </a:p>
          <a:p>
            <a:pPr algn="l" indent="0" marL="0">
              <a:lnSpc>
                <a:spcPct val="120000"/>
              </a:lnSpc>
              <a:buNone/>
              <a:defRPr spc="0"/>
            </a:pPr>
            <a:r>
              <a:rPr lang="en-US" sz="1400" dirty="0" spc="0">
                <a:solidFill>
                  <a:srgbClr val="000000"/>
                </a:solidFill>
                <a:latin typeface="Arial" pitchFamily="34" charset="0"/>
                <a:ea typeface="Arial" pitchFamily="34" charset="-122"/>
                <a:cs typeface="Arial" pitchFamily="34" charset="-120"/>
              </a:rPr>
              <a:t>outputs before client release.</a:t>
            </a:r>
            <a:endParaRPr lang="en-US" sz="1400" dirty="0" spc="0"/>
          </a:p>
        </p:txBody>
      </p:sp>
      <p:sp>
        <p:nvSpPr>
          <p:cNvPr id="27" name="overlap-qualification"/>
          <p:cNvSpPr txBox="1"/>
          <p:nvPr/>
        </p:nvSpPr>
        <p:spPr>
          <a:xfrm>
            <a:off x="8890000" y="4781550"/>
            <a:ext cx="2959100" cy="520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Check task overlap before adding</a:t>
            </a:r>
            <a:endParaRPr lang="en-US" sz="1400" dirty="0" spc="0"/>
          </a:p>
          <a:p>
            <a:pPr algn="l" indent="0" marL="0">
              <a:lnSpc>
                <a:spcPct val="100000"/>
              </a:lnSpc>
              <a:buNone/>
              <a:defRPr spc="0"/>
            </a:pPr>
            <a:r>
              <a:rPr lang="en-US" sz="1400" dirty="0" spc="0">
                <a:solidFill>
                  <a:srgbClr val="000000"/>
                </a:solidFill>
                <a:latin typeface="Arial" pitchFamily="34" charset="0"/>
                <a:ea typeface="Arial" pitchFamily="34" charset="-122"/>
                <a:cs typeface="Arial" pitchFamily="34" charset="-120"/>
              </a:rPr>
              <a:t>workflow benefits.</a:t>
            </a:r>
            <a:endParaRPr lang="en-US" sz="1400" dirty="0" spc="0"/>
          </a:p>
        </p:txBody>
      </p:sp>
      <p:sp>
        <p:nvSpPr>
          <p:cNvPr id="28" name="decision-label"/>
          <p:cNvSpPr txBox="1"/>
          <p:nvPr/>
        </p:nvSpPr>
        <p:spPr>
          <a:xfrm>
            <a:off x="635000" y="5689600"/>
            <a:ext cx="266700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PILOT BOUNDARY</a:t>
            </a:r>
            <a:endParaRPr lang="en-US" sz="1400" dirty="0" spc="0"/>
          </a:p>
        </p:txBody>
      </p:sp>
      <p:sp>
        <p:nvSpPr>
          <p:cNvPr id="29" name="decision-message"/>
          <p:cNvSpPr txBox="1"/>
          <p:nvPr/>
        </p:nvSpPr>
        <p:spPr>
          <a:xfrm>
            <a:off x="3556000" y="5689600"/>
            <a:ext cx="8032750" cy="3302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Start with approved-source research synthesis.</a:t>
            </a:r>
            <a:endParaRPr lang="en-US" sz="1400" dirty="0" spc="0"/>
          </a:p>
        </p:txBody>
      </p:sp>
      <p:sp>
        <p:nvSpPr>
          <p:cNvPr id="30"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SlidePoise presentation</dc:title>
  <dc:subject>Editable presentation generated from SlidePoise scene contracts</dc:subject>
  <dc:creator>SlidePoise</dc:creator>
  <cp:lastModifiedBy>SlidePoise</cp:lastModifiedBy>
  <cp:revision>1</cp:revision>
  <dcterms:created xsi:type="dcterms:W3CDTF">2026-09-05T14:31:35Z</dcterms:created>
  <dcterms:modified xsi:type="dcterms:W3CDTF">2026-09-05T14:31:35Z</dcterms:modified>
</cp:coreProperties>
</file>