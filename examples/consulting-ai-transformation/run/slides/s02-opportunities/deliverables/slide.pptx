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Illustrative annual capacity hours</c:v>
                </c:pt>
              </c:strCache>
            </c:strRef>
          </c:tx>
          <c:spPr>
            <a:solidFill>
              <a:srgbClr val="FD5108"/>
            </a:solidFill>
            <a:effectLst/>
          </c:spPr>
          <c:invertIfNegative val="0"/>
          <c:dLbls>
            <c:numFmt formatCode="#,##0" sourceLinked="0"/>
            <c:txPr>
              <a:bodyPr wrap="none"/>
              <a:lstStyle/>
              <a:p>
                <a:pPr>
                  <a:defRPr b="0" i="0" strike="noStrike" sz="1200" u="none">
                    <a:solidFill>
                      <a:srgbClr val="000000"/>
                    </a:solidFill>
                    <a:latin typeface="Arial"/>
                  </a:defRPr>
                </a:pPr>
              </a:p>
            </c:txPr>
            <c:dLblPos val="outEnd"/>
            <c:showLegendKey val="0"/>
            <c:showVal val="1"/>
            <c:showCatName val="0"/>
            <c:showSerName val="0"/>
            <c:showPercent val="0"/>
            <c:showBubbleSize val="0"/>
            <c:showLeaderLines val="0"/>
          </c:dLbls>
          <c:dPt>
            <c:idx val="0"/>
            <c:invertIfNegative val="0"/>
            <c:bubble3D val="0"/>
            <c:spPr>
              <a:solidFill>
                <a:srgbClr val="FD5108"/>
              </a:solidFill>
              <a:effectLst/>
            </c:spPr>
          </c:dPt>
          <c:dPt>
            <c:idx val="1"/>
            <c:invertIfNegative val="0"/>
            <c:bubble3D val="0"/>
            <c:spPr>
              <a:solidFill>
                <a:srgbClr val="FF955F"/>
              </a:solidFill>
              <a:effectLst/>
            </c:spPr>
          </c:dPt>
          <c:dPt>
            <c:idx val="2"/>
            <c:invertIfNegative val="0"/>
            <c:bubble3D val="0"/>
            <c:spPr>
              <a:solidFill>
                <a:srgbClr val="FFC099"/>
              </a:solidFill>
              <a:effectLst/>
            </c:spPr>
          </c:dPt>
          <c:cat>
            <c:multiLvlStrRef>
              <c:f>Sheet1!$A$2:$A$4</c:f>
              <c:multiLvlStrCache>
                <c:ptCount val="3"/>
                <c:lvl>
                  <c:pt idx="0">
                    <c:v>Research
synthesis</c:v>
                  </c:pt>
                  <c:pt idx="1">
                    <c:v>Proposal
drafting</c:v>
                  </c:pt>
                  <c:pt idx="2">
                    <c:v>Knowledge
retrieval</c:v>
                  </c:pt>
                </c:lvl>
              </c:multiLvlStrCache>
            </c:multiLvlStrRef>
          </c:cat>
          <c:val>
            <c:numRef>
              <c:f>Sheet1!$B$2:$B$4</c:f>
              <c:numCache>
                <c:formatCode>General</c:formatCode>
                <c:ptCount val="3"/>
                <c:pt idx="0">
                  <c:v>1944</c:v>
                </c:pt>
                <c:pt idx="1">
                  <c:v>1440</c:v>
                </c:pt>
                <c:pt idx="2">
                  <c:v>1080</c:v>
                </c:pt>
              </c:numCache>
            </c:numRef>
          </c:val>
        </c:ser>
        <c:dLbls>
          <c:numFmt formatCode="#,##0" sourceLinked="0"/>
          <c:txPr>
            <a:bodyPr wrap="none"/>
            <a:lstStyle/>
            <a:p>
              <a:pPr>
                <a:defRPr b="0" i="0" strike="noStrike" sz="1200" u="none">
                  <a:solidFill>
                    <a:srgbClr val="000000"/>
                  </a:solidFill>
                  <a:latin typeface="Arial"/>
                </a:defRPr>
              </a:pPr>
            </a:p>
          </c:txPr>
          <c:dLblPos val="outEnd"/>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0"/>
          <c:min val="0"/>
        </c:scaling>
        <c:delete val="0"/>
        <c:axPos val="l"/>
        <c:majorGridlines>
          <c:spPr>
            <a:ln w="12700" cap="flat">
              <a:solidFill>
                <a:srgbClr val="DFE3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planning model for fictional Northstar Advisory. Annual capacity assumes 900 engagements. Research uses 900 x 12 baseline hours x 60% adoption x 30% time saved = 1,944 hours. The same formula produces 1,440 proposal hours and 1,080 retrieval hours from the displayed assumptions.
The three workflow estimates may overlap and cannot be added without checking task boundaries. Capacity released is not a cash saving. Control readiness determines the proposed sequence, and expert review remains required before any client release.
[SlidePoise sources]
Generated target visual: /private/tmp/.slidepoise-rebuild-h51errnw/slides/s02-opportunities/work/accepted-slide.png
Canonical asset remix-file-search-line: /Users/henry/Codes/AI_slide_drafting/examples/consulting-ai-transformation/run/work/icon-cache/file-search/remix-file-search-line.svg
Canonical asset remix-database-2-line: /Users/henry/Codes/AI_slide_drafting/examples/consulting-ai-transformation/run/work/icon-cache/database-2/remix-database-2-line.svg
Canonical asset remix-user-star-line: /Users/henry/Codes/AI_slide_drafting/examples/consulting-ai-transformation/run/work/icon-cache/user-star/remix-user-star-line.svg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POISE_MASTER_1">
    <p:bg>
      <p:bgPr>
        <a:solidFill>
          <a:srgbClr val="FFFFFF"/>
        </a:solidFill>
      </p:bgPr>
    </p:bg>
    <p:spTree>
      <p:nvGrpSpPr>
        <p:cNvPr id="1" name=""/>
        <p:cNvGrpSpPr/>
        <p:nvPr/>
      </p:nvGrpSpPr>
      <p:grpSpPr>
        <a:xfrm>
          <a:off x="0" y="0"/>
          <a:ext cx="0" cy="0"/>
          <a:chOff x="0" y="0"/>
          <a:chExt cx="0" cy="0"/>
        </a:xfrm>
      </p:grpSpPr>
      <p:sp>
        <p:nvSpPr>
          <p:cNvPr id="2" name="SC_MASTER_HEADER_LEFT"/>
          <p:cNvSpPr/>
          <p:nvPr/>
        </p:nvSpPr>
        <p:spPr>
          <a:xfrm>
            <a:off x="304800" y="31750"/>
            <a:ext cx="5547360" cy="342900"/>
          </a:xfrm>
          <a:prstGeom prst="rect">
            <a:avLst/>
          </a:prstGeom>
          <a:noFill/>
          <a:ln/>
        </p:spPr>
        <p:txBody>
          <a:bodyPr wrap="square" lIns="0" tIns="0" rIns="0" bIns="0" rtlCol="0" anchor="ctr">
            <a:normAutofit/>
          </a:bodyPr>
          <a:lstStyle/>
          <a:p>
            <a:pPr algn="l" indent="0" marL="0">
              <a:buNone/>
            </a:pPr>
            <a:r>
              <a:rPr lang="en-US" sz="1000" dirty="0">
                <a:solidFill>
                  <a:srgbClr val="666666"/>
                </a:solidFill>
                <a:latin typeface="Arial" pitchFamily="34" charset="0"/>
                <a:ea typeface="Arial" pitchFamily="34" charset="-122"/>
                <a:cs typeface="Arial" pitchFamily="34" charset="-120"/>
              </a:rPr>
              <a:t>NORTHSTAR ADVISORY</a:t>
            </a:r>
            <a:endParaRPr lang="en-US" sz="1000" dirty="0"/>
          </a:p>
        </p:txBody>
      </p:sp>
      <p:sp>
        <p:nvSpPr>
          <p:cNvPr id="3" name="SC_MASTER_HEADER_RIGHT"/>
          <p:cNvSpPr/>
          <p:nvPr/>
        </p:nvSpPr>
        <p:spPr>
          <a:xfrm>
            <a:off x="6339840" y="31750"/>
            <a:ext cx="5547360" cy="342900"/>
          </a:xfrm>
          <a:prstGeom prst="rect">
            <a:avLst/>
          </a:prstGeom>
          <a:noFill/>
          <a:ln/>
        </p:spPr>
        <p:txBody>
          <a:bodyPr wrap="square" lIns="0" tIns="0" rIns="0" bIns="0" rtlCol="0" anchor="ctr">
            <a:normAutofit/>
          </a:bodyPr>
          <a:lstStyle/>
          <a:p>
            <a:pPr algn="r" indent="0" marL="0">
              <a:buNone/>
            </a:pPr>
            <a:r>
              <a:rPr lang="en-US" sz="1000" dirty="0">
                <a:solidFill>
                  <a:srgbClr val="666666"/>
                </a:solidFill>
                <a:latin typeface="Arial" pitchFamily="34" charset="0"/>
                <a:ea typeface="Arial" pitchFamily="34" charset="-122"/>
                <a:cs typeface="Arial" pitchFamily="34" charset="-120"/>
              </a:rPr>
              <a:t>AI TRANSFORMATION</a:t>
            </a:r>
            <a:endParaRPr lang="en-US" sz="1000" dirty="0"/>
          </a:p>
        </p:txBody>
      </p:sp>
      <p:sp>
        <p:nvSpPr>
          <p:cNvPr id="4" name="Shape 2"/>
          <p:cNvSpPr/>
          <p:nvPr/>
        </p:nvSpPr>
        <p:spPr>
          <a:xfrm>
            <a:off x="304800" y="400050"/>
            <a:ext cx="11582400" cy="0"/>
          </a:xfrm>
          <a:prstGeom prst="line">
            <a:avLst/>
          </a:prstGeom>
          <a:noFill/>
          <a:ln w="6350">
            <a:solidFill>
              <a:srgbClr val="DFE3E6"/>
            </a:solidFill>
            <a:prstDash val="solid"/>
          </a:ln>
        </p:spPr>
      </p:sp>
      <p:sp>
        <p:nvSpPr>
          <p:cNvPr id="5" name="Shape 3"/>
          <p:cNvSpPr/>
          <p:nvPr/>
        </p:nvSpPr>
        <p:spPr>
          <a:xfrm>
            <a:off x="304800" y="6502400"/>
            <a:ext cx="11582400" cy="0"/>
          </a:xfrm>
          <a:prstGeom prst="line">
            <a:avLst/>
          </a:prstGeom>
          <a:noFill/>
          <a:ln w="6350">
            <a:solidFill>
              <a:srgbClr val="DFE3E6"/>
            </a:solidFill>
            <a:prstDash val="solid"/>
          </a:ln>
        </p:spPr>
      </p:sp>
      <p:sp>
        <p:nvSpPr>
          <p:cNvPr id="6" name="SC_MASTER_FOOTER_LEFT"/>
          <p:cNvSpPr/>
          <p:nvPr/>
        </p:nvSpPr>
        <p:spPr>
          <a:xfrm>
            <a:off x="304800" y="6534150"/>
            <a:ext cx="4267200" cy="292100"/>
          </a:xfrm>
          <a:prstGeom prst="rect">
            <a:avLst/>
          </a:prstGeom>
          <a:noFill/>
          <a:ln/>
        </p:spPr>
        <p:txBody>
          <a:bodyPr wrap="square" lIns="0" tIns="0" rIns="0" bIns="0" rtlCol="0" anchor="ctr">
            <a:normAutofit/>
          </a:bodyPr>
          <a:lstStyle/>
          <a:p>
            <a:pPr algn="l" indent="0" marL="0">
              <a:buNone/>
            </a:pPr>
            <a:r>
              <a:rPr lang="en-US" sz="900" dirty="0">
                <a:solidFill>
                  <a:srgbClr val="666666"/>
                </a:solidFill>
                <a:latin typeface="Arial" pitchFamily="34" charset="0"/>
                <a:ea typeface="Arial" pitchFamily="34" charset="-122"/>
                <a:cs typeface="Arial" pitchFamily="34" charset="-120"/>
              </a:rPr>
              <a:t>ILLUSTRATIVE PLANNING ASSUMPTIONS</a:t>
            </a:r>
            <a:endParaRPr lang="en-US" sz="900" dirty="0"/>
          </a:p>
        </p:txBody>
      </p:sp>
      <p:sp>
        <p:nvSpPr>
          <p:cNvPr id="7" name="SC_MASTER_FOOTER_CENTER"/>
          <p:cNvSpPr/>
          <p:nvPr/>
        </p:nvSpPr>
        <p:spPr>
          <a:xfrm>
            <a:off x="4267200" y="6534150"/>
            <a:ext cx="3657600" cy="292100"/>
          </a:xfrm>
          <a:prstGeom prst="rect">
            <a:avLst/>
          </a:prstGeom>
          <a:noFill/>
          <a:ln/>
        </p:spPr>
        <p:txBody>
          <a:bodyPr wrap="square" lIns="0" tIns="0" rIns="0" bIns="0" rtlCol="0" anchor="ctr">
            <a:normAutofit/>
          </a:bodyPr>
          <a:lstStyle/>
          <a:p>
            <a:pPr algn="ctr" indent="0" marL="0">
              <a:buNone/>
            </a:pPr>
            <a:r>
              <a:rPr lang="en-US" sz="900" dirty="0">
                <a:solidFill>
                  <a:srgbClr val="666666"/>
                </a:solidFill>
                <a:latin typeface="Arial" pitchFamily="34" charset="0"/>
                <a:ea typeface="Arial" pitchFamily="34" charset="-122"/>
                <a:cs typeface="Arial" pitchFamily="34" charset="-120"/>
              </a:rPr>
              <a:t>Capacity value is not a cash saving.</a:t>
            </a:r>
            <a:endParaRPr lang="en-US" sz="900" dirty="0"/>
          </a:p>
        </p:txBody>
      </p:sp>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1-3.png"/><Relationship Id="rId5" Type="http://schemas.openxmlformats.org/officeDocument/2006/relationships/image" Target="../media/image-1-4.svg"/><Relationship Id="rId6" Type="http://schemas.openxmlformats.org/officeDocument/2006/relationships/image" Target="../media/image-1-5.png"/><Relationship Id="rId7" Type="http://schemas.openxmlformats.org/officeDocument/2006/relationships/image" Target="../media/image-1-6.svg"/><Relationship Id="rId8" Type="http://schemas.openxmlformats.org/officeDocument/2006/relationships/slideLayout" Target="../slideLayouts/slideLayout2.xml"/><Relationship Id="rId9"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formula-strip"/>
          <p:cNvSpPr/>
          <p:nvPr/>
        </p:nvSpPr>
        <p:spPr>
          <a:xfrm>
            <a:off x="4826000" y="3149600"/>
            <a:ext cx="7048500" cy="381000"/>
          </a:xfrm>
          <a:prstGeom prst="rect">
            <a:avLst/>
          </a:prstGeom>
          <a:solidFill>
            <a:srgbClr val="F5F7F8"/>
          </a:solidFill>
          <a:ln w="12700">
            <a:solidFill>
              <a:srgbClr val="FFFFFF">
                <a:alpha val="0"/>
              </a:srgbClr>
            </a:solidFill>
            <a:prstDash val="solid"/>
          </a:ln>
        </p:spPr>
      </p:sp>
      <p:sp>
        <p:nvSpPr>
          <p:cNvPr id="3" name="decision-band"/>
          <p:cNvSpPr/>
          <p:nvPr/>
        </p:nvSpPr>
        <p:spPr>
          <a:xfrm>
            <a:off x="292100" y="5708650"/>
            <a:ext cx="11607800" cy="590550"/>
          </a:xfrm>
          <a:prstGeom prst="rect">
            <a:avLst/>
          </a:prstGeom>
          <a:solidFill>
            <a:srgbClr val="FFF5ED"/>
          </a:solidFill>
          <a:ln w="12700">
            <a:solidFill>
              <a:srgbClr val="FFFFFF">
                <a:alpha val="0"/>
              </a:srgbClr>
            </a:solidFill>
            <a:prstDash val="solid"/>
          </a:ln>
        </p:spPr>
      </p:sp>
      <p:sp>
        <p:nvSpPr>
          <p:cNvPr id="4" name="decision-accent"/>
          <p:cNvSpPr/>
          <p:nvPr/>
        </p:nvSpPr>
        <p:spPr>
          <a:xfrm>
            <a:off x="292100" y="5708650"/>
            <a:ext cx="50800" cy="590550"/>
          </a:xfrm>
          <a:prstGeom prst="rect">
            <a:avLst/>
          </a:prstGeom>
          <a:solidFill>
            <a:srgbClr val="FD5108"/>
          </a:solidFill>
          <a:ln w="12700">
            <a:solidFill>
              <a:srgbClr val="FFFFFF">
                <a:alpha val="0"/>
              </a:srgbClr>
            </a:solidFill>
            <a:prstDash val="solid"/>
          </a:ln>
        </p:spPr>
      </p:sp>
      <p:graphicFrame>
        <p:nvGraphicFramePr>
          <p:cNvPr id="5" name="annual-capacity-chart" descr=""/>
          <p:cNvGraphicFramePr/>
          <p:nvPr/>
        </p:nvGraphicFramePr>
        <p:xfrm>
          <a:off x="254000" y="1835150"/>
          <a:ext cx="4191000" cy="18415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value-model"/>
          <p:cNvGraphicFramePr>
            <a:graphicFrameLocks noGrp="1"/>
          </p:cNvGraphicFramePr>
          <p:nvPr>
            <p:extLst>
              <p:ext uri="{D42A27DB-BD31-4B8C-83A1-F6EECF244321}">
                <p14:modId xmlns:p14="http://schemas.microsoft.com/office/powerpoint/2010/main" val="1579011935"/>
              </p:ext>
            </p:extLst>
          </p:nvPr>
        </p:nvGraphicFramePr>
        <p:xfrm>
          <a:off x="4826000" y="1689100"/>
          <a:ext cx="7048500" cy="1460500"/>
        </p:xfrm>
        <a:graphic>
          <a:graphicData uri="http://schemas.openxmlformats.org/drawingml/2006/table">
            <a:tbl>
              <a:tblPr/>
              <a:tblGrid>
                <a:gridCol w="1809750"/>
                <a:gridCol w="1714500"/>
                <a:gridCol w="1714500"/>
                <a:gridCol w="1809750"/>
              </a:tblGrid>
              <a:tr h="330200">
                <a:tc>
                  <a:txBody>
                    <a:bodyPr>
                      <a:noAutofit/>
                    </a:bodyPr>
                    <a:lstStyle/>
                    <a:p>
                      <a:pPr algn="l" indent="0" marL="0">
                        <a:buNone/>
                      </a:pPr>
                      <a:r>
                        <a:rPr lang="en-US" sz="1100" b="1" dirty="0">
                          <a:solidFill>
                            <a:srgbClr val="FFFFFF"/>
                          </a:solidFill>
                          <a:latin typeface="Arial" pitchFamily="34" charset="0"/>
                          <a:ea typeface="Arial" pitchFamily="34" charset="-122"/>
                          <a:cs typeface="Arial" pitchFamily="34" charset="-120"/>
                        </a:rPr>
                        <a:t>Workflow</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Baseline h</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Adoption</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Time saved</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374650">
                <a:tc>
                  <a:txBody>
                    <a:bodyPr>
                      <a:noAutofit/>
                    </a:bodyPr>
                    <a:lstStyle/>
                    <a:p>
                      <a:pPr algn="l" indent="0" marL="0">
                        <a:buNone/>
                      </a:pPr>
                      <a:r>
                        <a:rPr lang="en-US" sz="1100" b="1" dirty="0">
                          <a:solidFill>
                            <a:srgbClr val="000000"/>
                          </a:solidFill>
                          <a:latin typeface="Arial" pitchFamily="34" charset="0"/>
                          <a:ea typeface="Arial" pitchFamily="34" charset="-122"/>
                          <a:cs typeface="Arial" pitchFamily="34" charset="-120"/>
                        </a:rPr>
                        <a:t>Research</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100" dirty="0">
                          <a:solidFill>
                            <a:srgbClr val="000000"/>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100" dirty="0">
                          <a:solidFill>
                            <a:srgbClr val="000000"/>
                          </a:solidFill>
                          <a:latin typeface="Arial" pitchFamily="34" charset="0"/>
                          <a:ea typeface="Arial" pitchFamily="34" charset="-122"/>
                          <a:cs typeface="Arial" pitchFamily="34" charset="-120"/>
                        </a:rPr>
                        <a:t>60%</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100" dirty="0">
                          <a:solidFill>
                            <a:srgbClr val="000000"/>
                          </a:solidFill>
                          <a:latin typeface="Arial" pitchFamily="34" charset="0"/>
                          <a:ea typeface="Arial" pitchFamily="34" charset="-122"/>
                          <a:cs typeface="Arial" pitchFamily="34" charset="-120"/>
                        </a:rPr>
                        <a:t>30%</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374650">
                <a:tc>
                  <a:txBody>
                    <a:bodyPr>
                      <a:noAutofit/>
                    </a:bodyPr>
                    <a:lstStyle/>
                    <a:p>
                      <a:pPr algn="l" indent="0" marL="0">
                        <a:buNone/>
                      </a:pPr>
                      <a:r>
                        <a:rPr lang="en-US" sz="1100" b="1" dirty="0">
                          <a:solidFill>
                            <a:srgbClr val="000000"/>
                          </a:solidFill>
                          <a:latin typeface="Arial" pitchFamily="34" charset="0"/>
                          <a:ea typeface="Arial" pitchFamily="34" charset="-122"/>
                          <a:cs typeface="Arial" pitchFamily="34" charset="-120"/>
                        </a:rPr>
                        <a:t>Proposal</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100" dirty="0">
                          <a:solidFill>
                            <a:srgbClr val="000000"/>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100" dirty="0">
                          <a:solidFill>
                            <a:srgbClr val="000000"/>
                          </a:solidFill>
                          <a:latin typeface="Arial" pitchFamily="34" charset="0"/>
                          <a:ea typeface="Arial" pitchFamily="34" charset="-122"/>
                          <a:cs typeface="Arial" pitchFamily="34" charset="-120"/>
                        </a:rPr>
                        <a:t>50%</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100" dirty="0">
                          <a:solidFill>
                            <a:srgbClr val="000000"/>
                          </a:solidFill>
                          <a:latin typeface="Arial" pitchFamily="34" charset="0"/>
                          <a:ea typeface="Arial" pitchFamily="34" charset="-122"/>
                          <a:cs typeface="Arial" pitchFamily="34" charset="-120"/>
                        </a:rPr>
                        <a:t>40%</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381000">
                <a:tc>
                  <a:txBody>
                    <a:bodyPr>
                      <a:noAutofit/>
                    </a:bodyPr>
                    <a:lstStyle/>
                    <a:p>
                      <a:pPr algn="l" indent="0" marL="0">
                        <a:buNone/>
                      </a:pPr>
                      <a:r>
                        <a:rPr lang="en-US" sz="1100" b="1" dirty="0">
                          <a:solidFill>
                            <a:srgbClr val="000000"/>
                          </a:solidFill>
                          <a:latin typeface="Arial" pitchFamily="34" charset="0"/>
                          <a:ea typeface="Arial" pitchFamily="34" charset="-122"/>
                          <a:cs typeface="Arial" pitchFamily="34" charset="-120"/>
                        </a:rPr>
                        <a:t>Retrieval</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100" dirty="0">
                          <a:solidFill>
                            <a:srgbClr val="000000"/>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100" dirty="0">
                          <a:solidFill>
                            <a:srgbClr val="000000"/>
                          </a:solidFill>
                          <a:latin typeface="Arial" pitchFamily="34" charset="0"/>
                          <a:ea typeface="Arial" pitchFamily="34" charset="-122"/>
                          <a:cs typeface="Arial" pitchFamily="34" charset="-120"/>
                        </a:rPr>
                        <a:t>60%</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100" dirty="0">
                          <a:solidFill>
                            <a:srgbClr val="000000"/>
                          </a:solidFill>
                          <a:latin typeface="Arial" pitchFamily="34" charset="0"/>
                          <a:ea typeface="Arial" pitchFamily="34" charset="-122"/>
                          <a:cs typeface="Arial" pitchFamily="34" charset="-120"/>
                        </a:rPr>
                        <a:t>40%</a:t>
                      </a:r>
                      <a:endParaRPr lang="en-US" sz="11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bl>
          </a:graphicData>
        </a:graphic>
      </p:graphicFrame>
      <p:graphicFrame>
        <p:nvGraphicFramePr>
          <p:cNvPr id="7" name="pilot-sequencing"/>
          <p:cNvGraphicFramePr>
            <a:graphicFrameLocks noGrp="1"/>
          </p:cNvGraphicFramePr>
          <p:nvPr>
            <p:extLst>
              <p:ext uri="{D42A27DB-BD31-4B8C-83A1-F6EECF244321}">
                <p14:modId xmlns:p14="http://schemas.microsoft.com/office/powerpoint/2010/main" val="1579011935"/>
              </p:ext>
            </p:extLst>
          </p:nvPr>
        </p:nvGraphicFramePr>
        <p:xfrm>
          <a:off x="4826000" y="3987800"/>
          <a:ext cx="7048500" cy="1524000"/>
        </p:xfrm>
        <a:graphic>
          <a:graphicData uri="http://schemas.openxmlformats.org/drawingml/2006/table">
            <a:tbl>
              <a:tblPr/>
              <a:tblGrid>
                <a:gridCol w="1841500"/>
                <a:gridCol w="2286000"/>
                <a:gridCol w="1587500"/>
                <a:gridCol w="1333500"/>
              </a:tblGrid>
              <a:tr h="317500">
                <a:tc>
                  <a:txBody>
                    <a:bodyPr>
                      <a:noAutofit/>
                    </a:bodyPr>
                    <a:lstStyle/>
                    <a:p>
                      <a:pPr algn="l" indent="0" marL="0">
                        <a:buNone/>
                      </a:pPr>
                      <a:r>
                        <a:rPr lang="en-US" sz="1000" b="1" dirty="0">
                          <a:solidFill>
                            <a:srgbClr val="FFFFFF"/>
                          </a:solidFill>
                          <a:latin typeface="Arial" pitchFamily="34" charset="0"/>
                          <a:ea typeface="Arial" pitchFamily="34" charset="-122"/>
                          <a:cs typeface="Arial" pitchFamily="34" charset="-120"/>
                        </a:rPr>
                        <a:t>Workflow</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Control readiness</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Owner</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Sequence</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400050">
                <a:tc>
                  <a:txBody>
                    <a:bodyPr>
                      <a:noAutofit/>
                    </a:bodyPr>
                    <a:lstStyle/>
                    <a:p>
                      <a:pPr algn="l" indent="0" marL="0">
                        <a:buNone/>
                      </a:pPr>
                      <a:r>
                        <a:rPr lang="en-US" sz="1000" b="1" dirty="0">
                          <a:solidFill>
                            <a:srgbClr val="000000"/>
                          </a:solidFill>
                          <a:latin typeface="Arial" pitchFamily="34" charset="0"/>
                          <a:ea typeface="Arial" pitchFamily="34" charset="-122"/>
                          <a:cs typeface="Arial" pitchFamily="34" charset="-120"/>
                        </a:rPr>
                        <a:t>Research synthesis</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Approved corpus</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Explicit review</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Practice lead</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b="1" dirty="0">
                          <a:solidFill>
                            <a:srgbClr val="FD5108"/>
                          </a:solidFill>
                          <a:latin typeface="Arial" pitchFamily="34" charset="0"/>
                          <a:ea typeface="Arial" pitchFamily="34" charset="-122"/>
                          <a:cs typeface="Arial" pitchFamily="34" charset="-120"/>
                        </a:rPr>
                        <a:t>START</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400050">
                <a:tc>
                  <a:txBody>
                    <a:bodyPr>
                      <a:noAutofit/>
                    </a:bodyPr>
                    <a:lstStyle/>
                    <a:p>
                      <a:pPr algn="l" indent="0" marL="0">
                        <a:buNone/>
                      </a:pPr>
                      <a:r>
                        <a:rPr lang="en-US" sz="1000" b="1" dirty="0">
                          <a:solidFill>
                            <a:srgbClr val="000000"/>
                          </a:solidFill>
                          <a:latin typeface="Arial" pitchFamily="34" charset="0"/>
                          <a:ea typeface="Arial" pitchFamily="34" charset="-122"/>
                          <a:cs typeface="Arial" pitchFamily="34" charset="-120"/>
                        </a:rPr>
                        <a:t>Proposal drafting</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Claims and commitments</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need controls</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BD lead</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000" b="1" dirty="0">
                          <a:solidFill>
                            <a:srgbClr val="FD5108"/>
                          </a:solidFill>
                          <a:latin typeface="Arial" pitchFamily="34" charset="0"/>
                          <a:ea typeface="Arial" pitchFamily="34" charset="-122"/>
                          <a:cs typeface="Arial" pitchFamily="34" charset="-120"/>
                        </a:rPr>
                        <a:t>NEXT</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406400">
                <a:tc>
                  <a:txBody>
                    <a:bodyPr>
                      <a:noAutofit/>
                    </a:bodyPr>
                    <a:lstStyle/>
                    <a:p>
                      <a:pPr algn="l" indent="0" marL="0">
                        <a:buNone/>
                      </a:pPr>
                      <a:r>
                        <a:rPr lang="en-US" sz="1000" b="1" dirty="0">
                          <a:solidFill>
                            <a:srgbClr val="000000"/>
                          </a:solidFill>
                          <a:latin typeface="Arial" pitchFamily="34" charset="0"/>
                          <a:ea typeface="Arial" pitchFamily="34" charset="-122"/>
                          <a:cs typeface="Arial" pitchFamily="34" charset="-120"/>
                        </a:rPr>
                        <a:t>Knowledge retrieval</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Permissions need</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cleanup</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Knowledge lead</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b="1" dirty="0">
                          <a:solidFill>
                            <a:srgbClr val="FD5108"/>
                          </a:solidFill>
                          <a:latin typeface="Arial" pitchFamily="34" charset="0"/>
                          <a:ea typeface="Arial" pitchFamily="34" charset="-122"/>
                          <a:cs typeface="Arial" pitchFamily="34" charset="-120"/>
                        </a:rPr>
                        <a:t>LATER</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bl>
          </a:graphicData>
        </a:graphic>
      </p:graphicFrame>
      <p:sp>
        <p:nvSpPr>
          <p:cNvPr id="8" name="headline"/>
          <p:cNvSpPr txBox="1"/>
          <p:nvPr/>
        </p:nvSpPr>
        <p:spPr>
          <a:xfrm>
            <a:off x="292100" y="533400"/>
            <a:ext cx="11607800" cy="4826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Start where value and control readiness meet</a:t>
            </a:r>
            <a:endParaRPr lang="en-US" sz="3200" dirty="0" spc="0"/>
          </a:p>
        </p:txBody>
      </p:sp>
      <p:sp>
        <p:nvSpPr>
          <p:cNvPr id="9" name="subtitle"/>
          <p:cNvSpPr txBox="1"/>
          <p:nvPr/>
        </p:nvSpPr>
        <p:spPr>
          <a:xfrm>
            <a:off x="298450" y="1047750"/>
            <a:ext cx="11588750" cy="304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Capacity creates the opportunity. Control readiness sets the sequence.</a:t>
            </a:r>
            <a:endParaRPr lang="en-US" sz="1600" dirty="0" spc="0"/>
          </a:p>
        </p:txBody>
      </p:sp>
      <p:sp>
        <p:nvSpPr>
          <p:cNvPr id="10" name="capacity-heading"/>
          <p:cNvSpPr txBox="1"/>
          <p:nvPr/>
        </p:nvSpPr>
        <p:spPr>
          <a:xfrm>
            <a:off x="234950" y="1409700"/>
            <a:ext cx="4318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50" b="1" dirty="0" spc="0">
                <a:solidFill>
                  <a:srgbClr val="000000"/>
                </a:solidFill>
                <a:latin typeface="Arial" pitchFamily="34" charset="0"/>
                <a:ea typeface="Arial" pitchFamily="34" charset="-122"/>
                <a:cs typeface="Arial" pitchFamily="34" charset="-120"/>
              </a:rPr>
              <a:t>ANNUAL CAPACITY POTENTIAL</a:t>
            </a:r>
            <a:endParaRPr lang="en-US" sz="1350" dirty="0" spc="0"/>
          </a:p>
        </p:txBody>
      </p:sp>
      <p:sp>
        <p:nvSpPr>
          <p:cNvPr id="11" name="chart-unit"/>
          <p:cNvSpPr txBox="1"/>
          <p:nvPr/>
        </p:nvSpPr>
        <p:spPr>
          <a:xfrm>
            <a:off x="234950" y="1638300"/>
            <a:ext cx="1905000" cy="177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100" dirty="0" spc="0">
                <a:solidFill>
                  <a:srgbClr val="000000"/>
                </a:solidFill>
                <a:latin typeface="Arial" pitchFamily="34" charset="0"/>
                <a:ea typeface="Arial" pitchFamily="34" charset="-122"/>
                <a:cs typeface="Arial" pitchFamily="34" charset="-120"/>
              </a:rPr>
              <a:t>Illustrative hours</a:t>
            </a:r>
            <a:endParaRPr lang="en-US" sz="1100" dirty="0" spc="0"/>
          </a:p>
        </p:txBody>
      </p:sp>
      <p:sp>
        <p:nvSpPr>
          <p:cNvPr id="12" name="value-model-heading"/>
          <p:cNvSpPr txBox="1"/>
          <p:nvPr/>
        </p:nvSpPr>
        <p:spPr>
          <a:xfrm>
            <a:off x="4826000" y="1409700"/>
            <a:ext cx="70485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50" b="1" dirty="0" spc="0">
                <a:solidFill>
                  <a:srgbClr val="000000"/>
                </a:solidFill>
                <a:latin typeface="Arial" pitchFamily="34" charset="0"/>
                <a:ea typeface="Arial" pitchFamily="34" charset="-122"/>
                <a:cs typeface="Arial" pitchFamily="34" charset="-120"/>
              </a:rPr>
              <a:t>WORKFLOW VALUE MODEL</a:t>
            </a:r>
            <a:endParaRPr lang="en-US" sz="1350" dirty="0" spc="0"/>
          </a:p>
        </p:txBody>
      </p:sp>
      <p:sp>
        <p:nvSpPr>
          <p:cNvPr id="13" name="capacity-formula"/>
          <p:cNvSpPr txBox="1"/>
          <p:nvPr/>
        </p:nvSpPr>
        <p:spPr>
          <a:xfrm>
            <a:off x="5016500" y="3200400"/>
            <a:ext cx="6667500" cy="279400"/>
          </a:xfrm>
          <a:prstGeom prst="rect">
            <a:avLst/>
          </a:prstGeom>
          <a:noFill/>
          <a:ln/>
        </p:spPr>
        <p:txBody>
          <a:bodyPr wrap="square" lIns="12700" tIns="12700" rIns="12700" bIns="12700" rtlCol="0" anchor="ctr">
            <a:noAutofit/>
          </a:bodyPr>
          <a:lstStyle/>
          <a:p>
            <a:pPr algn="ctr" indent="0" marL="0">
              <a:lnSpc>
                <a:spcPct val="100000"/>
              </a:lnSpc>
              <a:buNone/>
              <a:defRPr spc="0"/>
            </a:pPr>
            <a:r>
              <a:rPr lang="en-US" sz="1200" b="1" dirty="0" spc="0">
                <a:solidFill>
                  <a:srgbClr val="000000"/>
                </a:solidFill>
                <a:latin typeface="Arial" pitchFamily="34" charset="0"/>
                <a:ea typeface="Arial" pitchFamily="34" charset="-122"/>
                <a:cs typeface="Arial" pitchFamily="34" charset="-120"/>
              </a:rPr>
              <a:t>Annual hours = 900 engagements × baseline h × adoption × time saved</a:t>
            </a:r>
            <a:endParaRPr lang="en-US" sz="1200" dirty="0" spc="0"/>
          </a:p>
        </p:txBody>
      </p:sp>
      <p:sp>
        <p:nvSpPr>
          <p:cNvPr id="14" name="reason-heading"/>
          <p:cNvSpPr txBox="1"/>
          <p:nvPr/>
        </p:nvSpPr>
        <p:spPr>
          <a:xfrm>
            <a:off x="234950" y="3784600"/>
            <a:ext cx="4318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50" b="1" dirty="0" spc="0">
                <a:solidFill>
                  <a:srgbClr val="000000"/>
                </a:solidFill>
                <a:latin typeface="Arial" pitchFamily="34" charset="0"/>
                <a:ea typeface="Arial" pitchFamily="34" charset="-122"/>
                <a:cs typeface="Arial" pitchFamily="34" charset="-120"/>
              </a:rPr>
              <a:t>WHY RESEARCH WINS FIRST</a:t>
            </a:r>
            <a:endParaRPr lang="en-US" sz="1350" dirty="0" spc="0"/>
          </a:p>
        </p:txBody>
      </p:sp>
      <p:sp>
        <p:nvSpPr>
          <p:cNvPr id="15" name="reason-file"/>
          <p:cNvSpPr txBox="1"/>
          <p:nvPr/>
        </p:nvSpPr>
        <p:spPr>
          <a:xfrm>
            <a:off x="901700" y="4108450"/>
            <a:ext cx="3429000" cy="254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200" dirty="0" spc="0">
                <a:solidFill>
                  <a:srgbClr val="000000"/>
                </a:solidFill>
                <a:latin typeface="Arial" pitchFamily="34" charset="0"/>
                <a:ea typeface="Arial" pitchFamily="34" charset="-122"/>
                <a:cs typeface="Arial" pitchFamily="34" charset="-120"/>
              </a:rPr>
              <a:t>Frequent, comparable tasks</a:t>
            </a:r>
            <a:endParaRPr lang="en-US" sz="1200" dirty="0" spc="0"/>
          </a:p>
        </p:txBody>
      </p:sp>
      <p:sp>
        <p:nvSpPr>
          <p:cNvPr id="16" name="reason-corpus"/>
          <p:cNvSpPr txBox="1"/>
          <p:nvPr/>
        </p:nvSpPr>
        <p:spPr>
          <a:xfrm>
            <a:off x="901700" y="4552950"/>
            <a:ext cx="3429000" cy="254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200" dirty="0" spc="0">
                <a:solidFill>
                  <a:srgbClr val="000000"/>
                </a:solidFill>
                <a:latin typeface="Arial" pitchFamily="34" charset="0"/>
                <a:ea typeface="Arial" pitchFamily="34" charset="-122"/>
                <a:cs typeface="Arial" pitchFamily="34" charset="-120"/>
              </a:rPr>
              <a:t>A bounded source corpus</a:t>
            </a:r>
            <a:endParaRPr lang="en-US" sz="1200" dirty="0" spc="0"/>
          </a:p>
        </p:txBody>
      </p:sp>
      <p:sp>
        <p:nvSpPr>
          <p:cNvPr id="17" name="reason-reviewer"/>
          <p:cNvSpPr txBox="1"/>
          <p:nvPr/>
        </p:nvSpPr>
        <p:spPr>
          <a:xfrm>
            <a:off x="901700" y="4997450"/>
            <a:ext cx="3429000" cy="254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200" dirty="0" spc="0">
                <a:solidFill>
                  <a:srgbClr val="000000"/>
                </a:solidFill>
                <a:latin typeface="Arial" pitchFamily="34" charset="0"/>
                <a:ea typeface="Arial" pitchFamily="34" charset="-122"/>
                <a:cs typeface="Arial" pitchFamily="34" charset="-120"/>
              </a:rPr>
              <a:t>A named expert reviewer</a:t>
            </a:r>
            <a:endParaRPr lang="en-US" sz="1200" dirty="0" spc="0"/>
          </a:p>
        </p:txBody>
      </p:sp>
      <p:sp>
        <p:nvSpPr>
          <p:cNvPr id="18" name="sequencing-heading"/>
          <p:cNvSpPr txBox="1"/>
          <p:nvPr/>
        </p:nvSpPr>
        <p:spPr>
          <a:xfrm>
            <a:off x="4826000" y="3708400"/>
            <a:ext cx="70485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50" b="1" dirty="0" spc="0">
                <a:solidFill>
                  <a:srgbClr val="000000"/>
                </a:solidFill>
                <a:latin typeface="Arial" pitchFamily="34" charset="0"/>
                <a:ea typeface="Arial" pitchFamily="34" charset="-122"/>
                <a:cs typeface="Arial" pitchFamily="34" charset="-120"/>
              </a:rPr>
              <a:t>PILOT SEQUENCING TEST</a:t>
            </a:r>
            <a:endParaRPr lang="en-US" sz="1350" dirty="0" spc="0"/>
          </a:p>
        </p:txBody>
      </p:sp>
      <p:sp>
        <p:nvSpPr>
          <p:cNvPr id="19" name="overlap-note"/>
          <p:cNvSpPr txBox="1"/>
          <p:nvPr/>
        </p:nvSpPr>
        <p:spPr>
          <a:xfrm>
            <a:off x="4826000" y="5530850"/>
            <a:ext cx="5397500" cy="1905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000" dirty="0" spc="0">
                <a:solidFill>
                  <a:srgbClr val="000000"/>
                </a:solidFill>
                <a:latin typeface="Arial" pitchFamily="34" charset="0"/>
                <a:ea typeface="Arial" pitchFamily="34" charset="-122"/>
                <a:cs typeface="Arial" pitchFamily="34" charset="-120"/>
              </a:rPr>
              <a:t>Check task overlap before adding workflow benefits.</a:t>
            </a:r>
            <a:endParaRPr lang="en-US" sz="1000" dirty="0" spc="0"/>
          </a:p>
        </p:txBody>
      </p:sp>
      <p:sp>
        <p:nvSpPr>
          <p:cNvPr id="20" name="decision-label"/>
          <p:cNvSpPr txBox="1"/>
          <p:nvPr/>
        </p:nvSpPr>
        <p:spPr>
          <a:xfrm>
            <a:off x="508000" y="5822950"/>
            <a:ext cx="27305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PILOT BOUNDARY</a:t>
            </a:r>
            <a:endParaRPr lang="en-US" sz="1400" dirty="0" spc="0"/>
          </a:p>
        </p:txBody>
      </p:sp>
      <p:sp>
        <p:nvSpPr>
          <p:cNvPr id="21" name="decision-message"/>
          <p:cNvSpPr txBox="1"/>
          <p:nvPr/>
        </p:nvSpPr>
        <p:spPr>
          <a:xfrm>
            <a:off x="3302000" y="5822950"/>
            <a:ext cx="83693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Start with approved-source research synthesis.</a:t>
            </a:r>
            <a:endParaRPr lang="en-US" sz="1400" dirty="0" spc="0"/>
          </a:p>
        </p:txBody>
      </p:sp>
      <p:pic>
        <p:nvPicPr>
          <p:cNvPr id="22" name="reason-icon-file" descr="remix-file-search-line">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81000" y="4108450"/>
            <a:ext cx="260350" cy="260350"/>
          </a:xfrm>
          <a:prstGeom prst="rect">
            <a:avLst/>
          </a:prstGeom>
        </p:spPr>
      </p:pic>
      <p:pic>
        <p:nvPicPr>
          <p:cNvPr id="23" name="reason-icon-corpus" descr="remix-database-2-line">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1000" y="4552950"/>
            <a:ext cx="260350" cy="260350"/>
          </a:xfrm>
          <a:prstGeom prst="rect">
            <a:avLst/>
          </a:prstGeom>
        </p:spPr>
      </p:pic>
      <p:pic>
        <p:nvPicPr>
          <p:cNvPr id="24" name="reason-icon-reviewer" descr="remix-user-star-line">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1000" y="4997450"/>
            <a:ext cx="260350" cy="260350"/>
          </a:xfrm>
          <a:prstGeom prst="rect">
            <a:avLst/>
          </a:prstGeom>
        </p:spPr>
      </p:pic>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s02-opportunities</dc:title>
  <dc:subject>Editable presentation generated from SlidePoise scene contracts</dc:subject>
  <dc:creator>SlidePoise</dc:creator>
  <cp:lastModifiedBy>SlidePoise</cp:lastModifiedBy>
  <cp:revision>1</cp:revision>
  <dcterms:created xsi:type="dcterms:W3CDTF">2026-09-08T09:04:44Z</dcterms:created>
  <dcterms:modified xsi:type="dcterms:W3CDTF">2026-09-08T09:04:44Z</dcterms:modified>
</cp:coreProperties>
</file>