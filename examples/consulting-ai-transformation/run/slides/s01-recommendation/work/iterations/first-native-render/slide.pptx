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/Users/henry/Codes/AI_slide_drafting/output/showcase-revisions/consulting-v3-authoring/slides/s01-recommendation/work/accepted-slide.png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POISE_MASTER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_MASTER_HEADER_LEFT"/>
          <p:cNvSpPr/>
          <p:nvPr/>
        </p:nvSpPr>
        <p:spPr>
          <a:xfrm>
            <a:off x="30480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ADVISORY</a:t>
            </a:r>
            <a:endParaRPr lang="en-US" sz="950" dirty="0"/>
          </a:p>
        </p:txBody>
      </p:sp>
      <p:sp>
        <p:nvSpPr>
          <p:cNvPr id="3" name="SC_MASTER_HEADER_RIGHT"/>
          <p:cNvSpPr/>
          <p:nvPr/>
        </p:nvSpPr>
        <p:spPr>
          <a:xfrm>
            <a:off x="633984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04800" y="40005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650240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6" name="SC_MASTER_FOOTER_LEFT"/>
          <p:cNvSpPr/>
          <p:nvPr/>
        </p:nvSpPr>
        <p:spPr>
          <a:xfrm>
            <a:off x="304800" y="6534150"/>
            <a:ext cx="426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PLANNING ASSUMPTIONS</a:t>
            </a:r>
            <a:endParaRPr lang="en-US" sz="850" dirty="0"/>
          </a:p>
        </p:txBody>
      </p:sp>
      <p:sp>
        <p:nvSpPr>
          <p:cNvPr id="7" name="SC_MASTER_FOOTER_CENTER"/>
          <p:cNvSpPr/>
          <p:nvPr/>
        </p:nvSpPr>
        <p:spPr>
          <a:xfrm>
            <a:off x="4267200" y="6534150"/>
            <a:ext cx="3657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value is not a cash saving.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ction-rule"/>
          <p:cNvSpPr/>
          <p:nvPr/>
        </p:nvSpPr>
        <p:spPr>
          <a:xfrm>
            <a:off x="298450" y="1587500"/>
            <a:ext cx="11601450" cy="12700"/>
          </a:xfrm>
          <a:prstGeom prst="rect">
            <a:avLst/>
          </a:prstGeom>
          <a:solidFill>
            <a:srgbClr val="AAAAA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metric-divider-1"/>
          <p:cNvSpPr/>
          <p:nvPr/>
        </p:nvSpPr>
        <p:spPr>
          <a:xfrm>
            <a:off x="298450" y="3251200"/>
            <a:ext cx="3371850" cy="6350"/>
          </a:xfrm>
          <a:prstGeom prst="rect">
            <a:avLst/>
          </a:prstGeom>
          <a:solidFill>
            <a:srgbClr val="B6B6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metric-divider-2"/>
          <p:cNvSpPr/>
          <p:nvPr/>
        </p:nvSpPr>
        <p:spPr>
          <a:xfrm>
            <a:off x="298450" y="4387850"/>
            <a:ext cx="3371850" cy="6350"/>
          </a:xfrm>
          <a:prstGeom prst="rect">
            <a:avLst/>
          </a:prstGeom>
          <a:solidFill>
            <a:srgbClr val="B6B6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argument-divider-1"/>
          <p:cNvSpPr/>
          <p:nvPr/>
        </p:nvSpPr>
        <p:spPr>
          <a:xfrm>
            <a:off x="4451350" y="3251200"/>
            <a:ext cx="2787650" cy="6350"/>
          </a:xfrm>
          <a:prstGeom prst="rect">
            <a:avLst/>
          </a:prstGeom>
          <a:solidFill>
            <a:srgbClr val="B6B6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argument-divider-2"/>
          <p:cNvSpPr/>
          <p:nvPr/>
        </p:nvSpPr>
        <p:spPr>
          <a:xfrm>
            <a:off x="4451350" y="4387850"/>
            <a:ext cx="2787650" cy="6350"/>
          </a:xfrm>
          <a:prstGeom prst="rect">
            <a:avLst/>
          </a:prstGeom>
          <a:solidFill>
            <a:srgbClr val="B6B6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decision-band"/>
          <p:cNvSpPr/>
          <p:nvPr/>
        </p:nvSpPr>
        <p:spPr>
          <a:xfrm>
            <a:off x="298450" y="5518150"/>
            <a:ext cx="11595100" cy="774700"/>
          </a:xfrm>
          <a:prstGeom prst="rect">
            <a:avLst/>
          </a:prstGeom>
          <a:solidFill>
            <a:srgbClr val="FFF5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decision-accent"/>
          <p:cNvSpPr/>
          <p:nvPr/>
        </p:nvSpPr>
        <p:spPr>
          <a:xfrm>
            <a:off x="298450" y="5518150"/>
            <a:ext cx="50800" cy="774700"/>
          </a:xfrm>
          <a:prstGeom prst="rect">
            <a:avLst/>
          </a:prstGeom>
          <a:solidFill>
            <a:srgbClr val="FD51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9" name="scale-gat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2235200"/>
          <a:ext cx="4121150" cy="3003550"/>
        </p:xfrm>
        <a:graphic>
          <a:graphicData uri="http://schemas.openxmlformats.org/drawingml/2006/table">
            <a:tbl>
              <a:tblPr/>
              <a:tblGrid>
                <a:gridCol w="2273300"/>
                <a:gridCol w="1847850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to scale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Cycle-time reduction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Sampled cited claims verified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data exceptions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Weekly-active pilot users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 · at least 11 of 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10" name="headline"/>
          <p:cNvSpPr txBox="1"/>
          <p:nvPr/>
        </p:nvSpPr>
        <p:spPr>
          <a:xfrm>
            <a:off x="285750" y="552450"/>
            <a:ext cx="116078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150" dirty="0" spc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the research pilot before scaling AI</a:t>
            </a:r>
            <a:endParaRPr lang="en-US" sz="3150" dirty="0" spc="0"/>
          </a:p>
        </p:txBody>
      </p:sp>
      <p:sp>
        <p:nvSpPr>
          <p:cNvPr id="11" name="pilot-scope"/>
          <p:cNvSpPr txBox="1"/>
          <p:nvPr/>
        </p:nvSpPr>
        <p:spPr>
          <a:xfrm>
            <a:off x="292100" y="1155700"/>
            <a:ext cx="116014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55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practice. 15 consultants. 20 paired research tasks. A 12-week, $25k pilot.</a:t>
            </a:r>
            <a:endParaRPr lang="en-US" sz="1550" dirty="0" spc="0"/>
          </a:p>
        </p:txBody>
      </p:sp>
      <p:sp>
        <p:nvSpPr>
          <p:cNvPr id="12" name="capacity-heading"/>
          <p:cNvSpPr txBox="1"/>
          <p:nvPr/>
        </p:nvSpPr>
        <p:spPr>
          <a:xfrm>
            <a:off x="298450" y="1860550"/>
            <a:ext cx="4095750" cy="273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CAPACITY IMPACT IF WE SCALE</a:t>
            </a:r>
            <a:endParaRPr lang="en-US" sz="1350" dirty="0" spc="0"/>
          </a:p>
        </p:txBody>
      </p:sp>
      <p:sp>
        <p:nvSpPr>
          <p:cNvPr id="13" name="argument-heading"/>
          <p:cNvSpPr txBox="1"/>
          <p:nvPr/>
        </p:nvSpPr>
        <p:spPr>
          <a:xfrm>
            <a:off x="4445000" y="1860550"/>
            <a:ext cx="3162300" cy="273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PILOT FIRST</a:t>
            </a:r>
            <a:endParaRPr lang="en-US" sz="1350" dirty="0" spc="0"/>
          </a:p>
        </p:txBody>
      </p:sp>
      <p:sp>
        <p:nvSpPr>
          <p:cNvPr id="14" name="gate-heading"/>
          <p:cNvSpPr txBox="1"/>
          <p:nvPr/>
        </p:nvSpPr>
        <p:spPr>
          <a:xfrm>
            <a:off x="7766050" y="1860550"/>
            <a:ext cx="4121150" cy="273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WEEK-12 SCALE GATE</a:t>
            </a:r>
            <a:endParaRPr lang="en-US" sz="1350" dirty="0" spc="0"/>
          </a:p>
        </p:txBody>
      </p:sp>
      <p:sp>
        <p:nvSpPr>
          <p:cNvPr id="15" name="baseline"/>
          <p:cNvSpPr txBox="1"/>
          <p:nvPr/>
        </p:nvSpPr>
        <p:spPr>
          <a:xfrm>
            <a:off x="292100" y="2190750"/>
            <a:ext cx="3733800" cy="546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35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10,800 h</a:t>
            </a:r>
            <a:endParaRPr lang="en-US" sz="3350" dirty="0" spc="0"/>
          </a:p>
        </p:txBody>
      </p:sp>
      <p:sp>
        <p:nvSpPr>
          <p:cNvPr id="16" name="capacity"/>
          <p:cNvSpPr txBox="1"/>
          <p:nvPr/>
        </p:nvSpPr>
        <p:spPr>
          <a:xfrm>
            <a:off x="292100" y="3333750"/>
            <a:ext cx="3733800" cy="546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35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1,944 h</a:t>
            </a:r>
            <a:endParaRPr lang="en-US" sz="3350" dirty="0" spc="0"/>
          </a:p>
        </p:txBody>
      </p:sp>
      <p:sp>
        <p:nvSpPr>
          <p:cNvPr id="17" name="capacity-value"/>
          <p:cNvSpPr txBox="1"/>
          <p:nvPr/>
        </p:nvSpPr>
        <p:spPr>
          <a:xfrm>
            <a:off x="292100" y="4432300"/>
            <a:ext cx="3733800" cy="546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35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$243k</a:t>
            </a:r>
            <a:endParaRPr lang="en-US" sz="3350" dirty="0" spc="0"/>
          </a:p>
        </p:txBody>
      </p:sp>
      <p:sp>
        <p:nvSpPr>
          <p:cNvPr id="18" name="baseline-label"/>
          <p:cNvSpPr txBox="1"/>
          <p:nvPr/>
        </p:nvSpPr>
        <p:spPr>
          <a:xfrm>
            <a:off x="298450" y="2654300"/>
            <a:ext cx="38354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research baseline</a:t>
            </a:r>
            <a:endParaRPr lang="en-US" sz="1350" dirty="0" spc="0"/>
          </a:p>
        </p:txBody>
      </p:sp>
      <p:sp>
        <p:nvSpPr>
          <p:cNvPr id="19" name="capacity-label"/>
          <p:cNvSpPr txBox="1"/>
          <p:nvPr/>
        </p:nvSpPr>
        <p:spPr>
          <a:xfrm>
            <a:off x="298450" y="3784600"/>
            <a:ext cx="38354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annual capacity</a:t>
            </a:r>
            <a:endParaRPr lang="en-US" sz="1350" dirty="0" spc="0"/>
          </a:p>
        </p:txBody>
      </p:sp>
      <p:sp>
        <p:nvSpPr>
          <p:cNvPr id="20" name="capacity-value-label"/>
          <p:cNvSpPr txBox="1"/>
          <p:nvPr/>
        </p:nvSpPr>
        <p:spPr>
          <a:xfrm>
            <a:off x="298450" y="4870450"/>
            <a:ext cx="38354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capacity equivalent</a:t>
            </a:r>
            <a:endParaRPr lang="en-US" sz="1350" dirty="0" spc="0"/>
          </a:p>
        </p:txBody>
      </p:sp>
      <p:sp>
        <p:nvSpPr>
          <p:cNvPr id="21" name="baseline-formula"/>
          <p:cNvSpPr txBox="1"/>
          <p:nvPr/>
        </p:nvSpPr>
        <p:spPr>
          <a:xfrm>
            <a:off x="298450" y="2895600"/>
            <a:ext cx="38354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engagements × 12 h</a:t>
            </a:r>
            <a:endParaRPr lang="en-US" sz="1350" dirty="0" spc="0"/>
          </a:p>
        </p:txBody>
      </p:sp>
      <p:sp>
        <p:nvSpPr>
          <p:cNvPr id="22" name="capacity-formula"/>
          <p:cNvSpPr txBox="1"/>
          <p:nvPr/>
        </p:nvSpPr>
        <p:spPr>
          <a:xfrm>
            <a:off x="298450" y="4025900"/>
            <a:ext cx="38354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adoption × 30% time reduction</a:t>
            </a:r>
            <a:endParaRPr lang="en-US" sz="1350" dirty="0" spc="0"/>
          </a:p>
        </p:txBody>
      </p:sp>
      <p:sp>
        <p:nvSpPr>
          <p:cNvPr id="23" name="capacity-value-formula"/>
          <p:cNvSpPr txBox="1"/>
          <p:nvPr/>
        </p:nvSpPr>
        <p:spPr>
          <a:xfrm>
            <a:off x="298450" y="5099050"/>
            <a:ext cx="38354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1,944 h × $125 per hour</a:t>
            </a:r>
            <a:endParaRPr lang="en-US" sz="1350" dirty="0" spc="0"/>
          </a:p>
        </p:txBody>
      </p:sp>
      <p:sp>
        <p:nvSpPr>
          <p:cNvPr id="24" name="argument-number-01"/>
          <p:cNvSpPr txBox="1"/>
          <p:nvPr/>
        </p:nvSpPr>
        <p:spPr>
          <a:xfrm>
            <a:off x="4445000" y="2235200"/>
            <a:ext cx="44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350" dirty="0" spc="0"/>
          </a:p>
        </p:txBody>
      </p:sp>
      <p:sp>
        <p:nvSpPr>
          <p:cNvPr id="25" name="argument-title-01"/>
          <p:cNvSpPr txBox="1"/>
          <p:nvPr/>
        </p:nvSpPr>
        <p:spPr>
          <a:xfrm>
            <a:off x="4972050" y="2254250"/>
            <a:ext cx="27813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 repeatable task</a:t>
            </a:r>
            <a:endParaRPr lang="en-US" sz="1350" dirty="0" spc="0"/>
          </a:p>
        </p:txBody>
      </p:sp>
      <p:sp>
        <p:nvSpPr>
          <p:cNvPr id="26" name="argument-detail-01"/>
          <p:cNvSpPr txBox="1"/>
          <p:nvPr/>
        </p:nvSpPr>
        <p:spPr>
          <a:xfrm>
            <a:off x="4972050" y="2527300"/>
            <a:ext cx="2825750" cy="552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30000"/>
              </a:lnSpc>
              <a:buNone/>
              <a:defRPr spc="0"/>
            </a:pPr>
            <a:r>
              <a:rPr lang="en-US" sz="135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sources, frequent use</a:t>
            </a:r>
            <a:endParaRPr lang="en-US" sz="1350" dirty="0" spc="0"/>
          </a:p>
          <a:p>
            <a:pPr algn="l" indent="0" marL="0">
              <a:lnSpc>
                <a:spcPct val="130000"/>
              </a:lnSpc>
              <a:buNone/>
              <a:defRPr spc="0"/>
            </a:pPr>
            <a:r>
              <a:rPr lang="en-US" sz="135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comparable inputs.</a:t>
            </a:r>
            <a:endParaRPr lang="en-US" sz="1350" dirty="0" spc="0"/>
          </a:p>
        </p:txBody>
      </p:sp>
      <p:sp>
        <p:nvSpPr>
          <p:cNvPr id="27" name="argument-number-02"/>
          <p:cNvSpPr txBox="1"/>
          <p:nvPr/>
        </p:nvSpPr>
        <p:spPr>
          <a:xfrm>
            <a:off x="4445000" y="3384550"/>
            <a:ext cx="44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350" dirty="0" spc="0"/>
          </a:p>
        </p:txBody>
      </p:sp>
      <p:sp>
        <p:nvSpPr>
          <p:cNvPr id="28" name="argument-title-02"/>
          <p:cNvSpPr txBox="1"/>
          <p:nvPr/>
        </p:nvSpPr>
        <p:spPr>
          <a:xfrm>
            <a:off x="4972050" y="3403600"/>
            <a:ext cx="27813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expert review</a:t>
            </a:r>
            <a:endParaRPr lang="en-US" sz="1350" dirty="0" spc="0"/>
          </a:p>
        </p:txBody>
      </p:sp>
      <p:sp>
        <p:nvSpPr>
          <p:cNvPr id="29" name="argument-detail-02"/>
          <p:cNvSpPr txBox="1"/>
          <p:nvPr/>
        </p:nvSpPr>
        <p:spPr>
          <a:xfrm>
            <a:off x="4972050" y="3676650"/>
            <a:ext cx="2825750" cy="552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30000"/>
              </a:lnSpc>
              <a:buNone/>
              <a:defRPr spc="0"/>
            </a:pPr>
            <a:r>
              <a:rPr lang="en-US" sz="135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every client claim</a:t>
            </a:r>
            <a:endParaRPr lang="en-US" sz="1350" dirty="0" spc="0"/>
          </a:p>
          <a:p>
            <a:pPr algn="l" indent="0" marL="0">
              <a:lnSpc>
                <a:spcPct val="130000"/>
              </a:lnSpc>
              <a:buNone/>
              <a:defRPr spc="0"/>
            </a:pPr>
            <a:r>
              <a:rPr lang="en-US" sz="135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release.</a:t>
            </a:r>
            <a:endParaRPr lang="en-US" sz="1350" dirty="0" spc="0"/>
          </a:p>
        </p:txBody>
      </p:sp>
      <p:sp>
        <p:nvSpPr>
          <p:cNvPr id="30" name="argument-number-03"/>
          <p:cNvSpPr txBox="1"/>
          <p:nvPr/>
        </p:nvSpPr>
        <p:spPr>
          <a:xfrm>
            <a:off x="4445000" y="4514850"/>
            <a:ext cx="44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350" dirty="0" spc="0"/>
          </a:p>
        </p:txBody>
      </p:sp>
      <p:sp>
        <p:nvSpPr>
          <p:cNvPr id="31" name="argument-title-03"/>
          <p:cNvSpPr txBox="1"/>
          <p:nvPr/>
        </p:nvSpPr>
        <p:spPr>
          <a:xfrm>
            <a:off x="4972050" y="4533900"/>
            <a:ext cx="27813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against evidence</a:t>
            </a:r>
            <a:endParaRPr lang="en-US" sz="1350" dirty="0" spc="0"/>
          </a:p>
        </p:txBody>
      </p:sp>
      <p:sp>
        <p:nvSpPr>
          <p:cNvPr id="32" name="argument-detail-03"/>
          <p:cNvSpPr txBox="1"/>
          <p:nvPr/>
        </p:nvSpPr>
        <p:spPr>
          <a:xfrm>
            <a:off x="4972050" y="4800600"/>
            <a:ext cx="2825750" cy="552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30000"/>
              </a:lnSpc>
              <a:buNone/>
              <a:defRPr spc="0"/>
            </a:pPr>
            <a:r>
              <a:rPr lang="en-US" sz="135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lead and CFO release</a:t>
            </a:r>
            <a:endParaRPr lang="en-US" sz="1350" dirty="0" spc="0"/>
          </a:p>
          <a:p>
            <a:pPr algn="l" indent="0" marL="0">
              <a:lnSpc>
                <a:spcPct val="130000"/>
              </a:lnSpc>
              <a:buNone/>
              <a:defRPr spc="0"/>
            </a:pPr>
            <a:r>
              <a:rPr lang="en-US" sz="135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$60k only after the week-12 gate.</a:t>
            </a:r>
            <a:endParaRPr lang="en-US" sz="1350" dirty="0" spc="0"/>
          </a:p>
        </p:txBody>
      </p:sp>
      <p:sp>
        <p:nvSpPr>
          <p:cNvPr id="33" name="decision-label"/>
          <p:cNvSpPr txBox="1"/>
          <p:nvPr/>
        </p:nvSpPr>
        <p:spPr>
          <a:xfrm>
            <a:off x="615950" y="5759450"/>
            <a:ext cx="26987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REQUESTED</a:t>
            </a:r>
            <a:endParaRPr lang="en-US" sz="1350" dirty="0" spc="0"/>
          </a:p>
        </p:txBody>
      </p:sp>
      <p:sp>
        <p:nvSpPr>
          <p:cNvPr id="34" name="decision-request"/>
          <p:cNvSpPr txBox="1"/>
          <p:nvPr/>
        </p:nvSpPr>
        <p:spPr>
          <a:xfrm>
            <a:off x="3568700" y="5759450"/>
            <a:ext cx="802640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$25k and name a practice sponsor.</a:t>
            </a:r>
            <a:endParaRPr lang="en-US" sz="1350" dirty="0" spc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>
            <a:noAutofit/>
          </a:bodyPr>
          <a:lstStyle>
            <a:lvl1pPr>
              <a:defRPr sz="85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2026-09-05T13:57:53Z</dcterms:created>
  <dcterms:modified xsi:type="dcterms:W3CDTF">2026-09-05T13:57:53Z</dcterms:modified>
</cp:coreProperties>
</file>