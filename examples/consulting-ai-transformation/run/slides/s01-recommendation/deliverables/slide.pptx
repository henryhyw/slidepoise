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quantities are illustrative planning assumptions. Capacity value is not a cash saving.
The 95% gate applies to a sampled test set. Each client release separately requires expert verification and engagement-lead approval.
At least 11 of 15 pilot users must be weekly active. One comparable research task is measured per pilot engagement.
[SlidePoise sources]
Generated target visual: /private/tmp/.slidepoise-rebuild-h51errnw/slides/s01-recommendation/work/accepted-slide.png
Canonical asset remix-focus-2-line: /Users/henry/Codes/AI_slide_drafting/examples/consulting-ai-transformation/run/work/icon-cache/focus-2/remix-focus-2-line.svg
Canonical asset remix-team-line: /Users/henry/Codes/AI_slide_drafting/examples/consulting-ai-transformation/run/work/icon-cache/team/remix-team-line.svg
Canonical asset remix-shield-check-line: /Users/henry/Codes/AI_slide_drafting/examples/consulting-ai-transformation/run/work/icon-cache/shield-check/remix-shield-check-line.svg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POISE_MASTER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C_MASTER_HEADER_LEFT"/>
          <p:cNvSpPr/>
          <p:nvPr/>
        </p:nvSpPr>
        <p:spPr>
          <a:xfrm>
            <a:off x="304800" y="31750"/>
            <a:ext cx="554736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NORTHSTAR ADVISORY</a:t>
            </a:r>
            <a:endParaRPr lang="en-US" sz="1000" dirty="0"/>
          </a:p>
        </p:txBody>
      </p:sp>
      <p:sp>
        <p:nvSpPr>
          <p:cNvPr id="3" name="SC_MASTER_HEADER_RIGHT"/>
          <p:cNvSpPr/>
          <p:nvPr/>
        </p:nvSpPr>
        <p:spPr>
          <a:xfrm>
            <a:off x="6339840" y="31750"/>
            <a:ext cx="554736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TRANSFORMATION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4800" y="400050"/>
            <a:ext cx="11582400" cy="0"/>
          </a:xfrm>
          <a:prstGeom prst="line">
            <a:avLst/>
          </a:prstGeom>
          <a:noFill/>
          <a:ln w="6350">
            <a:solidFill>
              <a:srgbClr val="DFE3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04800" y="6502400"/>
            <a:ext cx="11582400" cy="0"/>
          </a:xfrm>
          <a:prstGeom prst="line">
            <a:avLst/>
          </a:prstGeom>
          <a:noFill/>
          <a:ln w="6350">
            <a:solidFill>
              <a:srgbClr val="DFE3E6"/>
            </a:solidFill>
            <a:prstDash val="solid"/>
          </a:ln>
        </p:spPr>
      </p:sp>
      <p:sp>
        <p:nvSpPr>
          <p:cNvPr id="6" name="SC_MASTER_FOOTER_LEFT"/>
          <p:cNvSpPr/>
          <p:nvPr/>
        </p:nvSpPr>
        <p:spPr>
          <a:xfrm>
            <a:off x="304800" y="6534150"/>
            <a:ext cx="42672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PLANNING ASSUMPTIONS</a:t>
            </a:r>
            <a:endParaRPr lang="en-US" sz="900" dirty="0"/>
          </a:p>
        </p:txBody>
      </p:sp>
      <p:sp>
        <p:nvSpPr>
          <p:cNvPr id="7" name="SC_MASTER_FOOTER_CENTER"/>
          <p:cNvSpPr/>
          <p:nvPr/>
        </p:nvSpPr>
        <p:spPr>
          <a:xfrm>
            <a:off x="4267200" y="6534150"/>
            <a:ext cx="36576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 value is not a cash saving.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71200" y="6534150"/>
            <a:ext cx="1016000" cy="2921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66666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71200" y="6534150"/>
            <a:ext cx="1016000" cy="2921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66666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5" Type="http://schemas.openxmlformats.org/officeDocument/2006/relationships/image" Target="../media/image-1-5.png"/><Relationship Id="rId6" Type="http://schemas.openxmlformats.org/officeDocument/2006/relationships/image" Target="../media/image-1-6.sv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etric-divider-1"/>
          <p:cNvSpPr/>
          <p:nvPr/>
        </p:nvSpPr>
        <p:spPr>
          <a:xfrm>
            <a:off x="4108450" y="1524000"/>
            <a:ext cx="6350" cy="876300"/>
          </a:xfrm>
          <a:prstGeom prst="rect">
            <a:avLst/>
          </a:prstGeom>
          <a:solidFill>
            <a:srgbClr val="D0D0D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metric-divider-2"/>
          <p:cNvSpPr/>
          <p:nvPr/>
        </p:nvSpPr>
        <p:spPr>
          <a:xfrm>
            <a:off x="8210550" y="1524000"/>
            <a:ext cx="6350" cy="876300"/>
          </a:xfrm>
          <a:prstGeom prst="rect">
            <a:avLst/>
          </a:prstGeom>
          <a:solidFill>
            <a:srgbClr val="D0D0D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decision-band"/>
          <p:cNvSpPr/>
          <p:nvPr/>
        </p:nvSpPr>
        <p:spPr>
          <a:xfrm>
            <a:off x="292100" y="5708650"/>
            <a:ext cx="11607800" cy="590550"/>
          </a:xfrm>
          <a:prstGeom prst="rect">
            <a:avLst/>
          </a:prstGeom>
          <a:solidFill>
            <a:srgbClr val="FFF5E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decision-accent"/>
          <p:cNvSpPr/>
          <p:nvPr/>
        </p:nvSpPr>
        <p:spPr>
          <a:xfrm>
            <a:off x="292100" y="5708650"/>
            <a:ext cx="50800" cy="590550"/>
          </a:xfrm>
          <a:prstGeom prst="rect">
            <a:avLst/>
          </a:prstGeom>
          <a:solidFill>
            <a:srgbClr val="FD51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graphicFrame>
        <p:nvGraphicFramePr>
          <p:cNvPr id="6" name="scale-gate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81800" y="2959100"/>
          <a:ext cx="5080000" cy="2108200"/>
        </p:xfrm>
        <a:graphic>
          <a:graphicData uri="http://schemas.openxmlformats.org/drawingml/2006/table">
            <a:tbl>
              <a:tblPr/>
              <a:tblGrid>
                <a:gridCol w="2794000"/>
                <a:gridCol w="2286000"/>
              </a:tblGrid>
              <a:tr h="342900">
                <a:tc>
                  <a:txBody>
                    <a:bodyPr>
                      <a:noAutofit/>
                    </a:bodyPr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Minimum to scale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38150">
                <a:tc>
                  <a:txBody>
                    <a:bodyPr>
                      <a:noAutofit/>
                    </a:bodyPr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Cycle-time reduction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>
                      <a:noAutofit/>
                    </a:bodyPr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Sampled cited claims verified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8"/>
                    </a:solidFill>
                  </a:tcPr>
                </a:tc>
              </a:tr>
              <a:tr h="438150">
                <a:tc>
                  <a:txBody>
                    <a:bodyPr>
                      <a:noAutofit/>
                    </a:bodyPr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Critical data exceptions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0850">
                <a:tc>
                  <a:txBody>
                    <a:bodyPr>
                      <a:noAutofit/>
                    </a:bodyPr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Weekly-active pilot users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70% · at least 11 of 15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8"/>
                    </a:solidFill>
                  </a:tcPr>
                </a:tc>
              </a:tr>
            </a:tbl>
          </a:graphicData>
        </a:graphic>
      </p:graphicFrame>
      <p:sp>
        <p:nvSpPr>
          <p:cNvPr id="7" name="headline"/>
          <p:cNvSpPr txBox="1"/>
          <p:nvPr/>
        </p:nvSpPr>
        <p:spPr>
          <a:xfrm>
            <a:off x="292100" y="533400"/>
            <a:ext cx="116078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3200" dirty="0" spc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Prove the research pilot before scaling AI</a:t>
            </a:r>
            <a:endParaRPr lang="en-US" sz="3200" dirty="0" spc="0"/>
          </a:p>
        </p:txBody>
      </p:sp>
      <p:sp>
        <p:nvSpPr>
          <p:cNvPr id="8" name="subtitle"/>
          <p:cNvSpPr txBox="1"/>
          <p:nvPr/>
        </p:nvSpPr>
        <p:spPr>
          <a:xfrm>
            <a:off x="298450" y="1047750"/>
            <a:ext cx="11588750" cy="3048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600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practice. 15 consultants. 20 paired research tasks. A 12-week, $25k pilot.</a:t>
            </a:r>
            <a:endParaRPr lang="en-US" sz="1600" dirty="0" spc="0"/>
          </a:p>
        </p:txBody>
      </p:sp>
      <p:sp>
        <p:nvSpPr>
          <p:cNvPr id="9" name="baseline"/>
          <p:cNvSpPr txBox="1"/>
          <p:nvPr/>
        </p:nvSpPr>
        <p:spPr>
          <a:xfrm>
            <a:off x="298450" y="1524000"/>
            <a:ext cx="3175000" cy="4445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2900" b="1" dirty="0" spc="0">
                <a:solidFill>
                  <a:srgbClr val="FD51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10,800 h</a:t>
            </a:r>
            <a:endParaRPr lang="en-US" sz="2900" dirty="0" spc="0"/>
          </a:p>
        </p:txBody>
      </p:sp>
      <p:sp>
        <p:nvSpPr>
          <p:cNvPr id="10" name="baseline-label"/>
          <p:cNvSpPr txBox="1"/>
          <p:nvPr/>
        </p:nvSpPr>
        <p:spPr>
          <a:xfrm>
            <a:off x="298450" y="1981200"/>
            <a:ext cx="3302000" cy="2032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250" b="1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research baseline</a:t>
            </a:r>
            <a:endParaRPr lang="en-US" sz="1250" dirty="0" spc="0"/>
          </a:p>
        </p:txBody>
      </p:sp>
      <p:sp>
        <p:nvSpPr>
          <p:cNvPr id="11" name="baseline-formula"/>
          <p:cNvSpPr txBox="1"/>
          <p:nvPr/>
        </p:nvSpPr>
        <p:spPr>
          <a:xfrm>
            <a:off x="298450" y="2197100"/>
            <a:ext cx="3302000" cy="2032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150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900 engagements × 12 h</a:t>
            </a:r>
            <a:endParaRPr lang="en-US" sz="1150" dirty="0" spc="0"/>
          </a:p>
        </p:txBody>
      </p:sp>
      <p:sp>
        <p:nvSpPr>
          <p:cNvPr id="12" name="capacity"/>
          <p:cNvSpPr txBox="1"/>
          <p:nvPr/>
        </p:nvSpPr>
        <p:spPr>
          <a:xfrm>
            <a:off x="4406900" y="1524000"/>
            <a:ext cx="3175000" cy="4445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2900" b="1" dirty="0" spc="0">
                <a:solidFill>
                  <a:srgbClr val="FD51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1,944 h</a:t>
            </a:r>
            <a:endParaRPr lang="en-US" sz="2900" dirty="0" spc="0"/>
          </a:p>
        </p:txBody>
      </p:sp>
      <p:sp>
        <p:nvSpPr>
          <p:cNvPr id="13" name="capacity-label"/>
          <p:cNvSpPr txBox="1"/>
          <p:nvPr/>
        </p:nvSpPr>
        <p:spPr>
          <a:xfrm>
            <a:off x="4406900" y="1981200"/>
            <a:ext cx="3302000" cy="2032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250" b="1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Potential annual capacity</a:t>
            </a:r>
            <a:endParaRPr lang="en-US" sz="1250" dirty="0" spc="0"/>
          </a:p>
        </p:txBody>
      </p:sp>
      <p:sp>
        <p:nvSpPr>
          <p:cNvPr id="14" name="capacity-formula"/>
          <p:cNvSpPr txBox="1"/>
          <p:nvPr/>
        </p:nvSpPr>
        <p:spPr>
          <a:xfrm>
            <a:off x="4406900" y="2197100"/>
            <a:ext cx="3302000" cy="2032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150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 adoption × 30% time reduction</a:t>
            </a:r>
            <a:endParaRPr lang="en-US" sz="1150" dirty="0" spc="0"/>
          </a:p>
        </p:txBody>
      </p:sp>
      <p:sp>
        <p:nvSpPr>
          <p:cNvPr id="15" name="value"/>
          <p:cNvSpPr txBox="1"/>
          <p:nvPr/>
        </p:nvSpPr>
        <p:spPr>
          <a:xfrm>
            <a:off x="8509000" y="1524000"/>
            <a:ext cx="3175000" cy="4445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2900" b="1" dirty="0" spc="0">
                <a:solidFill>
                  <a:srgbClr val="FD51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$243k</a:t>
            </a:r>
            <a:endParaRPr lang="en-US" sz="2900" dirty="0" spc="0"/>
          </a:p>
        </p:txBody>
      </p:sp>
      <p:sp>
        <p:nvSpPr>
          <p:cNvPr id="16" name="value-label"/>
          <p:cNvSpPr txBox="1"/>
          <p:nvPr/>
        </p:nvSpPr>
        <p:spPr>
          <a:xfrm>
            <a:off x="8509000" y="1981200"/>
            <a:ext cx="3302000" cy="2032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250" b="1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capacity equivalent</a:t>
            </a:r>
            <a:endParaRPr lang="en-US" sz="1250" dirty="0" spc="0"/>
          </a:p>
        </p:txBody>
      </p:sp>
      <p:sp>
        <p:nvSpPr>
          <p:cNvPr id="17" name="value-formula"/>
          <p:cNvSpPr txBox="1"/>
          <p:nvPr/>
        </p:nvSpPr>
        <p:spPr>
          <a:xfrm>
            <a:off x="8509000" y="2197100"/>
            <a:ext cx="3302000" cy="2032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150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1,944 h × $125 per hour</a:t>
            </a:r>
            <a:endParaRPr lang="en-US" sz="1150" dirty="0" spc="0"/>
          </a:p>
        </p:txBody>
      </p:sp>
      <p:sp>
        <p:nvSpPr>
          <p:cNvPr id="18" name="argument-heading"/>
          <p:cNvSpPr txBox="1"/>
          <p:nvPr/>
        </p:nvSpPr>
        <p:spPr>
          <a:xfrm>
            <a:off x="298450" y="2667000"/>
            <a:ext cx="5397500" cy="2667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350" b="1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PILOT FIRST</a:t>
            </a:r>
            <a:endParaRPr lang="en-US" sz="1350" dirty="0" spc="0"/>
          </a:p>
        </p:txBody>
      </p:sp>
      <p:sp>
        <p:nvSpPr>
          <p:cNvPr id="19" name="reason-number-01"/>
          <p:cNvSpPr txBox="1"/>
          <p:nvPr/>
        </p:nvSpPr>
        <p:spPr>
          <a:xfrm>
            <a:off x="1047750" y="3092450"/>
            <a:ext cx="393700" cy="2794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250" b="1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50" dirty="0" spc="0"/>
          </a:p>
        </p:txBody>
      </p:sp>
      <p:sp>
        <p:nvSpPr>
          <p:cNvPr id="20" name="reason-title-01"/>
          <p:cNvSpPr txBox="1"/>
          <p:nvPr/>
        </p:nvSpPr>
        <p:spPr>
          <a:xfrm>
            <a:off x="1619250" y="3073400"/>
            <a:ext cx="3429000" cy="2222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250" b="1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a repeatable task</a:t>
            </a:r>
            <a:endParaRPr lang="en-US" sz="1250" dirty="0" spc="0"/>
          </a:p>
        </p:txBody>
      </p:sp>
      <p:sp>
        <p:nvSpPr>
          <p:cNvPr id="21" name="reason-detail-01"/>
          <p:cNvSpPr txBox="1"/>
          <p:nvPr/>
        </p:nvSpPr>
        <p:spPr>
          <a:xfrm>
            <a:off x="1619250" y="3314700"/>
            <a:ext cx="4445000" cy="2540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050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sources, frequent use and comparable inputs.</a:t>
            </a:r>
            <a:endParaRPr lang="en-US" sz="1050" dirty="0" spc="0"/>
          </a:p>
        </p:txBody>
      </p:sp>
      <p:sp>
        <p:nvSpPr>
          <p:cNvPr id="22" name="reason-number-02"/>
          <p:cNvSpPr txBox="1"/>
          <p:nvPr/>
        </p:nvSpPr>
        <p:spPr>
          <a:xfrm>
            <a:off x="1047750" y="3771900"/>
            <a:ext cx="393700" cy="2794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250" b="1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50" dirty="0" spc="0"/>
          </a:p>
        </p:txBody>
      </p:sp>
      <p:sp>
        <p:nvSpPr>
          <p:cNvPr id="23" name="reason-title-02"/>
          <p:cNvSpPr txBox="1"/>
          <p:nvPr/>
        </p:nvSpPr>
        <p:spPr>
          <a:xfrm>
            <a:off x="1619250" y="3752850"/>
            <a:ext cx="3429000" cy="2222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250" b="1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Preserve expert review</a:t>
            </a:r>
            <a:endParaRPr lang="en-US" sz="1250" dirty="0" spc="0"/>
          </a:p>
        </p:txBody>
      </p:sp>
      <p:sp>
        <p:nvSpPr>
          <p:cNvPr id="24" name="reason-detail-02"/>
          <p:cNvSpPr txBox="1"/>
          <p:nvPr/>
        </p:nvSpPr>
        <p:spPr>
          <a:xfrm>
            <a:off x="1619250" y="3994150"/>
            <a:ext cx="4445000" cy="2540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050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every client claim before release.</a:t>
            </a:r>
            <a:endParaRPr lang="en-US" sz="1050" dirty="0" spc="0"/>
          </a:p>
        </p:txBody>
      </p:sp>
      <p:sp>
        <p:nvSpPr>
          <p:cNvPr id="25" name="reason-number-03"/>
          <p:cNvSpPr txBox="1"/>
          <p:nvPr/>
        </p:nvSpPr>
        <p:spPr>
          <a:xfrm>
            <a:off x="1047750" y="4451350"/>
            <a:ext cx="393700" cy="2794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250" b="1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50" dirty="0" spc="0"/>
          </a:p>
        </p:txBody>
      </p:sp>
      <p:sp>
        <p:nvSpPr>
          <p:cNvPr id="26" name="reason-title-03"/>
          <p:cNvSpPr txBox="1"/>
          <p:nvPr/>
        </p:nvSpPr>
        <p:spPr>
          <a:xfrm>
            <a:off x="1619250" y="4432300"/>
            <a:ext cx="3429000" cy="2222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250" b="1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 against evidence</a:t>
            </a:r>
            <a:endParaRPr lang="en-US" sz="1250" dirty="0" spc="0"/>
          </a:p>
        </p:txBody>
      </p:sp>
      <p:sp>
        <p:nvSpPr>
          <p:cNvPr id="27" name="reason-detail-03"/>
          <p:cNvSpPr txBox="1"/>
          <p:nvPr/>
        </p:nvSpPr>
        <p:spPr>
          <a:xfrm>
            <a:off x="1619250" y="4673600"/>
            <a:ext cx="4445000" cy="2540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050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 lead and CFO release $60k only after the week-12 gate.</a:t>
            </a:r>
            <a:endParaRPr lang="en-US" sz="1050" dirty="0" spc="0"/>
          </a:p>
        </p:txBody>
      </p:sp>
      <p:sp>
        <p:nvSpPr>
          <p:cNvPr id="28" name="gate-heading"/>
          <p:cNvSpPr txBox="1"/>
          <p:nvPr/>
        </p:nvSpPr>
        <p:spPr>
          <a:xfrm>
            <a:off x="6781800" y="2667000"/>
            <a:ext cx="5080000" cy="2667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350" b="1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WEEK-12 SCALE GATE</a:t>
            </a:r>
            <a:endParaRPr lang="en-US" sz="1350" dirty="0" spc="0"/>
          </a:p>
        </p:txBody>
      </p:sp>
      <p:sp>
        <p:nvSpPr>
          <p:cNvPr id="29" name="decision-label"/>
          <p:cNvSpPr txBox="1"/>
          <p:nvPr/>
        </p:nvSpPr>
        <p:spPr>
          <a:xfrm>
            <a:off x="508000" y="5822950"/>
            <a:ext cx="2730500" cy="3175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400" b="1" dirty="0" spc="0">
                <a:solidFill>
                  <a:srgbClr val="FD51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REQUESTED</a:t>
            </a:r>
            <a:endParaRPr lang="en-US" sz="1400" dirty="0" spc="0"/>
          </a:p>
        </p:txBody>
      </p:sp>
      <p:sp>
        <p:nvSpPr>
          <p:cNvPr id="30" name="decision-message"/>
          <p:cNvSpPr txBox="1"/>
          <p:nvPr/>
        </p:nvSpPr>
        <p:spPr>
          <a:xfrm>
            <a:off x="3302000" y="5822950"/>
            <a:ext cx="8369300" cy="3175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400" b="1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$25k and name a practice sponsor.</a:t>
            </a:r>
            <a:endParaRPr lang="en-US" sz="1400" dirty="0" spc="0"/>
          </a:p>
        </p:txBody>
      </p:sp>
      <p:pic>
        <p:nvPicPr>
          <p:cNvPr id="31" name="reason-icon-01" descr="remix-focus-2-lin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300" y="3086100"/>
            <a:ext cx="317500" cy="317500"/>
          </a:xfrm>
          <a:prstGeom prst="rect">
            <a:avLst/>
          </a:prstGeom>
        </p:spPr>
      </p:pic>
      <p:pic>
        <p:nvPicPr>
          <p:cNvPr id="32" name="reason-icon-02" descr="remix-team-line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5300" y="3765550"/>
            <a:ext cx="317500" cy="317500"/>
          </a:xfrm>
          <a:prstGeom prst="rect">
            <a:avLst/>
          </a:prstGeom>
        </p:spPr>
      </p:pic>
      <p:pic>
        <p:nvPicPr>
          <p:cNvPr id="33" name="reason-icon-03" descr="remix-shield-check-line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5300" y="4445000"/>
            <a:ext cx="317500" cy="317500"/>
          </a:xfrm>
          <a:prstGeom prst="rect">
            <a:avLst/>
          </a:prstGeom>
        </p:spPr>
      </p:pic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71200" y="6534150"/>
            <a:ext cx="1016000" cy="2921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>
            <a:noAutofit/>
          </a:bodyPr>
          <a:lstStyle>
            <a:lvl1pPr>
              <a:defRPr sz="900">
                <a:solidFill>
                  <a:srgbClr val="66666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s01-recommendation</dc:title>
  <dc:subject>Editable presentation generated from SlidePoise scene contracts</dc:subject>
  <dc:creator>SlidePoise</dc:creator>
  <cp:lastModifiedBy>SlidePoise</cp:lastModifiedBy>
  <cp:revision>1</cp:revision>
  <dcterms:created xsi:type="dcterms:W3CDTF">2026-09-08T09:04:43Z</dcterms:created>
  <dcterms:modified xsi:type="dcterms:W3CDTF">2026-09-08T09:04:43Z</dcterms:modified>
</cp:coreProperties>
</file>