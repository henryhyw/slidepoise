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quantities are illustrative planning assumptions. Capacity value is not a cash saving.
The 95% gate applies to a sampled test set. Each client release separately requires expert verification and engagement-lead approval.
At least 11 of 15 pilot users must be weekly active. One comparable research task is measured per pilot engagement.
[SlidePoise sources]
Generated target visual: /Users/henry/Codes/AI_slide_drafting/output/showcase-revisions/consulting-v3-authoring/slides/s01-recommendation/work/accepted-slide.png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POISE_MASTER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_MASTER_HEADER_LEFT"/>
          <p:cNvSpPr/>
          <p:nvPr/>
        </p:nvSpPr>
        <p:spPr>
          <a:xfrm>
            <a:off x="304800" y="31750"/>
            <a:ext cx="554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NORTHSTAR ADVISORY</a:t>
            </a:r>
            <a:endParaRPr lang="en-US" sz="1000" dirty="0"/>
          </a:p>
        </p:txBody>
      </p:sp>
      <p:sp>
        <p:nvSpPr>
          <p:cNvPr id="3" name="SC_MASTER_HEADER_RIGHT"/>
          <p:cNvSpPr/>
          <p:nvPr/>
        </p:nvSpPr>
        <p:spPr>
          <a:xfrm>
            <a:off x="6339840" y="31750"/>
            <a:ext cx="554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4800" y="400050"/>
            <a:ext cx="11582400" cy="0"/>
          </a:xfrm>
          <a:prstGeom prst="line">
            <a:avLst/>
          </a:prstGeom>
          <a:noFill/>
          <a:ln w="6350">
            <a:solidFill>
              <a:srgbClr val="DF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4800" y="6502400"/>
            <a:ext cx="11582400" cy="0"/>
          </a:xfrm>
          <a:prstGeom prst="line">
            <a:avLst/>
          </a:prstGeom>
          <a:noFill/>
          <a:ln w="6350">
            <a:solidFill>
              <a:srgbClr val="DFE3E6"/>
            </a:solidFill>
            <a:prstDash val="solid"/>
          </a:ln>
        </p:spPr>
      </p:sp>
      <p:sp>
        <p:nvSpPr>
          <p:cNvPr id="6" name="SC_MASTER_FOOTER_LEFT"/>
          <p:cNvSpPr/>
          <p:nvPr/>
        </p:nvSpPr>
        <p:spPr>
          <a:xfrm>
            <a:off x="304800" y="6534150"/>
            <a:ext cx="426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PLANNING ASSUMPTIONS</a:t>
            </a:r>
            <a:endParaRPr lang="en-US" sz="900" dirty="0"/>
          </a:p>
        </p:txBody>
      </p:sp>
      <p:sp>
        <p:nvSpPr>
          <p:cNvPr id="7" name="SC_MASTER_FOOTER_CENTER"/>
          <p:cNvSpPr/>
          <p:nvPr/>
        </p:nvSpPr>
        <p:spPr>
          <a:xfrm>
            <a:off x="4267200" y="6534150"/>
            <a:ext cx="3657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value is not a cash saving.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71200" y="6534150"/>
            <a:ext cx="1016000" cy="292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71200" y="6534150"/>
            <a:ext cx="1016000" cy="292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troduction-rule"/>
          <p:cNvSpPr/>
          <p:nvPr/>
        </p:nvSpPr>
        <p:spPr>
          <a:xfrm>
            <a:off x="304800" y="1454150"/>
            <a:ext cx="11582400" cy="12700"/>
          </a:xfrm>
          <a:prstGeom prst="rect">
            <a:avLst/>
          </a:prstGeom>
          <a:solidFill>
            <a:srgbClr val="AAAAA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metric-divider-1"/>
          <p:cNvSpPr/>
          <p:nvPr/>
        </p:nvSpPr>
        <p:spPr>
          <a:xfrm>
            <a:off x="298450" y="3251200"/>
            <a:ext cx="3371850" cy="6350"/>
          </a:xfrm>
          <a:prstGeom prst="rect">
            <a:avLst/>
          </a:prstGeom>
          <a:solidFill>
            <a:srgbClr val="B6B6B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metric-divider-2"/>
          <p:cNvSpPr/>
          <p:nvPr/>
        </p:nvSpPr>
        <p:spPr>
          <a:xfrm>
            <a:off x="298450" y="4387850"/>
            <a:ext cx="3371850" cy="6350"/>
          </a:xfrm>
          <a:prstGeom prst="rect">
            <a:avLst/>
          </a:prstGeom>
          <a:solidFill>
            <a:srgbClr val="B6B6B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argument-divider-1"/>
          <p:cNvSpPr/>
          <p:nvPr/>
        </p:nvSpPr>
        <p:spPr>
          <a:xfrm>
            <a:off x="4451350" y="3251200"/>
            <a:ext cx="2787650" cy="6350"/>
          </a:xfrm>
          <a:prstGeom prst="rect">
            <a:avLst/>
          </a:prstGeom>
          <a:solidFill>
            <a:srgbClr val="B6B6B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argument-divider-2"/>
          <p:cNvSpPr/>
          <p:nvPr/>
        </p:nvSpPr>
        <p:spPr>
          <a:xfrm>
            <a:off x="4451350" y="4387850"/>
            <a:ext cx="2787650" cy="6350"/>
          </a:xfrm>
          <a:prstGeom prst="rect">
            <a:avLst/>
          </a:prstGeom>
          <a:solidFill>
            <a:srgbClr val="B6B6B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decision-band"/>
          <p:cNvSpPr/>
          <p:nvPr/>
        </p:nvSpPr>
        <p:spPr>
          <a:xfrm>
            <a:off x="304800" y="5441950"/>
            <a:ext cx="11582400" cy="850900"/>
          </a:xfrm>
          <a:prstGeom prst="rect">
            <a:avLst/>
          </a:prstGeom>
          <a:solidFill>
            <a:srgbClr val="FFF5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decision-accent"/>
          <p:cNvSpPr/>
          <p:nvPr/>
        </p:nvSpPr>
        <p:spPr>
          <a:xfrm>
            <a:off x="304800" y="5441950"/>
            <a:ext cx="50800" cy="850900"/>
          </a:xfrm>
          <a:prstGeom prst="rect">
            <a:avLst/>
          </a:prstGeom>
          <a:solidFill>
            <a:srgbClr val="FD51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9" name="scale-gat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2235200"/>
          <a:ext cx="4121150" cy="3003550"/>
        </p:xfrm>
        <a:graphic>
          <a:graphicData uri="http://schemas.openxmlformats.org/drawingml/2006/table">
            <a:tbl>
              <a:tblPr/>
              <a:tblGrid>
                <a:gridCol w="2273300"/>
                <a:gridCol w="184785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Minimum to scale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Cycle-time reduction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59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Sampled cited claims verified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</a:tr>
              <a:tr h="6159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 data exceptions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Weekly-active pilot users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 · at least 11 of 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5B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</a:tr>
            </a:tbl>
          </a:graphicData>
        </a:graphic>
      </p:graphicFrame>
      <p:sp>
        <p:nvSpPr>
          <p:cNvPr id="10" name="headline"/>
          <p:cNvSpPr txBox="1"/>
          <p:nvPr/>
        </p:nvSpPr>
        <p:spPr>
          <a:xfrm>
            <a:off x="304800" y="527050"/>
            <a:ext cx="11582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3200" dirty="0" spc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 the research pilot before scaling AI</a:t>
            </a:r>
            <a:endParaRPr lang="en-US" sz="3200" dirty="0" spc="0"/>
          </a:p>
        </p:txBody>
      </p:sp>
      <p:sp>
        <p:nvSpPr>
          <p:cNvPr id="11" name="pilot-scope"/>
          <p:cNvSpPr txBox="1"/>
          <p:nvPr/>
        </p:nvSpPr>
        <p:spPr>
          <a:xfrm>
            <a:off x="304800" y="1060450"/>
            <a:ext cx="11582400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6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practice. 15 consultants. 20 paired research tasks. A 12-week, $25k pilot.</a:t>
            </a:r>
            <a:endParaRPr lang="en-US" sz="1600" dirty="0" spc="0"/>
          </a:p>
        </p:txBody>
      </p:sp>
      <p:sp>
        <p:nvSpPr>
          <p:cNvPr id="12" name="capacity-heading"/>
          <p:cNvSpPr txBox="1"/>
          <p:nvPr/>
        </p:nvSpPr>
        <p:spPr>
          <a:xfrm>
            <a:off x="298450" y="1860550"/>
            <a:ext cx="4095750" cy="2730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CAPACITY IMPACT IF WE SCALE</a:t>
            </a:r>
            <a:endParaRPr lang="en-US" sz="1400" dirty="0" spc="0"/>
          </a:p>
        </p:txBody>
      </p:sp>
      <p:sp>
        <p:nvSpPr>
          <p:cNvPr id="13" name="argument-heading"/>
          <p:cNvSpPr txBox="1"/>
          <p:nvPr/>
        </p:nvSpPr>
        <p:spPr>
          <a:xfrm>
            <a:off x="4445000" y="1860550"/>
            <a:ext cx="3162300" cy="2730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PILOT FIRST</a:t>
            </a:r>
            <a:endParaRPr lang="en-US" sz="1400" dirty="0" spc="0"/>
          </a:p>
        </p:txBody>
      </p:sp>
      <p:sp>
        <p:nvSpPr>
          <p:cNvPr id="14" name="gate-heading"/>
          <p:cNvSpPr txBox="1"/>
          <p:nvPr/>
        </p:nvSpPr>
        <p:spPr>
          <a:xfrm>
            <a:off x="7766050" y="1860550"/>
            <a:ext cx="4121150" cy="2730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WEEK-12 SCALE GATE</a:t>
            </a:r>
            <a:endParaRPr lang="en-US" sz="1400" dirty="0" spc="0"/>
          </a:p>
        </p:txBody>
      </p:sp>
      <p:sp>
        <p:nvSpPr>
          <p:cNvPr id="15" name="baseline"/>
          <p:cNvSpPr txBox="1"/>
          <p:nvPr/>
        </p:nvSpPr>
        <p:spPr>
          <a:xfrm>
            <a:off x="292100" y="2190750"/>
            <a:ext cx="3733800" cy="5461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34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10,800 h</a:t>
            </a:r>
            <a:endParaRPr lang="en-US" sz="3400" dirty="0" spc="0"/>
          </a:p>
        </p:txBody>
      </p:sp>
      <p:sp>
        <p:nvSpPr>
          <p:cNvPr id="16" name="capacity"/>
          <p:cNvSpPr txBox="1"/>
          <p:nvPr/>
        </p:nvSpPr>
        <p:spPr>
          <a:xfrm>
            <a:off x="292100" y="3333750"/>
            <a:ext cx="3733800" cy="5461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34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1,944 h</a:t>
            </a:r>
            <a:endParaRPr lang="en-US" sz="3400" dirty="0" spc="0"/>
          </a:p>
        </p:txBody>
      </p:sp>
      <p:sp>
        <p:nvSpPr>
          <p:cNvPr id="17" name="capacity-value"/>
          <p:cNvSpPr txBox="1"/>
          <p:nvPr/>
        </p:nvSpPr>
        <p:spPr>
          <a:xfrm>
            <a:off x="292100" y="4432300"/>
            <a:ext cx="3733800" cy="5461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34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$243k</a:t>
            </a:r>
            <a:endParaRPr lang="en-US" sz="3400" dirty="0" spc="0"/>
          </a:p>
        </p:txBody>
      </p:sp>
      <p:sp>
        <p:nvSpPr>
          <p:cNvPr id="18" name="baseline-label"/>
          <p:cNvSpPr txBox="1"/>
          <p:nvPr/>
        </p:nvSpPr>
        <p:spPr>
          <a:xfrm>
            <a:off x="298450" y="2654300"/>
            <a:ext cx="3835400" cy="2667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research baseline</a:t>
            </a:r>
            <a:endParaRPr lang="en-US" sz="1400" dirty="0" spc="0"/>
          </a:p>
        </p:txBody>
      </p:sp>
      <p:sp>
        <p:nvSpPr>
          <p:cNvPr id="19" name="capacity-label"/>
          <p:cNvSpPr txBox="1"/>
          <p:nvPr/>
        </p:nvSpPr>
        <p:spPr>
          <a:xfrm>
            <a:off x="298450" y="3784600"/>
            <a:ext cx="3835400" cy="2667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annual capacity</a:t>
            </a:r>
            <a:endParaRPr lang="en-US" sz="1400" dirty="0" spc="0"/>
          </a:p>
        </p:txBody>
      </p:sp>
      <p:sp>
        <p:nvSpPr>
          <p:cNvPr id="20" name="capacity-value-label"/>
          <p:cNvSpPr txBox="1"/>
          <p:nvPr/>
        </p:nvSpPr>
        <p:spPr>
          <a:xfrm>
            <a:off x="298450" y="4870450"/>
            <a:ext cx="3835400" cy="2667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capacity equivalent</a:t>
            </a:r>
            <a:endParaRPr lang="en-US" sz="1400" dirty="0" spc="0"/>
          </a:p>
        </p:txBody>
      </p:sp>
      <p:sp>
        <p:nvSpPr>
          <p:cNvPr id="21" name="baseline-formula"/>
          <p:cNvSpPr txBox="1"/>
          <p:nvPr/>
        </p:nvSpPr>
        <p:spPr>
          <a:xfrm>
            <a:off x="298450" y="2895600"/>
            <a:ext cx="3835400" cy="2667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engagements × 12 h</a:t>
            </a:r>
            <a:endParaRPr lang="en-US" sz="1400" dirty="0" spc="0"/>
          </a:p>
        </p:txBody>
      </p:sp>
      <p:sp>
        <p:nvSpPr>
          <p:cNvPr id="22" name="capacity-formula"/>
          <p:cNvSpPr txBox="1"/>
          <p:nvPr/>
        </p:nvSpPr>
        <p:spPr>
          <a:xfrm>
            <a:off x="298450" y="4025900"/>
            <a:ext cx="3835400" cy="2667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adoption × 30% time reduction</a:t>
            </a:r>
            <a:endParaRPr lang="en-US" sz="1400" dirty="0" spc="0"/>
          </a:p>
        </p:txBody>
      </p:sp>
      <p:sp>
        <p:nvSpPr>
          <p:cNvPr id="23" name="capacity-value-formula"/>
          <p:cNvSpPr txBox="1"/>
          <p:nvPr/>
        </p:nvSpPr>
        <p:spPr>
          <a:xfrm>
            <a:off x="298450" y="5099050"/>
            <a:ext cx="3835400" cy="2667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1,944 h × $125 per hour</a:t>
            </a:r>
            <a:endParaRPr lang="en-US" sz="1400" dirty="0" spc="0"/>
          </a:p>
        </p:txBody>
      </p:sp>
      <p:sp>
        <p:nvSpPr>
          <p:cNvPr id="24" name="argument-number-01"/>
          <p:cNvSpPr txBox="1"/>
          <p:nvPr/>
        </p:nvSpPr>
        <p:spPr>
          <a:xfrm>
            <a:off x="4445000" y="2235200"/>
            <a:ext cx="444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 spc="0"/>
          </a:p>
        </p:txBody>
      </p:sp>
      <p:sp>
        <p:nvSpPr>
          <p:cNvPr id="25" name="argument-title-01"/>
          <p:cNvSpPr txBox="1"/>
          <p:nvPr/>
        </p:nvSpPr>
        <p:spPr>
          <a:xfrm>
            <a:off x="4972050" y="2254250"/>
            <a:ext cx="278130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a repeatable task</a:t>
            </a:r>
            <a:endParaRPr lang="en-US" sz="1400" dirty="0" spc="0"/>
          </a:p>
        </p:txBody>
      </p:sp>
      <p:sp>
        <p:nvSpPr>
          <p:cNvPr id="26" name="argument-detail-01"/>
          <p:cNvSpPr txBox="1"/>
          <p:nvPr/>
        </p:nvSpPr>
        <p:spPr>
          <a:xfrm>
            <a:off x="4972050" y="2476500"/>
            <a:ext cx="2825750" cy="5524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3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sources, frequent use</a:t>
            </a:r>
            <a:endParaRPr lang="en-US" sz="1400" dirty="0" spc="0"/>
          </a:p>
          <a:p>
            <a:pPr algn="l" indent="0" marL="0">
              <a:lnSpc>
                <a:spcPct val="13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comparable inputs.</a:t>
            </a:r>
            <a:endParaRPr lang="en-US" sz="1400" dirty="0" spc="0"/>
          </a:p>
        </p:txBody>
      </p:sp>
      <p:sp>
        <p:nvSpPr>
          <p:cNvPr id="27" name="argument-number-02"/>
          <p:cNvSpPr txBox="1"/>
          <p:nvPr/>
        </p:nvSpPr>
        <p:spPr>
          <a:xfrm>
            <a:off x="4445000" y="3384550"/>
            <a:ext cx="444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 spc="0"/>
          </a:p>
        </p:txBody>
      </p:sp>
      <p:sp>
        <p:nvSpPr>
          <p:cNvPr id="28" name="argument-title-02"/>
          <p:cNvSpPr txBox="1"/>
          <p:nvPr/>
        </p:nvSpPr>
        <p:spPr>
          <a:xfrm>
            <a:off x="4972050" y="3403600"/>
            <a:ext cx="278130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expert review</a:t>
            </a:r>
            <a:endParaRPr lang="en-US" sz="1400" dirty="0" spc="0"/>
          </a:p>
        </p:txBody>
      </p:sp>
      <p:sp>
        <p:nvSpPr>
          <p:cNvPr id="29" name="argument-detail-02"/>
          <p:cNvSpPr txBox="1"/>
          <p:nvPr/>
        </p:nvSpPr>
        <p:spPr>
          <a:xfrm>
            <a:off x="4972050" y="3625850"/>
            <a:ext cx="2825750" cy="5524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3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every client claim</a:t>
            </a:r>
            <a:endParaRPr lang="en-US" sz="1400" dirty="0" spc="0"/>
          </a:p>
          <a:p>
            <a:pPr algn="l" indent="0" marL="0">
              <a:lnSpc>
                <a:spcPct val="13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release.</a:t>
            </a:r>
            <a:endParaRPr lang="en-US" sz="1400" dirty="0" spc="0"/>
          </a:p>
        </p:txBody>
      </p:sp>
      <p:sp>
        <p:nvSpPr>
          <p:cNvPr id="30" name="argument-number-03"/>
          <p:cNvSpPr txBox="1"/>
          <p:nvPr/>
        </p:nvSpPr>
        <p:spPr>
          <a:xfrm>
            <a:off x="4445000" y="4514850"/>
            <a:ext cx="444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 spc="0"/>
          </a:p>
        </p:txBody>
      </p:sp>
      <p:sp>
        <p:nvSpPr>
          <p:cNvPr id="31" name="argument-title-03"/>
          <p:cNvSpPr txBox="1"/>
          <p:nvPr/>
        </p:nvSpPr>
        <p:spPr>
          <a:xfrm>
            <a:off x="4972050" y="4533900"/>
            <a:ext cx="278130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against evidence</a:t>
            </a:r>
            <a:endParaRPr lang="en-US" sz="1400" dirty="0" spc="0"/>
          </a:p>
        </p:txBody>
      </p:sp>
      <p:sp>
        <p:nvSpPr>
          <p:cNvPr id="32" name="argument-detail-03"/>
          <p:cNvSpPr txBox="1"/>
          <p:nvPr/>
        </p:nvSpPr>
        <p:spPr>
          <a:xfrm>
            <a:off x="4972050" y="4749800"/>
            <a:ext cx="2825750" cy="5524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3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lead and CFO release</a:t>
            </a:r>
            <a:endParaRPr lang="en-US" sz="1400" dirty="0" spc="0"/>
          </a:p>
          <a:p>
            <a:pPr algn="l" indent="0" marL="0">
              <a:lnSpc>
                <a:spcPct val="13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$60k only after the week-12 gate.</a:t>
            </a:r>
            <a:endParaRPr lang="en-US" sz="1400" dirty="0" spc="0"/>
          </a:p>
        </p:txBody>
      </p:sp>
      <p:sp>
        <p:nvSpPr>
          <p:cNvPr id="33" name="decision-label"/>
          <p:cNvSpPr txBox="1"/>
          <p:nvPr/>
        </p:nvSpPr>
        <p:spPr>
          <a:xfrm>
            <a:off x="635000" y="5689600"/>
            <a:ext cx="2667000" cy="330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400" dirty="0" spc="0"/>
          </a:p>
        </p:txBody>
      </p:sp>
      <p:sp>
        <p:nvSpPr>
          <p:cNvPr id="34" name="decision-request"/>
          <p:cNvSpPr txBox="1"/>
          <p:nvPr/>
        </p:nvSpPr>
        <p:spPr>
          <a:xfrm>
            <a:off x="3556000" y="5689600"/>
            <a:ext cx="8032750" cy="330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$25k and name a practice sponsor.</a:t>
            </a:r>
            <a:endParaRPr lang="en-US" sz="1400" dirty="0" spc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71200" y="6534150"/>
            <a:ext cx="1016000" cy="292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>
            <a:noAutofit/>
          </a:bodyPr>
          <a:lstStyle>
            <a:lvl1pPr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SlidePoise presentation</dc:title>
  <dc:subject>Editable presentation generated from SlidePoise scene contracts</dc:subject>
  <dc:creator>SlidePoise</dc:creator>
  <cp:lastModifiedBy>SlidePoise</cp:lastModifiedBy>
  <cp:revision>1</cp:revision>
  <dcterms:created xsi:type="dcterms:W3CDTF">2026-09-05T14:31:35Z</dcterms:created>
  <dcterms:modified xsi:type="dcterms:W3CDTF">2026-09-05T14:31:35Z</dcterms:modified>
</cp:coreProperties>
</file>