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quantities are illustrative planning assumptions. Capacity value is not a cash saving.
The 95% gate applies to a sampled test set. Each client release separately requires expert verification and engagement-lead approval.
At least 11 of 15 pilot users must be weekly active. One comparable research task is measured per pilot engagement.
[SlidePoise sources]
Generated target visual: /Users/henry/Codes/AI_slide_drafting/examples/consulting-ai-transformation/run/slides/s01-recommendation/work/accepted-slide.png
Canonical asset remix-focus-2-line: /Users/henry/Codes/AI_slide_drafting/examples/consulting-ai-transformation/run/work/icon-cache/focus-2/remix-focus-2-line.svg
Canonical asset remix-team-line: /Users/henry/Codes/AI_slide_drafting/examples/consulting-ai-transformation/run/work/icon-cache/team/remix-team-line.svg
Canonical asset remix-shield-check-line: /Users/henry/Codes/AI_slide_drafting/examples/consulting-ai-transformation/run/work/icon-cache/shield-check/remix-shield-check-line.svg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ric-divider-1"/>
          <p:cNvSpPr/>
          <p:nvPr/>
        </p:nvSpPr>
        <p:spPr>
          <a:xfrm>
            <a:off x="4076700" y="1739900"/>
            <a:ext cx="6350" cy="889000"/>
          </a:xfrm>
          <a:prstGeom prst="rect">
            <a:avLst/>
          </a:prstGeom>
          <a:solidFill>
            <a:srgbClr val="D0D0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metric-divider-2"/>
          <p:cNvSpPr/>
          <p:nvPr/>
        </p:nvSpPr>
        <p:spPr>
          <a:xfrm>
            <a:off x="8337550" y="1739900"/>
            <a:ext cx="6350" cy="889000"/>
          </a:xfrm>
          <a:prstGeom prst="rect">
            <a:avLst/>
          </a:prstGeom>
          <a:solidFill>
            <a:srgbClr val="D0D0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decision-band"/>
          <p:cNvSpPr/>
          <p:nvPr/>
        </p:nvSpPr>
        <p:spPr>
          <a:xfrm>
            <a:off x="292100" y="5708650"/>
            <a:ext cx="11607800" cy="59055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decision-accent"/>
          <p:cNvSpPr/>
          <p:nvPr/>
        </p:nvSpPr>
        <p:spPr>
          <a:xfrm>
            <a:off x="292100" y="5708650"/>
            <a:ext cx="50800" cy="5905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6" name="scale-gat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1000" y="3251200"/>
          <a:ext cx="5207000" cy="2120900"/>
        </p:xfrm>
        <a:graphic>
          <a:graphicData uri="http://schemas.openxmlformats.org/drawingml/2006/table">
            <a:tbl>
              <a:tblPr/>
              <a:tblGrid>
                <a:gridCol w="2857500"/>
                <a:gridCol w="23495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to scale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318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Cycle-time reduction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Sampled cited claims verified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318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data exceptions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Weekly-active pilot 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· at least 11 of 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1750" marB="3175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7" name="headline"/>
          <p:cNvSpPr txBox="1"/>
          <p:nvPr/>
        </p:nvSpPr>
        <p:spPr>
          <a:xfrm>
            <a:off x="292100" y="533400"/>
            <a:ext cx="11607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research pilot before scaling AI</a:t>
            </a:r>
            <a:endParaRPr lang="en-US" sz="3200" dirty="0" spc="0"/>
          </a:p>
        </p:txBody>
      </p:sp>
      <p:sp>
        <p:nvSpPr>
          <p:cNvPr id="8" name="subtitle"/>
          <p:cNvSpPr txBox="1"/>
          <p:nvPr/>
        </p:nvSpPr>
        <p:spPr>
          <a:xfrm>
            <a:off x="298450" y="1047750"/>
            <a:ext cx="115887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practice. 15 consultants. 20 paired research tasks. A 12-week, $25k pilot.</a:t>
            </a:r>
            <a:endParaRPr lang="en-US" sz="1600" dirty="0" spc="0"/>
          </a:p>
        </p:txBody>
      </p:sp>
      <p:sp>
        <p:nvSpPr>
          <p:cNvPr id="9" name="baseline"/>
          <p:cNvSpPr txBox="1"/>
          <p:nvPr/>
        </p:nvSpPr>
        <p:spPr>
          <a:xfrm>
            <a:off x="298450" y="1619250"/>
            <a:ext cx="3175000" cy="596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0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10,800 h</a:t>
            </a:r>
            <a:endParaRPr lang="en-US" sz="4000" dirty="0" spc="0"/>
          </a:p>
        </p:txBody>
      </p:sp>
      <p:sp>
        <p:nvSpPr>
          <p:cNvPr id="10" name="baseline-label"/>
          <p:cNvSpPr txBox="1"/>
          <p:nvPr/>
        </p:nvSpPr>
        <p:spPr>
          <a:xfrm>
            <a:off x="298450" y="2197100"/>
            <a:ext cx="317500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research baseline</a:t>
            </a:r>
            <a:endParaRPr lang="en-US" sz="1400" dirty="0" spc="0"/>
          </a:p>
        </p:txBody>
      </p:sp>
      <p:sp>
        <p:nvSpPr>
          <p:cNvPr id="11" name="baseline-formula"/>
          <p:cNvSpPr txBox="1"/>
          <p:nvPr/>
        </p:nvSpPr>
        <p:spPr>
          <a:xfrm>
            <a:off x="298450" y="2476500"/>
            <a:ext cx="3175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engagements × 12 h</a:t>
            </a:r>
            <a:endParaRPr lang="en-US" sz="1300" dirty="0" spc="0"/>
          </a:p>
        </p:txBody>
      </p:sp>
      <p:sp>
        <p:nvSpPr>
          <p:cNvPr id="12" name="capacity"/>
          <p:cNvSpPr txBox="1"/>
          <p:nvPr/>
        </p:nvSpPr>
        <p:spPr>
          <a:xfrm>
            <a:off x="4584700" y="1619250"/>
            <a:ext cx="3175000" cy="596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0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</a:t>
            </a:r>
            <a:endParaRPr lang="en-US" sz="4000" dirty="0" spc="0"/>
          </a:p>
        </p:txBody>
      </p:sp>
      <p:sp>
        <p:nvSpPr>
          <p:cNvPr id="13" name="capacity-label"/>
          <p:cNvSpPr txBox="1"/>
          <p:nvPr/>
        </p:nvSpPr>
        <p:spPr>
          <a:xfrm>
            <a:off x="4584700" y="2197100"/>
            <a:ext cx="317500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annual capacity</a:t>
            </a:r>
            <a:endParaRPr lang="en-US" sz="1400" dirty="0" spc="0"/>
          </a:p>
        </p:txBody>
      </p:sp>
      <p:sp>
        <p:nvSpPr>
          <p:cNvPr id="14" name="capacity-formula"/>
          <p:cNvSpPr txBox="1"/>
          <p:nvPr/>
        </p:nvSpPr>
        <p:spPr>
          <a:xfrm>
            <a:off x="4584700" y="2476500"/>
            <a:ext cx="3175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adoption × 30% time reduction</a:t>
            </a:r>
            <a:endParaRPr lang="en-US" sz="1300" dirty="0" spc="0"/>
          </a:p>
        </p:txBody>
      </p:sp>
      <p:sp>
        <p:nvSpPr>
          <p:cNvPr id="15" name="value"/>
          <p:cNvSpPr txBox="1"/>
          <p:nvPr/>
        </p:nvSpPr>
        <p:spPr>
          <a:xfrm>
            <a:off x="8940800" y="1619250"/>
            <a:ext cx="3175000" cy="596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0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$243k</a:t>
            </a:r>
            <a:endParaRPr lang="en-US" sz="4000" dirty="0" spc="0"/>
          </a:p>
        </p:txBody>
      </p:sp>
      <p:sp>
        <p:nvSpPr>
          <p:cNvPr id="16" name="value-label"/>
          <p:cNvSpPr txBox="1"/>
          <p:nvPr/>
        </p:nvSpPr>
        <p:spPr>
          <a:xfrm>
            <a:off x="8940800" y="2197100"/>
            <a:ext cx="317500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equivalent</a:t>
            </a:r>
            <a:endParaRPr lang="en-US" sz="1400" dirty="0" spc="0"/>
          </a:p>
        </p:txBody>
      </p:sp>
      <p:sp>
        <p:nvSpPr>
          <p:cNvPr id="17" name="value-formula"/>
          <p:cNvSpPr txBox="1"/>
          <p:nvPr/>
        </p:nvSpPr>
        <p:spPr>
          <a:xfrm>
            <a:off x="8940800" y="2476500"/>
            <a:ext cx="3175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 × $125 per hour</a:t>
            </a:r>
            <a:endParaRPr lang="en-US" sz="1300" dirty="0" spc="0"/>
          </a:p>
        </p:txBody>
      </p:sp>
      <p:sp>
        <p:nvSpPr>
          <p:cNvPr id="18" name="argument-heading"/>
          <p:cNvSpPr txBox="1"/>
          <p:nvPr/>
        </p:nvSpPr>
        <p:spPr>
          <a:xfrm>
            <a:off x="298450" y="2927350"/>
            <a:ext cx="57785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PILOT FIRST</a:t>
            </a:r>
            <a:endParaRPr lang="en-US" sz="1400" dirty="0" spc="0"/>
          </a:p>
        </p:txBody>
      </p:sp>
      <p:sp>
        <p:nvSpPr>
          <p:cNvPr id="19" name="reason-number-01"/>
          <p:cNvSpPr txBox="1"/>
          <p:nvPr/>
        </p:nvSpPr>
        <p:spPr>
          <a:xfrm>
            <a:off x="1358900" y="3302000"/>
            <a:ext cx="412750" cy="254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5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 spc="0"/>
          </a:p>
        </p:txBody>
      </p:sp>
      <p:sp>
        <p:nvSpPr>
          <p:cNvPr id="20" name="reason-title-01"/>
          <p:cNvSpPr txBox="1"/>
          <p:nvPr/>
        </p:nvSpPr>
        <p:spPr>
          <a:xfrm>
            <a:off x="1936750" y="3314700"/>
            <a:ext cx="444500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 repeatable task</a:t>
            </a:r>
            <a:endParaRPr lang="en-US" sz="1400" dirty="0" spc="0"/>
          </a:p>
        </p:txBody>
      </p:sp>
      <p:sp>
        <p:nvSpPr>
          <p:cNvPr id="21" name="reason-detail-01"/>
          <p:cNvSpPr txBox="1"/>
          <p:nvPr/>
        </p:nvSpPr>
        <p:spPr>
          <a:xfrm>
            <a:off x="1936750" y="3581400"/>
            <a:ext cx="4635500" cy="412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sources, frequent use and comparable inputs.</a:t>
            </a:r>
            <a:endParaRPr lang="en-US" sz="1300" dirty="0" spc="0"/>
          </a:p>
        </p:txBody>
      </p:sp>
      <p:sp>
        <p:nvSpPr>
          <p:cNvPr id="22" name="reason-number-02"/>
          <p:cNvSpPr txBox="1"/>
          <p:nvPr/>
        </p:nvSpPr>
        <p:spPr>
          <a:xfrm>
            <a:off x="1358900" y="4089400"/>
            <a:ext cx="412750" cy="254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5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 spc="0"/>
          </a:p>
        </p:txBody>
      </p:sp>
      <p:sp>
        <p:nvSpPr>
          <p:cNvPr id="23" name="reason-title-02"/>
          <p:cNvSpPr txBox="1"/>
          <p:nvPr/>
        </p:nvSpPr>
        <p:spPr>
          <a:xfrm>
            <a:off x="1936750" y="4102100"/>
            <a:ext cx="444500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expert review</a:t>
            </a:r>
            <a:endParaRPr lang="en-US" sz="1400" dirty="0" spc="0"/>
          </a:p>
        </p:txBody>
      </p:sp>
      <p:sp>
        <p:nvSpPr>
          <p:cNvPr id="24" name="reason-detail-02"/>
          <p:cNvSpPr txBox="1"/>
          <p:nvPr/>
        </p:nvSpPr>
        <p:spPr>
          <a:xfrm>
            <a:off x="1936750" y="4368800"/>
            <a:ext cx="4635500" cy="412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 client claim before release.</a:t>
            </a:r>
            <a:endParaRPr lang="en-US" sz="1300" dirty="0" spc="0"/>
          </a:p>
        </p:txBody>
      </p:sp>
      <p:sp>
        <p:nvSpPr>
          <p:cNvPr id="25" name="reason-number-03"/>
          <p:cNvSpPr txBox="1"/>
          <p:nvPr/>
        </p:nvSpPr>
        <p:spPr>
          <a:xfrm>
            <a:off x="1358900" y="4851400"/>
            <a:ext cx="412750" cy="254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5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 spc="0"/>
          </a:p>
        </p:txBody>
      </p:sp>
      <p:sp>
        <p:nvSpPr>
          <p:cNvPr id="26" name="reason-title-03"/>
          <p:cNvSpPr txBox="1"/>
          <p:nvPr/>
        </p:nvSpPr>
        <p:spPr>
          <a:xfrm>
            <a:off x="1936750" y="4864100"/>
            <a:ext cx="444500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against evidence</a:t>
            </a:r>
            <a:endParaRPr lang="en-US" sz="1400" dirty="0" spc="0"/>
          </a:p>
        </p:txBody>
      </p:sp>
      <p:sp>
        <p:nvSpPr>
          <p:cNvPr id="27" name="reason-detail-03"/>
          <p:cNvSpPr txBox="1"/>
          <p:nvPr/>
        </p:nvSpPr>
        <p:spPr>
          <a:xfrm>
            <a:off x="1936750" y="5130800"/>
            <a:ext cx="4635500" cy="412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lead and CFO release $60k</a:t>
            </a:r>
            <a:endParaRPr lang="en-US" sz="1300" dirty="0" spc="0"/>
          </a:p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the week-12 gate.</a:t>
            </a:r>
            <a:endParaRPr lang="en-US" sz="1300" dirty="0" spc="0"/>
          </a:p>
        </p:txBody>
      </p:sp>
      <p:sp>
        <p:nvSpPr>
          <p:cNvPr id="28" name="gate-heading"/>
          <p:cNvSpPr txBox="1"/>
          <p:nvPr/>
        </p:nvSpPr>
        <p:spPr>
          <a:xfrm>
            <a:off x="6731000" y="2927350"/>
            <a:ext cx="5207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WEEK-12 SCALE GATE</a:t>
            </a:r>
            <a:endParaRPr lang="en-US" sz="1400" dirty="0" spc="0"/>
          </a:p>
        </p:txBody>
      </p:sp>
      <p:sp>
        <p:nvSpPr>
          <p:cNvPr id="29" name="decision-label"/>
          <p:cNvSpPr txBox="1"/>
          <p:nvPr/>
        </p:nvSpPr>
        <p:spPr>
          <a:xfrm>
            <a:off x="508000" y="5822950"/>
            <a:ext cx="273050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400" dirty="0" spc="0"/>
          </a:p>
        </p:txBody>
      </p:sp>
      <p:sp>
        <p:nvSpPr>
          <p:cNvPr id="30" name="decision-message"/>
          <p:cNvSpPr txBox="1"/>
          <p:nvPr/>
        </p:nvSpPr>
        <p:spPr>
          <a:xfrm>
            <a:off x="3302000" y="5822950"/>
            <a:ext cx="836930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$25k and name a practice sponsor.</a:t>
            </a:r>
            <a:endParaRPr lang="en-US" sz="1400" dirty="0" spc="0"/>
          </a:p>
        </p:txBody>
      </p:sp>
      <p:pic>
        <p:nvPicPr>
          <p:cNvPr id="31" name="reason-icon-01" descr="remix-focus-2-li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0" y="3282950"/>
            <a:ext cx="546100" cy="546100"/>
          </a:xfrm>
          <a:prstGeom prst="rect">
            <a:avLst/>
          </a:prstGeom>
        </p:spPr>
      </p:pic>
      <p:pic>
        <p:nvPicPr>
          <p:cNvPr id="32" name="reason-icon-02" descr="remix-team-lin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" y="4070350"/>
            <a:ext cx="546100" cy="546100"/>
          </a:xfrm>
          <a:prstGeom prst="rect">
            <a:avLst/>
          </a:prstGeom>
        </p:spPr>
      </p:pic>
      <p:pic>
        <p:nvPicPr>
          <p:cNvPr id="33" name="reason-icon-03" descr="remix-shield-check-lin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300" y="4832350"/>
            <a:ext cx="546100" cy="54610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2026-09-08T10:52:45Z</dcterms:created>
  <dcterms:modified xsi:type="dcterms:W3CDTF">2026-09-08T10:52:45Z</dcterms:modified>
</cp:coreProperties>
</file>