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pilot engagement supplies one research task. Twenty paired tasks correspond to twenty engagements.
The practice lead and CFO release scale funding only after the evidence gates are reviewed. Critical data exceptions stop expansion.
[SlidePoise sources]
Generated target visual: /Users/henry/Codes/AI_slide_drafting/output/showcase-revisions/consulting-v3-authoring/slides/s04-delivery-roadmap/work/accepted-slide.png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POISE_MASTER_1">
    <p:bg>
      <p:bgPr>
        <a:solidFill>
          <a:srgbClr val="FFFFFF"/>
        </a:solidFill>
      </p:bgPr>
    </p:bg>
    <p:spTree>
      <p:nvGrpSpPr>
        <p:cNvPr id="1" name=""/>
        <p:cNvGrpSpPr/>
        <p:nvPr/>
      </p:nvGrpSpPr>
      <p:grpSpPr>
        <a:xfrm>
          <a:off x="0" y="0"/>
          <a:ext cx="0" cy="0"/>
          <a:chOff x="0" y="0"/>
          <a:chExt cx="0" cy="0"/>
        </a:xfrm>
      </p:grpSpPr>
      <p:sp>
        <p:nvSpPr>
          <p:cNvPr id="2" name="SC_MASTER_HEADER_LEFT"/>
          <p:cNvSpPr/>
          <p:nvPr/>
        </p:nvSpPr>
        <p:spPr>
          <a:xfrm>
            <a:off x="304800" y="31750"/>
            <a:ext cx="5547360" cy="342900"/>
          </a:xfrm>
          <a:prstGeom prst="rect">
            <a:avLst/>
          </a:prstGeom>
          <a:noFill/>
          <a:ln/>
        </p:spPr>
        <p:txBody>
          <a:bodyPr wrap="square" lIns="0" tIns="0" rIns="0" bIns="0" rtlCol="0" anchor="ctr">
            <a:normAutofit/>
          </a:bodyPr>
          <a:lstStyle/>
          <a:p>
            <a:pPr algn="l" indent="0" marL="0">
              <a:buNone/>
            </a:pPr>
            <a:r>
              <a:rPr lang="en-US" sz="1000" dirty="0">
                <a:solidFill>
                  <a:srgbClr val="666666"/>
                </a:solidFill>
                <a:latin typeface="Arial" pitchFamily="34" charset="0"/>
                <a:ea typeface="Arial" pitchFamily="34" charset="-122"/>
                <a:cs typeface="Arial" pitchFamily="34" charset="-120"/>
              </a:rPr>
              <a:t>NORTHSTAR ADVISORY</a:t>
            </a:r>
            <a:endParaRPr lang="en-US" sz="1000" dirty="0"/>
          </a:p>
        </p:txBody>
      </p:sp>
      <p:sp>
        <p:nvSpPr>
          <p:cNvPr id="3" name="SC_MASTER_HEADER_RIGHT"/>
          <p:cNvSpPr/>
          <p:nvPr/>
        </p:nvSpPr>
        <p:spPr>
          <a:xfrm>
            <a:off x="6339840" y="31750"/>
            <a:ext cx="5547360" cy="342900"/>
          </a:xfrm>
          <a:prstGeom prst="rect">
            <a:avLst/>
          </a:prstGeom>
          <a:noFill/>
          <a:ln/>
        </p:spPr>
        <p:txBody>
          <a:bodyPr wrap="square" lIns="0" tIns="0" rIns="0" bIns="0" rtlCol="0" anchor="ctr">
            <a:normAutofit/>
          </a:bodyPr>
          <a:lstStyle/>
          <a:p>
            <a:pPr algn="r" indent="0" marL="0">
              <a:buNone/>
            </a:pPr>
            <a:r>
              <a:rPr lang="en-US" sz="1000" dirty="0">
                <a:solidFill>
                  <a:srgbClr val="666666"/>
                </a:solidFill>
                <a:latin typeface="Arial" pitchFamily="34" charset="0"/>
                <a:ea typeface="Arial" pitchFamily="34" charset="-122"/>
                <a:cs typeface="Arial" pitchFamily="34" charset="-120"/>
              </a:rPr>
              <a:t>AI TRANSFORMATION</a:t>
            </a:r>
            <a:endParaRPr lang="en-US" sz="1000" dirty="0"/>
          </a:p>
        </p:txBody>
      </p:sp>
      <p:sp>
        <p:nvSpPr>
          <p:cNvPr id="4" name="Shape 2"/>
          <p:cNvSpPr/>
          <p:nvPr/>
        </p:nvSpPr>
        <p:spPr>
          <a:xfrm>
            <a:off x="304800" y="400050"/>
            <a:ext cx="11582400" cy="0"/>
          </a:xfrm>
          <a:prstGeom prst="line">
            <a:avLst/>
          </a:prstGeom>
          <a:noFill/>
          <a:ln w="6350">
            <a:solidFill>
              <a:srgbClr val="DFE3E6"/>
            </a:solidFill>
            <a:prstDash val="solid"/>
          </a:ln>
        </p:spPr>
      </p:sp>
      <p:sp>
        <p:nvSpPr>
          <p:cNvPr id="5" name="Shape 3"/>
          <p:cNvSpPr/>
          <p:nvPr/>
        </p:nvSpPr>
        <p:spPr>
          <a:xfrm>
            <a:off x="304800" y="6502400"/>
            <a:ext cx="11582400" cy="0"/>
          </a:xfrm>
          <a:prstGeom prst="line">
            <a:avLst/>
          </a:prstGeom>
          <a:noFill/>
          <a:ln w="6350">
            <a:solidFill>
              <a:srgbClr val="DFE3E6"/>
            </a:solidFill>
            <a:prstDash val="solid"/>
          </a:ln>
        </p:spPr>
      </p:sp>
      <p:sp>
        <p:nvSpPr>
          <p:cNvPr id="6" name="SC_MASTER_FOOTER_LEFT"/>
          <p:cNvSpPr/>
          <p:nvPr/>
        </p:nvSpPr>
        <p:spPr>
          <a:xfrm>
            <a:off x="304800" y="6534150"/>
            <a:ext cx="4267200" cy="292100"/>
          </a:xfrm>
          <a:prstGeom prst="rect">
            <a:avLst/>
          </a:prstGeom>
          <a:noFill/>
          <a:ln/>
        </p:spPr>
        <p:txBody>
          <a:bodyPr wrap="square" lIns="0" tIns="0" rIns="0" bIns="0" rtlCol="0" anchor="ctr">
            <a:normAutofit/>
          </a:bodyPr>
          <a:lstStyle/>
          <a:p>
            <a:pPr algn="l" indent="0" marL="0">
              <a:buNone/>
            </a:pPr>
            <a:r>
              <a:rPr lang="en-US" sz="900" dirty="0">
                <a:solidFill>
                  <a:srgbClr val="666666"/>
                </a:solidFill>
                <a:latin typeface="Arial" pitchFamily="34" charset="0"/>
                <a:ea typeface="Arial" pitchFamily="34" charset="-122"/>
                <a:cs typeface="Arial" pitchFamily="34" charset="-120"/>
              </a:rPr>
              <a:t>ILLUSTRATIVE PLANNING ASSUMPTIONS</a:t>
            </a:r>
            <a:endParaRPr lang="en-US" sz="900" dirty="0"/>
          </a:p>
        </p:txBody>
      </p:sp>
      <p:sp>
        <p:nvSpPr>
          <p:cNvPr id="7" name="SC_MASTER_FOOTER_CENTER"/>
          <p:cNvSpPr/>
          <p:nvPr/>
        </p:nvSpPr>
        <p:spPr>
          <a:xfrm>
            <a:off x="4267200" y="6534150"/>
            <a:ext cx="3657600" cy="292100"/>
          </a:xfrm>
          <a:prstGeom prst="rect">
            <a:avLst/>
          </a:prstGeom>
          <a:noFill/>
          <a:ln/>
        </p:spPr>
        <p:txBody>
          <a:bodyPr wrap="square" lIns="0" tIns="0" rIns="0" bIns="0" rtlCol="0" anchor="ctr">
            <a:normAutofit/>
          </a:bodyPr>
          <a:lstStyle/>
          <a:p>
            <a:pPr algn="ctr" indent="0" marL="0">
              <a:buNone/>
            </a:pPr>
            <a:r>
              <a:rPr lang="en-US" sz="900" dirty="0">
                <a:solidFill>
                  <a:srgbClr val="666666"/>
                </a:solidFill>
                <a:latin typeface="Arial" pitchFamily="34" charset="0"/>
                <a:ea typeface="Arial" pitchFamily="34" charset="-122"/>
                <a:cs typeface="Arial" pitchFamily="34" charset="-120"/>
              </a:rPr>
              <a:t>Capacity value is not a cash saving.</a:t>
            </a:r>
            <a:endParaRPr lang="en-US" sz="900" dirty="0"/>
          </a:p>
        </p:txBody>
      </p:sp>
      <p:sp>
        <p:nvSpPr>
          <p:cNvPr id="25"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666666"/>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666666"/>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introduction-rule"/>
          <p:cNvSpPr/>
          <p:nvPr/>
        </p:nvSpPr>
        <p:spPr>
          <a:xfrm>
            <a:off x="304800" y="1454150"/>
            <a:ext cx="11582400" cy="12700"/>
          </a:xfrm>
          <a:prstGeom prst="rect">
            <a:avLst/>
          </a:prstGeom>
          <a:solidFill>
            <a:srgbClr val="AAAAAA"/>
          </a:solidFill>
          <a:ln w="12700">
            <a:solidFill>
              <a:srgbClr val="FFFFFF">
                <a:alpha val="0"/>
              </a:srgbClr>
            </a:solidFill>
            <a:prstDash val="solid"/>
          </a:ln>
        </p:spPr>
      </p:sp>
      <p:sp>
        <p:nvSpPr>
          <p:cNvPr id="3" name="gate-1-field"/>
          <p:cNvSpPr/>
          <p:nvPr/>
        </p:nvSpPr>
        <p:spPr>
          <a:xfrm>
            <a:off x="8337550" y="2019300"/>
            <a:ext cx="869950" cy="1511300"/>
          </a:xfrm>
          <a:custGeom>
            <a:avLst/>
            <a:gdLst/>
            <a:ahLst/>
            <a:cxnLst/>
            <a:rect l="l" t="t" r="r" b="b"/>
            <a:pathLst>
              <a:path w="869950" h="1511300">
                <a:moveTo>
                  <a:pt x="0" y="0"/>
                </a:moveTo>
                <a:lnTo>
                  <a:pt x="711200" y="0"/>
                </a:lnTo>
                <a:lnTo>
                  <a:pt x="869950" y="63500"/>
                </a:lnTo>
                <a:lnTo>
                  <a:pt x="869950" y="1511300"/>
                </a:lnTo>
                <a:lnTo>
                  <a:pt x="0" y="1511300"/>
                </a:lnTo>
                <a:close/>
              </a:path>
            </a:pathLst>
          </a:custGeom>
          <a:solidFill>
            <a:srgbClr val="FFF5ED"/>
          </a:solidFill>
          <a:ln w="12700">
            <a:solidFill>
              <a:srgbClr val="FFFFFF">
                <a:alpha val="0"/>
              </a:srgbClr>
            </a:solidFill>
            <a:prstDash val="solid"/>
          </a:ln>
        </p:spPr>
      </p:sp>
      <p:sp>
        <p:nvSpPr>
          <p:cNvPr id="4" name="gate-2-field"/>
          <p:cNvSpPr/>
          <p:nvPr/>
        </p:nvSpPr>
        <p:spPr>
          <a:xfrm>
            <a:off x="9232900" y="2019300"/>
            <a:ext cx="869950" cy="1511300"/>
          </a:xfrm>
          <a:custGeom>
            <a:avLst/>
            <a:gdLst/>
            <a:ahLst/>
            <a:cxnLst/>
            <a:rect l="l" t="t" r="r" b="b"/>
            <a:pathLst>
              <a:path w="869950" h="1511300">
                <a:moveTo>
                  <a:pt x="0" y="0"/>
                </a:moveTo>
                <a:lnTo>
                  <a:pt x="711200" y="0"/>
                </a:lnTo>
                <a:lnTo>
                  <a:pt x="869950" y="63500"/>
                </a:lnTo>
                <a:lnTo>
                  <a:pt x="869950" y="1511300"/>
                </a:lnTo>
                <a:lnTo>
                  <a:pt x="0" y="1511300"/>
                </a:lnTo>
                <a:close/>
              </a:path>
            </a:pathLst>
          </a:custGeom>
          <a:solidFill>
            <a:srgbClr val="FFF5ED"/>
          </a:solidFill>
          <a:ln w="12700">
            <a:solidFill>
              <a:srgbClr val="FFFFFF">
                <a:alpha val="0"/>
              </a:srgbClr>
            </a:solidFill>
            <a:prstDash val="solid"/>
          </a:ln>
        </p:spPr>
      </p:sp>
      <p:sp>
        <p:nvSpPr>
          <p:cNvPr id="5" name="gate-3-field"/>
          <p:cNvSpPr/>
          <p:nvPr/>
        </p:nvSpPr>
        <p:spPr>
          <a:xfrm>
            <a:off x="10134600" y="2019300"/>
            <a:ext cx="869950" cy="1511300"/>
          </a:xfrm>
          <a:custGeom>
            <a:avLst/>
            <a:gdLst/>
            <a:ahLst/>
            <a:cxnLst/>
            <a:rect l="l" t="t" r="r" b="b"/>
            <a:pathLst>
              <a:path w="869950" h="1511300">
                <a:moveTo>
                  <a:pt x="0" y="0"/>
                </a:moveTo>
                <a:lnTo>
                  <a:pt x="711200" y="0"/>
                </a:lnTo>
                <a:lnTo>
                  <a:pt x="869950" y="63500"/>
                </a:lnTo>
                <a:lnTo>
                  <a:pt x="869950" y="1511300"/>
                </a:lnTo>
                <a:lnTo>
                  <a:pt x="0" y="1511300"/>
                </a:lnTo>
                <a:close/>
              </a:path>
            </a:pathLst>
          </a:custGeom>
          <a:solidFill>
            <a:srgbClr val="FFF5ED"/>
          </a:solidFill>
          <a:ln w="12700">
            <a:solidFill>
              <a:srgbClr val="FFFFFF">
                <a:alpha val="0"/>
              </a:srgbClr>
            </a:solidFill>
            <a:prstDash val="solid"/>
          </a:ln>
        </p:spPr>
      </p:sp>
      <p:sp>
        <p:nvSpPr>
          <p:cNvPr id="6" name="gate-4-field"/>
          <p:cNvSpPr/>
          <p:nvPr/>
        </p:nvSpPr>
        <p:spPr>
          <a:xfrm>
            <a:off x="11049000" y="2019300"/>
            <a:ext cx="869950" cy="1511300"/>
          </a:xfrm>
          <a:custGeom>
            <a:avLst/>
            <a:gdLst/>
            <a:ahLst/>
            <a:cxnLst/>
            <a:rect l="l" t="t" r="r" b="b"/>
            <a:pathLst>
              <a:path w="869950" h="1511300">
                <a:moveTo>
                  <a:pt x="0" y="0"/>
                </a:moveTo>
                <a:lnTo>
                  <a:pt x="711200" y="0"/>
                </a:lnTo>
                <a:lnTo>
                  <a:pt x="869950" y="63500"/>
                </a:lnTo>
                <a:lnTo>
                  <a:pt x="869950" y="1511300"/>
                </a:lnTo>
                <a:lnTo>
                  <a:pt x="0" y="1511300"/>
                </a:lnTo>
                <a:close/>
              </a:path>
            </a:pathLst>
          </a:custGeom>
          <a:solidFill>
            <a:srgbClr val="FFF5ED"/>
          </a:solidFill>
          <a:ln w="12700">
            <a:solidFill>
              <a:srgbClr val="FFFFFF">
                <a:alpha val="0"/>
              </a:srgbClr>
            </a:solidFill>
            <a:prstDash val="solid"/>
          </a:ln>
        </p:spPr>
      </p:sp>
      <p:sp>
        <p:nvSpPr>
          <p:cNvPr id="7" name="gates-bottom-rule"/>
          <p:cNvSpPr/>
          <p:nvPr/>
        </p:nvSpPr>
        <p:spPr>
          <a:xfrm>
            <a:off x="8255000" y="3644900"/>
            <a:ext cx="3721100" cy="6350"/>
          </a:xfrm>
          <a:prstGeom prst="rect">
            <a:avLst/>
          </a:prstGeom>
          <a:solidFill>
            <a:srgbClr val="B5B5B5"/>
          </a:solidFill>
          <a:ln w="12700">
            <a:solidFill>
              <a:srgbClr val="FFFFFF">
                <a:alpha val="0"/>
              </a:srgbClr>
            </a:solidFill>
            <a:prstDash val="solid"/>
          </a:ln>
        </p:spPr>
      </p:sp>
      <p:sp>
        <p:nvSpPr>
          <p:cNvPr id="8" name="dependency-1-rule"/>
          <p:cNvSpPr/>
          <p:nvPr/>
        </p:nvSpPr>
        <p:spPr>
          <a:xfrm>
            <a:off x="8331200" y="4419600"/>
            <a:ext cx="3524250" cy="6350"/>
          </a:xfrm>
          <a:prstGeom prst="rect">
            <a:avLst/>
          </a:prstGeom>
          <a:solidFill>
            <a:srgbClr val="B5B5B5"/>
          </a:solidFill>
          <a:ln w="12700">
            <a:solidFill>
              <a:srgbClr val="FFFFFF">
                <a:alpha val="0"/>
              </a:srgbClr>
            </a:solidFill>
            <a:prstDash val="solid"/>
          </a:ln>
        </p:spPr>
      </p:sp>
      <p:sp>
        <p:nvSpPr>
          <p:cNvPr id="9" name="dependency-2-rule"/>
          <p:cNvSpPr/>
          <p:nvPr/>
        </p:nvSpPr>
        <p:spPr>
          <a:xfrm>
            <a:off x="8331200" y="4845050"/>
            <a:ext cx="3524250" cy="6350"/>
          </a:xfrm>
          <a:prstGeom prst="rect">
            <a:avLst/>
          </a:prstGeom>
          <a:solidFill>
            <a:srgbClr val="B5B5B5"/>
          </a:solidFill>
          <a:ln w="12700">
            <a:solidFill>
              <a:srgbClr val="FFFFFF">
                <a:alpha val="0"/>
              </a:srgbClr>
            </a:solidFill>
            <a:prstDash val="solid"/>
          </a:ln>
        </p:spPr>
      </p:sp>
      <p:sp>
        <p:nvSpPr>
          <p:cNvPr id="10" name="decision-band"/>
          <p:cNvSpPr/>
          <p:nvPr/>
        </p:nvSpPr>
        <p:spPr>
          <a:xfrm>
            <a:off x="304800" y="5441950"/>
            <a:ext cx="11582400" cy="850900"/>
          </a:xfrm>
          <a:prstGeom prst="rect">
            <a:avLst/>
          </a:prstGeom>
          <a:solidFill>
            <a:srgbClr val="FFF5ED"/>
          </a:solidFill>
          <a:ln w="12700">
            <a:solidFill>
              <a:srgbClr val="FFFFFF">
                <a:alpha val="0"/>
              </a:srgbClr>
            </a:solidFill>
            <a:prstDash val="solid"/>
          </a:ln>
        </p:spPr>
      </p:sp>
      <p:sp>
        <p:nvSpPr>
          <p:cNvPr id="11" name="gate-timeline"/>
          <p:cNvSpPr/>
          <p:nvPr/>
        </p:nvSpPr>
        <p:spPr>
          <a:xfrm>
            <a:off x="8743950" y="1962150"/>
            <a:ext cx="2762250" cy="12700"/>
          </a:xfrm>
          <a:prstGeom prst="rect">
            <a:avLst/>
          </a:prstGeom>
          <a:solidFill>
            <a:srgbClr val="FD5108"/>
          </a:solidFill>
          <a:ln w="12700">
            <a:solidFill>
              <a:srgbClr val="FFFFFF">
                <a:alpha val="0"/>
              </a:srgbClr>
            </a:solidFill>
            <a:prstDash val="solid"/>
          </a:ln>
        </p:spPr>
      </p:sp>
      <p:sp>
        <p:nvSpPr>
          <p:cNvPr id="12" name="gate-1-rule"/>
          <p:cNvSpPr/>
          <p:nvPr/>
        </p:nvSpPr>
        <p:spPr>
          <a:xfrm>
            <a:off x="8489950" y="2711450"/>
            <a:ext cx="558800" cy="6350"/>
          </a:xfrm>
          <a:prstGeom prst="rect">
            <a:avLst/>
          </a:prstGeom>
          <a:solidFill>
            <a:srgbClr val="FD5108"/>
          </a:solidFill>
          <a:ln w="12700">
            <a:solidFill>
              <a:srgbClr val="FFFFFF">
                <a:alpha val="0"/>
              </a:srgbClr>
            </a:solidFill>
            <a:prstDash val="solid"/>
          </a:ln>
        </p:spPr>
      </p:sp>
      <p:sp>
        <p:nvSpPr>
          <p:cNvPr id="13" name="gate-2-rule"/>
          <p:cNvSpPr/>
          <p:nvPr/>
        </p:nvSpPr>
        <p:spPr>
          <a:xfrm>
            <a:off x="9385300" y="2711450"/>
            <a:ext cx="558800" cy="6350"/>
          </a:xfrm>
          <a:prstGeom prst="rect">
            <a:avLst/>
          </a:prstGeom>
          <a:solidFill>
            <a:srgbClr val="FD5108"/>
          </a:solidFill>
          <a:ln w="12700">
            <a:solidFill>
              <a:srgbClr val="FFFFFF">
                <a:alpha val="0"/>
              </a:srgbClr>
            </a:solidFill>
            <a:prstDash val="solid"/>
          </a:ln>
        </p:spPr>
      </p:sp>
      <p:sp>
        <p:nvSpPr>
          <p:cNvPr id="14" name="gate-3-rule"/>
          <p:cNvSpPr/>
          <p:nvPr/>
        </p:nvSpPr>
        <p:spPr>
          <a:xfrm>
            <a:off x="10287000" y="2711450"/>
            <a:ext cx="558800" cy="6350"/>
          </a:xfrm>
          <a:prstGeom prst="rect">
            <a:avLst/>
          </a:prstGeom>
          <a:solidFill>
            <a:srgbClr val="FD5108"/>
          </a:solidFill>
          <a:ln w="12700">
            <a:solidFill>
              <a:srgbClr val="FFFFFF">
                <a:alpha val="0"/>
              </a:srgbClr>
            </a:solidFill>
            <a:prstDash val="solid"/>
          </a:ln>
        </p:spPr>
      </p:sp>
      <p:sp>
        <p:nvSpPr>
          <p:cNvPr id="15" name="gate-4-rule"/>
          <p:cNvSpPr/>
          <p:nvPr/>
        </p:nvSpPr>
        <p:spPr>
          <a:xfrm>
            <a:off x="11201400" y="2711450"/>
            <a:ext cx="558800" cy="6350"/>
          </a:xfrm>
          <a:prstGeom prst="rect">
            <a:avLst/>
          </a:prstGeom>
          <a:solidFill>
            <a:srgbClr val="FD5108"/>
          </a:solidFill>
          <a:ln w="12700">
            <a:solidFill>
              <a:srgbClr val="FFFFFF">
                <a:alpha val="0"/>
              </a:srgbClr>
            </a:solidFill>
            <a:prstDash val="solid"/>
          </a:ln>
        </p:spPr>
      </p:sp>
      <p:sp>
        <p:nvSpPr>
          <p:cNvPr id="16" name="decision-accent"/>
          <p:cNvSpPr/>
          <p:nvPr/>
        </p:nvSpPr>
        <p:spPr>
          <a:xfrm>
            <a:off x="304800" y="5441950"/>
            <a:ext cx="50800" cy="850900"/>
          </a:xfrm>
          <a:prstGeom prst="rect">
            <a:avLst/>
          </a:prstGeom>
          <a:solidFill>
            <a:srgbClr val="FD5108"/>
          </a:solidFill>
          <a:ln w="12700">
            <a:solidFill>
              <a:srgbClr val="FFFFFF">
                <a:alpha val="0"/>
              </a:srgbClr>
            </a:solidFill>
            <a:prstDash val="solid"/>
          </a:ln>
        </p:spPr>
      </p:sp>
      <p:sp>
        <p:nvSpPr>
          <p:cNvPr id="17" name="dependency-1-circle"/>
          <p:cNvSpPr/>
          <p:nvPr/>
        </p:nvSpPr>
        <p:spPr>
          <a:xfrm>
            <a:off x="8432800" y="4089400"/>
            <a:ext cx="266700" cy="266700"/>
          </a:xfrm>
          <a:prstGeom prst="ellipse">
            <a:avLst/>
          </a:prstGeom>
          <a:solidFill>
            <a:srgbClr val="FFFFFF"/>
          </a:solidFill>
          <a:ln w="9525">
            <a:solidFill>
              <a:srgbClr val="FD5108"/>
            </a:solidFill>
            <a:prstDash val="solid"/>
          </a:ln>
        </p:spPr>
      </p:sp>
      <p:sp>
        <p:nvSpPr>
          <p:cNvPr id="18" name="dependency-2-circle"/>
          <p:cNvSpPr/>
          <p:nvPr/>
        </p:nvSpPr>
        <p:spPr>
          <a:xfrm>
            <a:off x="8432800" y="4514850"/>
            <a:ext cx="266700" cy="266700"/>
          </a:xfrm>
          <a:prstGeom prst="ellipse">
            <a:avLst/>
          </a:prstGeom>
          <a:solidFill>
            <a:srgbClr val="FFFFFF"/>
          </a:solidFill>
          <a:ln w="9525">
            <a:solidFill>
              <a:srgbClr val="FD5108"/>
            </a:solidFill>
            <a:prstDash val="solid"/>
          </a:ln>
        </p:spPr>
      </p:sp>
      <p:sp>
        <p:nvSpPr>
          <p:cNvPr id="19" name="dependency-3-circle"/>
          <p:cNvSpPr/>
          <p:nvPr/>
        </p:nvSpPr>
        <p:spPr>
          <a:xfrm>
            <a:off x="8432800" y="4940300"/>
            <a:ext cx="266700" cy="266700"/>
          </a:xfrm>
          <a:prstGeom prst="ellipse">
            <a:avLst/>
          </a:prstGeom>
          <a:solidFill>
            <a:srgbClr val="FFFFFF"/>
          </a:solidFill>
          <a:ln w="9525">
            <a:solidFill>
              <a:srgbClr val="FD5108"/>
            </a:solidFill>
            <a:prstDash val="solid"/>
          </a:ln>
        </p:spPr>
      </p:sp>
      <p:graphicFrame>
        <p:nvGraphicFramePr>
          <p:cNvPr id="20" name="delivery-matrix"/>
          <p:cNvGraphicFramePr>
            <a:graphicFrameLocks noGrp="1"/>
          </p:cNvGraphicFramePr>
          <p:nvPr>
            <p:extLst>
              <p:ext uri="{D42A27DB-BD31-4B8C-83A1-F6EECF244321}">
                <p14:modId xmlns:p14="http://schemas.microsoft.com/office/powerpoint/2010/main" val="1579011935"/>
              </p:ext>
            </p:extLst>
          </p:nvPr>
        </p:nvGraphicFramePr>
        <p:xfrm>
          <a:off x="317500" y="1593850"/>
          <a:ext cx="7766050" cy="3587750"/>
        </p:xfrm>
        <a:graphic>
          <a:graphicData uri="http://schemas.openxmlformats.org/drawingml/2006/table">
            <a:tbl>
              <a:tblPr/>
              <a:tblGrid>
                <a:gridCol w="1739900"/>
                <a:gridCol w="1581150"/>
                <a:gridCol w="1479550"/>
                <a:gridCol w="1435100"/>
                <a:gridCol w="1530350"/>
              </a:tblGrid>
              <a:tr h="603250">
                <a:tc>
                  <a:txBody>
                    <a:bodyPr>
                      <a:noAutofit/>
                    </a:bodyPr>
                    <a:lstStyle/>
                    <a:p>
                      <a:pPr algn="ctr" indent="0" marL="0">
                        <a:lnSpc>
                          <a:spcPct val="100000"/>
                        </a:lnSpc>
                        <a:buNone/>
                      </a:pPr>
                      <a:r>
                        <a:rPr lang="en-US" sz="1200" b="1" dirty="0">
                          <a:solidFill>
                            <a:srgbClr val="FFFFFF"/>
                          </a:solidFill>
                          <a:latin typeface="Arial" pitchFamily="34" charset="0"/>
                          <a:ea typeface="Arial" pitchFamily="34" charset="-122"/>
                          <a:cs typeface="Arial" pitchFamily="34" charset="-120"/>
                        </a:rPr>
                        <a:t>WORKSTREAM / OWNER</a:t>
                      </a:r>
                      <a:endParaRPr lang="en-US" sz="1200" dirty="0">
                        <a:latin typeface="Arial" charset="0"/>
                        <a:ea typeface="Arial" charset="0"/>
                        <a:cs typeface="Arial" charset="0"/>
                      </a:endParaRPr>
                    </a:p>
                  </a:txBody>
                  <a:tcPr marL="63500" marR="63500" marT="38100" marB="381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000000"/>
                    </a:solidFill>
                  </a:tcPr>
                </a:tc>
                <a:tc>
                  <a:txBody>
                    <a:bodyPr>
                      <a:noAutofit/>
                    </a:bodyPr>
                    <a:lstStyle/>
                    <a:p>
                      <a:pPr algn="ctr" indent="0" marL="0">
                        <a:lnSpc>
                          <a:spcPct val="100000"/>
                        </a:lnSpc>
                        <a:buNone/>
                      </a:pPr>
                      <a:r>
                        <a:rPr lang="en-US" sz="1200" b="1" dirty="0">
                          <a:solidFill>
                            <a:srgbClr val="FFFFFF"/>
                          </a:solidFill>
                          <a:latin typeface="Arial" pitchFamily="34" charset="0"/>
                          <a:ea typeface="Arial" pitchFamily="34" charset="-122"/>
                          <a:cs typeface="Arial" pitchFamily="34" charset="-120"/>
                        </a:rPr>
                        <a:t>WEEKS 1–2</a:t>
                      </a:r>
                      <a:endParaRPr lang="en-US" sz="1200" dirty="0">
                        <a:latin typeface="Arial" charset="0"/>
                        <a:ea typeface="Arial" charset="0"/>
                        <a:cs typeface="Arial" charset="0"/>
                      </a:endParaRPr>
                    </a:p>
                    <a:p>
                      <a:pPr algn="ctr" indent="0" marL="0">
                        <a:lnSpc>
                          <a:spcPct val="100000"/>
                        </a:lnSpc>
                        <a:buNone/>
                      </a:pPr>
                      <a:r>
                        <a:rPr lang="en-US" sz="1200" b="1" dirty="0">
                          <a:solidFill>
                            <a:srgbClr val="FFFFFF"/>
                          </a:solidFill>
                          <a:latin typeface="Arial" pitchFamily="34" charset="0"/>
                          <a:ea typeface="Arial" pitchFamily="34" charset="-122"/>
                          <a:cs typeface="Arial" pitchFamily="34" charset="-120"/>
                        </a:rPr>
                        <a:t>Approve &amp; baseline</a:t>
                      </a:r>
                      <a:endParaRPr lang="en-US" sz="1200" dirty="0">
                        <a:latin typeface="Arial" charset="0"/>
                        <a:ea typeface="Arial" charset="0"/>
                        <a:cs typeface="Arial" charset="0"/>
                      </a:endParaRPr>
                    </a:p>
                  </a:txBody>
                  <a:tcPr marL="63500" marR="63500" marT="38100" marB="381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000000"/>
                    </a:solidFill>
                  </a:tcPr>
                </a:tc>
                <a:tc>
                  <a:txBody>
                    <a:bodyPr>
                      <a:noAutofit/>
                    </a:bodyPr>
                    <a:lstStyle/>
                    <a:p>
                      <a:pPr algn="ctr" indent="0" marL="0">
                        <a:lnSpc>
                          <a:spcPct val="100000"/>
                        </a:lnSpc>
                        <a:buNone/>
                      </a:pPr>
                      <a:r>
                        <a:rPr lang="en-US" sz="1200" b="1" dirty="0">
                          <a:solidFill>
                            <a:srgbClr val="FFFFFF"/>
                          </a:solidFill>
                          <a:latin typeface="Arial" pitchFamily="34" charset="0"/>
                          <a:ea typeface="Arial" pitchFamily="34" charset="-122"/>
                          <a:cs typeface="Arial" pitchFamily="34" charset="-120"/>
                        </a:rPr>
                        <a:t>WEEKS 3–4</a:t>
                      </a:r>
                      <a:endParaRPr lang="en-US" sz="1200" dirty="0">
                        <a:latin typeface="Arial" charset="0"/>
                        <a:ea typeface="Arial" charset="0"/>
                        <a:cs typeface="Arial" charset="0"/>
                      </a:endParaRPr>
                    </a:p>
                    <a:p>
                      <a:pPr algn="ctr" indent="0" marL="0">
                        <a:lnSpc>
                          <a:spcPct val="100000"/>
                        </a:lnSpc>
                        <a:buNone/>
                      </a:pPr>
                      <a:r>
                        <a:rPr lang="en-US" sz="1200" b="1" dirty="0">
                          <a:solidFill>
                            <a:srgbClr val="FFFFFF"/>
                          </a:solidFill>
                          <a:latin typeface="Arial" pitchFamily="34" charset="0"/>
                          <a:ea typeface="Arial" pitchFamily="34" charset="-122"/>
                          <a:cs typeface="Arial" pitchFamily="34" charset="-120"/>
                        </a:rPr>
                        <a:t>Build &amp; test</a:t>
                      </a:r>
                      <a:endParaRPr lang="en-US" sz="1200" dirty="0">
                        <a:latin typeface="Arial" charset="0"/>
                        <a:ea typeface="Arial" charset="0"/>
                        <a:cs typeface="Arial" charset="0"/>
                      </a:endParaRPr>
                    </a:p>
                  </a:txBody>
                  <a:tcPr marL="63500" marR="63500" marT="38100" marB="381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000000"/>
                    </a:solidFill>
                  </a:tcPr>
                </a:tc>
                <a:tc>
                  <a:txBody>
                    <a:bodyPr>
                      <a:noAutofit/>
                    </a:bodyPr>
                    <a:lstStyle/>
                    <a:p>
                      <a:pPr algn="ctr" indent="0" marL="0">
                        <a:lnSpc>
                          <a:spcPct val="100000"/>
                        </a:lnSpc>
                        <a:buNone/>
                      </a:pPr>
                      <a:r>
                        <a:rPr lang="en-US" sz="1200" b="1" dirty="0">
                          <a:solidFill>
                            <a:srgbClr val="FFFFFF"/>
                          </a:solidFill>
                          <a:latin typeface="Arial" pitchFamily="34" charset="0"/>
                          <a:ea typeface="Arial" pitchFamily="34" charset="-122"/>
                          <a:cs typeface="Arial" pitchFamily="34" charset="-120"/>
                        </a:rPr>
                        <a:t>WEEKS 5–8</a:t>
                      </a:r>
                      <a:endParaRPr lang="en-US" sz="1200" dirty="0">
                        <a:latin typeface="Arial" charset="0"/>
                        <a:ea typeface="Arial" charset="0"/>
                        <a:cs typeface="Arial" charset="0"/>
                      </a:endParaRPr>
                    </a:p>
                    <a:p>
                      <a:pPr algn="ctr" indent="0" marL="0">
                        <a:lnSpc>
                          <a:spcPct val="100000"/>
                        </a:lnSpc>
                        <a:buNone/>
                      </a:pPr>
                      <a:r>
                        <a:rPr lang="en-US" sz="1200" b="1" dirty="0">
                          <a:solidFill>
                            <a:srgbClr val="FFFFFF"/>
                          </a:solidFill>
                          <a:latin typeface="Arial" pitchFamily="34" charset="0"/>
                          <a:ea typeface="Arial" pitchFamily="34" charset="-122"/>
                          <a:cs typeface="Arial" pitchFamily="34" charset="-120"/>
                        </a:rPr>
                        <a:t>Pilot &amp; learn</a:t>
                      </a:r>
                      <a:endParaRPr lang="en-US" sz="1200" dirty="0">
                        <a:latin typeface="Arial" charset="0"/>
                        <a:ea typeface="Arial" charset="0"/>
                        <a:cs typeface="Arial" charset="0"/>
                      </a:endParaRPr>
                    </a:p>
                  </a:txBody>
                  <a:tcPr marL="63500" marR="63500" marT="38100" marB="381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000000"/>
                    </a:solidFill>
                  </a:tcPr>
                </a:tc>
                <a:tc>
                  <a:txBody>
                    <a:bodyPr>
                      <a:noAutofit/>
                    </a:bodyPr>
                    <a:lstStyle/>
                    <a:p>
                      <a:pPr algn="ctr" indent="0" marL="0">
                        <a:lnSpc>
                          <a:spcPct val="100000"/>
                        </a:lnSpc>
                        <a:buNone/>
                      </a:pPr>
                      <a:r>
                        <a:rPr lang="en-US" sz="1200" b="1" dirty="0">
                          <a:solidFill>
                            <a:srgbClr val="FFFFFF"/>
                          </a:solidFill>
                          <a:latin typeface="Arial" pitchFamily="34" charset="0"/>
                          <a:ea typeface="Arial" pitchFamily="34" charset="-122"/>
                          <a:cs typeface="Arial" pitchFamily="34" charset="-120"/>
                        </a:rPr>
                        <a:t>WEEKS 9–12</a:t>
                      </a:r>
                      <a:endParaRPr lang="en-US" sz="1200" dirty="0">
                        <a:latin typeface="Arial" charset="0"/>
                        <a:ea typeface="Arial" charset="0"/>
                        <a:cs typeface="Arial" charset="0"/>
                      </a:endParaRPr>
                    </a:p>
                    <a:p>
                      <a:pPr algn="ctr" indent="0" marL="0">
                        <a:lnSpc>
                          <a:spcPct val="100000"/>
                        </a:lnSpc>
                        <a:buNone/>
                      </a:pPr>
                      <a:r>
                        <a:rPr lang="en-US" sz="1200" b="1" dirty="0">
                          <a:solidFill>
                            <a:srgbClr val="FFFFFF"/>
                          </a:solidFill>
                          <a:latin typeface="Arial" pitchFamily="34" charset="0"/>
                          <a:ea typeface="Arial" pitchFamily="34" charset="-122"/>
                          <a:cs typeface="Arial" pitchFamily="34" charset="-120"/>
                        </a:rPr>
                        <a:t>Prove &amp; decide</a:t>
                      </a:r>
                      <a:endParaRPr lang="en-US" sz="1200" dirty="0">
                        <a:latin typeface="Arial" charset="0"/>
                        <a:ea typeface="Arial" charset="0"/>
                        <a:cs typeface="Arial" charset="0"/>
                      </a:endParaRPr>
                    </a:p>
                  </a:txBody>
                  <a:tcPr marL="63500" marR="63500" marT="38100" marB="381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000000"/>
                    </a:solidFill>
                  </a:tcPr>
                </a:tc>
              </a:tr>
              <a:tr h="762000">
                <a:tc>
                  <a:txBody>
                    <a:bodyPr>
                      <a:noAutofit/>
                    </a:bodyPr>
                    <a:lstStyle/>
                    <a:p>
                      <a:pPr algn="l" indent="0" marL="0">
                        <a:lnSpc>
                          <a:spcPct val="100000"/>
                        </a:lnSpc>
                        <a:buNone/>
                      </a:pPr>
                      <a:r>
                        <a:rPr lang="en-US" sz="1200" b="1" dirty="0">
                          <a:solidFill>
                            <a:srgbClr val="000000"/>
                          </a:solidFill>
                          <a:latin typeface="Arial" pitchFamily="34" charset="0"/>
                          <a:ea typeface="Arial" pitchFamily="34" charset="-122"/>
                          <a:cs typeface="Arial" pitchFamily="34" charset="-120"/>
                        </a:rPr>
                        <a:t>Data &amp; access</a:t>
                      </a:r>
                      <a:pPr algn="l" indent="0" marL="0">
                        <a:lnSpc>
                          <a:spcPct val="100000"/>
                        </a:lnSpc>
                        <a:buNone/>
                      </a:pPr>
                      <a:endParaRPr lang="en-US" sz="1200" dirty="0">
                        <a:latin typeface="Arial" charset="0"/>
                        <a:ea typeface="Arial" charset="0"/>
                        <a:cs typeface="Arial" charset="0"/>
                      </a:endParaRPr>
                    </a:p>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Source steward</a:t>
                      </a:r>
                      <a:endParaRPr lang="en-US" sz="1200" dirty="0">
                        <a:latin typeface="Arial" charset="0"/>
                        <a:ea typeface="Arial" charset="0"/>
                        <a:cs typeface="Arial" charset="0"/>
                      </a:endParaRPr>
                    </a:p>
                  </a:txBody>
                  <a:tcPr marL="63500" marR="63500" marT="38100" marB="381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FFFFF"/>
                    </a:solidFill>
                  </a:tcPr>
                </a:tc>
                <a:tc>
                  <a:txBody>
                    <a:bodyPr>
                      <a:noAutofit/>
                    </a:bodyPr>
                    <a:lstStyle/>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Approved corpus</a:t>
                      </a:r>
                      <a:endParaRPr lang="en-US" sz="1200" dirty="0">
                        <a:latin typeface="Arial" charset="0"/>
                        <a:ea typeface="Arial" charset="0"/>
                        <a:cs typeface="Arial" charset="0"/>
                      </a:endParaRPr>
                    </a:p>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Access register</a:t>
                      </a:r>
                      <a:endParaRPr lang="en-US" sz="1200" dirty="0">
                        <a:latin typeface="Arial" charset="0"/>
                        <a:ea typeface="Arial" charset="0"/>
                        <a:cs typeface="Arial" charset="0"/>
                      </a:endParaRPr>
                    </a:p>
                  </a:txBody>
                  <a:tcPr marL="63500" marR="63500" marT="38100" marB="381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FFFFF"/>
                    </a:solidFill>
                  </a:tcPr>
                </a:tc>
                <a:tc>
                  <a:txBody>
                    <a:bodyPr>
                      <a:noAutofit/>
                    </a:bodyPr>
                    <a:lstStyle/>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Source refresh</a:t>
                      </a:r>
                      <a:endParaRPr lang="en-US" sz="1200" dirty="0">
                        <a:latin typeface="Arial" charset="0"/>
                        <a:ea typeface="Arial" charset="0"/>
                        <a:cs typeface="Arial" charset="0"/>
                      </a:endParaRPr>
                    </a:p>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Named stewards</a:t>
                      </a:r>
                      <a:endParaRPr lang="en-US" sz="1200" dirty="0">
                        <a:latin typeface="Arial" charset="0"/>
                        <a:ea typeface="Arial" charset="0"/>
                        <a:cs typeface="Arial" charset="0"/>
                      </a:endParaRPr>
                    </a:p>
                  </a:txBody>
                  <a:tcPr marL="63500" marR="63500" marT="38100" marB="381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FFFFF"/>
                    </a:solidFill>
                  </a:tcPr>
                </a:tc>
                <a:tc>
                  <a:txBody>
                    <a:bodyPr>
                      <a:noAutofit/>
                    </a:bodyPr>
                    <a:lstStyle/>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Weekly access and</a:t>
                      </a:r>
                      <a:endParaRPr lang="en-US" sz="1200" dirty="0">
                        <a:latin typeface="Arial" charset="0"/>
                        <a:ea typeface="Arial" charset="0"/>
                        <a:cs typeface="Arial" charset="0"/>
                      </a:endParaRPr>
                    </a:p>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freshness checks</a:t>
                      </a:r>
                      <a:endParaRPr lang="en-US" sz="1200" dirty="0">
                        <a:latin typeface="Arial" charset="0"/>
                        <a:ea typeface="Arial" charset="0"/>
                        <a:cs typeface="Arial" charset="0"/>
                      </a:endParaRPr>
                    </a:p>
                  </a:txBody>
                  <a:tcPr marL="63500" marR="63500" marT="38100" marB="381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FFFFF"/>
                    </a:solidFill>
                  </a:tcPr>
                </a:tc>
                <a:tc>
                  <a:txBody>
                    <a:bodyPr>
                      <a:noAutofit/>
                    </a:bodyPr>
                    <a:lstStyle/>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Audit closeout</a:t>
                      </a:r>
                      <a:endParaRPr lang="en-US" sz="1200" dirty="0">
                        <a:latin typeface="Arial" charset="0"/>
                        <a:ea typeface="Arial" charset="0"/>
                        <a:cs typeface="Arial" charset="0"/>
                      </a:endParaRPr>
                    </a:p>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Release inventory</a:t>
                      </a:r>
                      <a:endParaRPr lang="en-US" sz="1200" dirty="0">
                        <a:latin typeface="Arial" charset="0"/>
                        <a:ea typeface="Arial" charset="0"/>
                        <a:cs typeface="Arial" charset="0"/>
                      </a:endParaRPr>
                    </a:p>
                  </a:txBody>
                  <a:tcPr marL="63500" marR="63500" marT="38100" marB="381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FFFFF"/>
                    </a:solidFill>
                  </a:tcPr>
                </a:tc>
              </a:tr>
              <a:tr h="736600">
                <a:tc>
                  <a:txBody>
                    <a:bodyPr>
                      <a:noAutofit/>
                    </a:bodyPr>
                    <a:lstStyle/>
                    <a:p>
                      <a:pPr algn="l" indent="0" marL="0">
                        <a:lnSpc>
                          <a:spcPct val="100000"/>
                        </a:lnSpc>
                        <a:buNone/>
                      </a:pPr>
                      <a:r>
                        <a:rPr lang="en-US" sz="1200" b="1" dirty="0">
                          <a:solidFill>
                            <a:srgbClr val="000000"/>
                          </a:solidFill>
                          <a:latin typeface="Arial" pitchFamily="34" charset="0"/>
                          <a:ea typeface="Arial" pitchFamily="34" charset="-122"/>
                          <a:cs typeface="Arial" pitchFamily="34" charset="-120"/>
                        </a:rPr>
                        <a:t>Workflow &amp; product</a:t>
                      </a:r>
                      <a:pPr algn="l" indent="0" marL="0">
                        <a:lnSpc>
                          <a:spcPct val="100000"/>
                        </a:lnSpc>
                        <a:buNone/>
                      </a:pPr>
                      <a:endParaRPr lang="en-US" sz="1200" dirty="0">
                        <a:latin typeface="Arial" charset="0"/>
                        <a:ea typeface="Arial" charset="0"/>
                        <a:cs typeface="Arial" charset="0"/>
                      </a:endParaRPr>
                    </a:p>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Product lead</a:t>
                      </a:r>
                      <a:endParaRPr lang="en-US" sz="1200" dirty="0">
                        <a:latin typeface="Arial" charset="0"/>
                        <a:ea typeface="Arial" charset="0"/>
                        <a:cs typeface="Arial" charset="0"/>
                      </a:endParaRPr>
                    </a:p>
                  </a:txBody>
                  <a:tcPr marL="63500" marR="63500" marT="38100" marB="381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5F7F8"/>
                    </a:solidFill>
                  </a:tcPr>
                </a:tc>
                <a:tc>
                  <a:txBody>
                    <a:bodyPr>
                      <a:noAutofit/>
                    </a:bodyPr>
                    <a:lstStyle/>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Task mapping</a:t>
                      </a:r>
                      <a:endParaRPr lang="en-US" sz="1200" dirty="0">
                        <a:latin typeface="Arial" charset="0"/>
                        <a:ea typeface="Arial" charset="0"/>
                        <a:cs typeface="Arial" charset="0"/>
                      </a:endParaRPr>
                    </a:p>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Baseline time logs</a:t>
                      </a:r>
                      <a:endParaRPr lang="en-US" sz="1200" dirty="0">
                        <a:latin typeface="Arial" charset="0"/>
                        <a:ea typeface="Arial" charset="0"/>
                        <a:cs typeface="Arial" charset="0"/>
                      </a:endParaRPr>
                    </a:p>
                  </a:txBody>
                  <a:tcPr marL="63500" marR="63500" marT="38100" marB="381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5F7F8"/>
                    </a:solidFill>
                  </a:tcPr>
                </a:tc>
                <a:tc>
                  <a:txBody>
                    <a:bodyPr>
                      <a:noAutofit/>
                    </a:bodyPr>
                    <a:lstStyle/>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Grounded draft</a:t>
                      </a:r>
                      <a:endParaRPr lang="en-US" sz="1200" dirty="0">
                        <a:latin typeface="Arial" charset="0"/>
                        <a:ea typeface="Arial" charset="0"/>
                        <a:cs typeface="Arial" charset="0"/>
                      </a:endParaRPr>
                    </a:p>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Visible citations</a:t>
                      </a:r>
                      <a:endParaRPr lang="en-US" sz="1200" dirty="0">
                        <a:latin typeface="Arial" charset="0"/>
                        <a:ea typeface="Arial" charset="0"/>
                        <a:cs typeface="Arial" charset="0"/>
                      </a:endParaRPr>
                    </a:p>
                  </a:txBody>
                  <a:tcPr marL="63500" marR="63500" marT="38100" marB="381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5F7F8"/>
                    </a:solidFill>
                  </a:tcPr>
                </a:tc>
                <a:tc>
                  <a:txBody>
                    <a:bodyPr>
                      <a:noAutofit/>
                    </a:bodyPr>
                    <a:lstStyle/>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15-user pilot</a:t>
                      </a:r>
                      <a:endParaRPr lang="en-US" sz="1200" dirty="0">
                        <a:latin typeface="Arial" charset="0"/>
                        <a:ea typeface="Arial" charset="0"/>
                        <a:cs typeface="Arial" charset="0"/>
                      </a:endParaRPr>
                    </a:p>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Defect fixes</a:t>
                      </a:r>
                      <a:endParaRPr lang="en-US" sz="1200" dirty="0">
                        <a:latin typeface="Arial" charset="0"/>
                        <a:ea typeface="Arial" charset="0"/>
                        <a:cs typeface="Arial" charset="0"/>
                      </a:endParaRPr>
                    </a:p>
                  </a:txBody>
                  <a:tcPr marL="63500" marR="63500" marT="38100" marB="381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5F7F8"/>
                    </a:solidFill>
                  </a:tcPr>
                </a:tc>
                <a:tc>
                  <a:txBody>
                    <a:bodyPr>
                      <a:noAutofit/>
                    </a:bodyPr>
                    <a:lstStyle/>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Release candidate</a:t>
                      </a:r>
                      <a:endParaRPr lang="en-US" sz="1200" dirty="0">
                        <a:latin typeface="Arial" charset="0"/>
                        <a:ea typeface="Arial" charset="0"/>
                        <a:cs typeface="Arial" charset="0"/>
                      </a:endParaRPr>
                    </a:p>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Runbook</a:t>
                      </a:r>
                      <a:endParaRPr lang="en-US" sz="1200" dirty="0">
                        <a:latin typeface="Arial" charset="0"/>
                        <a:ea typeface="Arial" charset="0"/>
                        <a:cs typeface="Arial" charset="0"/>
                      </a:endParaRPr>
                    </a:p>
                  </a:txBody>
                  <a:tcPr marL="63500" marR="63500" marT="38100" marB="381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5F7F8"/>
                    </a:solidFill>
                  </a:tcPr>
                </a:tc>
              </a:tr>
              <a:tr h="730250">
                <a:tc>
                  <a:txBody>
                    <a:bodyPr>
                      <a:noAutofit/>
                    </a:bodyPr>
                    <a:lstStyle/>
                    <a:p>
                      <a:pPr algn="l" indent="0" marL="0">
                        <a:lnSpc>
                          <a:spcPct val="100000"/>
                        </a:lnSpc>
                        <a:buNone/>
                      </a:pPr>
                      <a:r>
                        <a:rPr lang="en-US" sz="1200" b="1" dirty="0">
                          <a:solidFill>
                            <a:srgbClr val="000000"/>
                          </a:solidFill>
                          <a:latin typeface="Arial" pitchFamily="34" charset="0"/>
                          <a:ea typeface="Arial" pitchFamily="34" charset="-122"/>
                          <a:cs typeface="Arial" pitchFamily="34" charset="-120"/>
                        </a:rPr>
                        <a:t>Quality &amp; controls</a:t>
                      </a:r>
                      <a:pPr algn="l" indent="0" marL="0">
                        <a:lnSpc>
                          <a:spcPct val="100000"/>
                        </a:lnSpc>
                        <a:buNone/>
                      </a:pPr>
                      <a:endParaRPr lang="en-US" sz="1200" dirty="0">
                        <a:latin typeface="Arial" charset="0"/>
                        <a:ea typeface="Arial" charset="0"/>
                        <a:cs typeface="Arial" charset="0"/>
                      </a:endParaRPr>
                    </a:p>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Expert reviewer</a:t>
                      </a:r>
                      <a:endParaRPr lang="en-US" sz="1200" dirty="0">
                        <a:latin typeface="Arial" charset="0"/>
                        <a:ea typeface="Arial" charset="0"/>
                        <a:cs typeface="Arial" charset="0"/>
                      </a:endParaRPr>
                    </a:p>
                  </a:txBody>
                  <a:tcPr marL="63500" marR="63500" marT="38100" marB="381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FFFFF"/>
                    </a:solidFill>
                  </a:tcPr>
                </a:tc>
                <a:tc>
                  <a:txBody>
                    <a:bodyPr>
                      <a:noAutofit/>
                    </a:bodyPr>
                    <a:lstStyle/>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Risk boundaries</a:t>
                      </a:r>
                      <a:endParaRPr lang="en-US" sz="1200" dirty="0">
                        <a:latin typeface="Arial" charset="0"/>
                        <a:ea typeface="Arial" charset="0"/>
                        <a:cs typeface="Arial" charset="0"/>
                      </a:endParaRPr>
                    </a:p>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Review criteria</a:t>
                      </a:r>
                      <a:endParaRPr lang="en-US" sz="1200" dirty="0">
                        <a:latin typeface="Arial" charset="0"/>
                        <a:ea typeface="Arial" charset="0"/>
                        <a:cs typeface="Arial" charset="0"/>
                      </a:endParaRPr>
                    </a:p>
                  </a:txBody>
                  <a:tcPr marL="63500" marR="63500" marT="38100" marB="381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FFFFF"/>
                    </a:solidFill>
                  </a:tcPr>
                </a:tc>
                <a:tc>
                  <a:txBody>
                    <a:bodyPr>
                      <a:noAutofit/>
                    </a:bodyPr>
                    <a:lstStyle/>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Test pack</a:t>
                      </a:r>
                      <a:endParaRPr lang="en-US" sz="1200" dirty="0">
                        <a:latin typeface="Arial" charset="0"/>
                        <a:ea typeface="Arial" charset="0"/>
                        <a:cs typeface="Arial" charset="0"/>
                      </a:endParaRPr>
                    </a:p>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Rejection reasons</a:t>
                      </a:r>
                      <a:endParaRPr lang="en-US" sz="1200" dirty="0">
                        <a:latin typeface="Arial" charset="0"/>
                        <a:ea typeface="Arial" charset="0"/>
                        <a:cs typeface="Arial" charset="0"/>
                      </a:endParaRPr>
                    </a:p>
                  </a:txBody>
                  <a:tcPr marL="63500" marR="63500" marT="38100" marB="381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FFFFF"/>
                    </a:solidFill>
                  </a:tcPr>
                </a:tc>
                <a:tc>
                  <a:txBody>
                    <a:bodyPr>
                      <a:noAutofit/>
                    </a:bodyPr>
                    <a:lstStyle/>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10 reviewed tasks</a:t>
                      </a:r>
                      <a:endParaRPr lang="en-US" sz="1200" dirty="0">
                        <a:latin typeface="Arial" charset="0"/>
                        <a:ea typeface="Arial" charset="0"/>
                        <a:cs typeface="Arial" charset="0"/>
                      </a:endParaRPr>
                    </a:p>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Error triage</a:t>
                      </a:r>
                      <a:endParaRPr lang="en-US" sz="1200" dirty="0">
                        <a:latin typeface="Arial" charset="0"/>
                        <a:ea typeface="Arial" charset="0"/>
                        <a:cs typeface="Arial" charset="0"/>
                      </a:endParaRPr>
                    </a:p>
                  </a:txBody>
                  <a:tcPr marL="63500" marR="63500" marT="38100" marB="381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FFFFF"/>
                    </a:solidFill>
                  </a:tcPr>
                </a:tc>
                <a:tc>
                  <a:txBody>
                    <a:bodyPr>
                      <a:noAutofit/>
                    </a:bodyPr>
                    <a:lstStyle/>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20 completed tasks</a:t>
                      </a:r>
                      <a:endParaRPr lang="en-US" sz="1200" dirty="0">
                        <a:latin typeface="Arial" charset="0"/>
                        <a:ea typeface="Arial" charset="0"/>
                        <a:cs typeface="Arial" charset="0"/>
                      </a:endParaRPr>
                    </a:p>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Gate evidence</a:t>
                      </a:r>
                      <a:endParaRPr lang="en-US" sz="1200" dirty="0">
                        <a:latin typeface="Arial" charset="0"/>
                        <a:ea typeface="Arial" charset="0"/>
                        <a:cs typeface="Arial" charset="0"/>
                      </a:endParaRPr>
                    </a:p>
                  </a:txBody>
                  <a:tcPr marL="63500" marR="63500" marT="38100" marB="381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FFFFF"/>
                    </a:solidFill>
                  </a:tcPr>
                </a:tc>
              </a:tr>
              <a:tr h="755650">
                <a:tc>
                  <a:txBody>
                    <a:bodyPr>
                      <a:noAutofit/>
                    </a:bodyPr>
                    <a:lstStyle/>
                    <a:p>
                      <a:pPr algn="l" indent="0" marL="0">
                        <a:lnSpc>
                          <a:spcPct val="100000"/>
                        </a:lnSpc>
                        <a:buNone/>
                      </a:pPr>
                      <a:r>
                        <a:rPr lang="en-US" sz="1200" b="1" dirty="0">
                          <a:solidFill>
                            <a:srgbClr val="000000"/>
                          </a:solidFill>
                          <a:latin typeface="Arial" pitchFamily="34" charset="0"/>
                          <a:ea typeface="Arial" pitchFamily="34" charset="-122"/>
                          <a:cs typeface="Arial" pitchFamily="34" charset="-120"/>
                        </a:rPr>
                        <a:t>Adoption &amp; value</a:t>
                      </a:r>
                      <a:pPr algn="l" indent="0" marL="0">
                        <a:lnSpc>
                          <a:spcPct val="100000"/>
                        </a:lnSpc>
                        <a:buNone/>
                      </a:pPr>
                      <a:endParaRPr lang="en-US" sz="1200" dirty="0">
                        <a:latin typeface="Arial" charset="0"/>
                        <a:ea typeface="Arial" charset="0"/>
                        <a:cs typeface="Arial" charset="0"/>
                      </a:endParaRPr>
                    </a:p>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Practice lead</a:t>
                      </a:r>
                      <a:endParaRPr lang="en-US" sz="1200" dirty="0">
                        <a:latin typeface="Arial" charset="0"/>
                        <a:ea typeface="Arial" charset="0"/>
                        <a:cs typeface="Arial" charset="0"/>
                      </a:endParaRPr>
                    </a:p>
                  </a:txBody>
                  <a:tcPr marL="63500" marR="63500" marT="38100" marB="381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5F7F8"/>
                    </a:solidFill>
                  </a:tcPr>
                </a:tc>
                <a:tc>
                  <a:txBody>
                    <a:bodyPr>
                      <a:noAutofit/>
                    </a:bodyPr>
                    <a:lstStyle/>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Sponsor &amp; users</a:t>
                      </a:r>
                      <a:endParaRPr lang="en-US" sz="1200" dirty="0">
                        <a:latin typeface="Arial" charset="0"/>
                        <a:ea typeface="Arial" charset="0"/>
                        <a:cs typeface="Arial" charset="0"/>
                      </a:endParaRPr>
                    </a:p>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Agree tracking</a:t>
                      </a:r>
                      <a:endParaRPr lang="en-US" sz="1200" dirty="0">
                        <a:latin typeface="Arial" charset="0"/>
                        <a:ea typeface="Arial" charset="0"/>
                        <a:cs typeface="Arial" charset="0"/>
                      </a:endParaRPr>
                    </a:p>
                  </a:txBody>
                  <a:tcPr marL="63500" marR="63500" marT="38100" marB="381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5F7F8"/>
                    </a:solidFill>
                  </a:tcPr>
                </a:tc>
                <a:tc>
                  <a:txBody>
                    <a:bodyPr>
                      <a:noAutofit/>
                    </a:bodyPr>
                    <a:lstStyle/>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Training &amp; support</a:t>
                      </a:r>
                      <a:endParaRPr lang="en-US" sz="1200" dirty="0">
                        <a:latin typeface="Arial" charset="0"/>
                        <a:ea typeface="Arial" charset="0"/>
                        <a:cs typeface="Arial" charset="0"/>
                      </a:endParaRPr>
                    </a:p>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Measurement plan</a:t>
                      </a:r>
                      <a:endParaRPr lang="en-US" sz="1200" dirty="0">
                        <a:latin typeface="Arial" charset="0"/>
                        <a:ea typeface="Arial" charset="0"/>
                        <a:cs typeface="Arial" charset="0"/>
                      </a:endParaRPr>
                    </a:p>
                  </a:txBody>
                  <a:tcPr marL="63500" marR="63500" marT="38100" marB="381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5F7F8"/>
                    </a:solidFill>
                  </a:tcPr>
                </a:tc>
                <a:tc>
                  <a:txBody>
                    <a:bodyPr>
                      <a:noAutofit/>
                    </a:bodyPr>
                    <a:lstStyle/>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Weekly usage</a:t>
                      </a:r>
                      <a:endParaRPr lang="en-US" sz="1200" dirty="0">
                        <a:latin typeface="Arial" charset="0"/>
                        <a:ea typeface="Arial" charset="0"/>
                        <a:cs typeface="Arial" charset="0"/>
                      </a:endParaRPr>
                    </a:p>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Feedback sessions</a:t>
                      </a:r>
                      <a:endParaRPr lang="en-US" sz="1200" dirty="0">
                        <a:latin typeface="Arial" charset="0"/>
                        <a:ea typeface="Arial" charset="0"/>
                        <a:cs typeface="Arial" charset="0"/>
                      </a:endParaRPr>
                    </a:p>
                  </a:txBody>
                  <a:tcPr marL="63500" marR="63500" marT="38100" marB="381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5F7F8"/>
                    </a:solidFill>
                  </a:tcPr>
                </a:tc>
                <a:tc>
                  <a:txBody>
                    <a:bodyPr>
                      <a:noAutofit/>
                    </a:bodyPr>
                    <a:lstStyle/>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Benefit case</a:t>
                      </a:r>
                      <a:endParaRPr lang="en-US" sz="1200" dirty="0">
                        <a:latin typeface="Arial" charset="0"/>
                        <a:ea typeface="Arial" charset="0"/>
                        <a:cs typeface="Arial" charset="0"/>
                      </a:endParaRPr>
                    </a:p>
                    <a:p>
                      <a:pPr algn="l" indent="0" marL="0">
                        <a:lnSpc>
                          <a:spcPct val="100000"/>
                        </a:lnSpc>
                        <a:buNone/>
                      </a:pPr>
                      <a:r>
                        <a:rPr lang="en-US" sz="1200" dirty="0">
                          <a:solidFill>
                            <a:srgbClr val="000000"/>
                          </a:solidFill>
                          <a:latin typeface="Arial" pitchFamily="34" charset="0"/>
                          <a:ea typeface="Arial" pitchFamily="34" charset="-122"/>
                          <a:cs typeface="Arial" pitchFamily="34" charset="-120"/>
                        </a:rPr>
                        <a:t>Scale recommendation</a:t>
                      </a:r>
                      <a:endParaRPr lang="en-US" sz="1200" dirty="0">
                        <a:latin typeface="Arial" charset="0"/>
                        <a:ea typeface="Arial" charset="0"/>
                        <a:cs typeface="Arial" charset="0"/>
                      </a:endParaRPr>
                    </a:p>
                  </a:txBody>
                  <a:tcPr marL="63500" marR="63500" marT="38100" marB="381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5F7F8"/>
                    </a:solidFill>
                  </a:tcPr>
                </a:tc>
              </a:tr>
            </a:tbl>
          </a:graphicData>
        </a:graphic>
      </p:graphicFrame>
      <p:sp>
        <p:nvSpPr>
          <p:cNvPr id="21" name="gate-1-marker"/>
          <p:cNvSpPr/>
          <p:nvPr/>
        </p:nvSpPr>
        <p:spPr>
          <a:xfrm>
            <a:off x="8655050" y="1873250"/>
            <a:ext cx="190500" cy="190500"/>
          </a:xfrm>
          <a:prstGeom prst="ellipse">
            <a:avLst/>
          </a:prstGeom>
          <a:solidFill>
            <a:srgbClr val="FFFFFF"/>
          </a:solidFill>
          <a:ln w="44450">
            <a:solidFill>
              <a:srgbClr val="FD5108"/>
            </a:solidFill>
            <a:prstDash val="solid"/>
          </a:ln>
        </p:spPr>
      </p:sp>
      <p:sp>
        <p:nvSpPr>
          <p:cNvPr id="22" name="gate-2-marker"/>
          <p:cNvSpPr/>
          <p:nvPr/>
        </p:nvSpPr>
        <p:spPr>
          <a:xfrm>
            <a:off x="9569450" y="1873250"/>
            <a:ext cx="190500" cy="190500"/>
          </a:xfrm>
          <a:prstGeom prst="ellipse">
            <a:avLst/>
          </a:prstGeom>
          <a:solidFill>
            <a:srgbClr val="FFFFFF"/>
          </a:solidFill>
          <a:ln w="44450">
            <a:solidFill>
              <a:srgbClr val="FD5108"/>
            </a:solidFill>
            <a:prstDash val="solid"/>
          </a:ln>
        </p:spPr>
      </p:sp>
      <p:sp>
        <p:nvSpPr>
          <p:cNvPr id="23" name="gate-3-marker"/>
          <p:cNvSpPr/>
          <p:nvPr/>
        </p:nvSpPr>
        <p:spPr>
          <a:xfrm>
            <a:off x="10477500" y="1873250"/>
            <a:ext cx="190500" cy="190500"/>
          </a:xfrm>
          <a:prstGeom prst="ellipse">
            <a:avLst/>
          </a:prstGeom>
          <a:solidFill>
            <a:srgbClr val="FFFFFF"/>
          </a:solidFill>
          <a:ln w="44450">
            <a:solidFill>
              <a:srgbClr val="FD5108"/>
            </a:solidFill>
            <a:prstDash val="solid"/>
          </a:ln>
        </p:spPr>
      </p:sp>
      <p:sp>
        <p:nvSpPr>
          <p:cNvPr id="24" name="gate-4-marker"/>
          <p:cNvSpPr/>
          <p:nvPr/>
        </p:nvSpPr>
        <p:spPr>
          <a:xfrm>
            <a:off x="11410950" y="1873250"/>
            <a:ext cx="190500" cy="190500"/>
          </a:xfrm>
          <a:prstGeom prst="ellipse">
            <a:avLst/>
          </a:prstGeom>
          <a:solidFill>
            <a:srgbClr val="FFFFFF"/>
          </a:solidFill>
          <a:ln w="44450">
            <a:solidFill>
              <a:srgbClr val="FD5108"/>
            </a:solidFill>
            <a:prstDash val="solid"/>
          </a:ln>
        </p:spPr>
      </p:sp>
      <p:sp>
        <p:nvSpPr>
          <p:cNvPr id="25" name="dependency-1-arrow"/>
          <p:cNvSpPr/>
          <p:nvPr/>
        </p:nvSpPr>
        <p:spPr>
          <a:xfrm>
            <a:off x="8496300" y="4159250"/>
            <a:ext cx="139700" cy="139700"/>
          </a:xfrm>
          <a:custGeom>
            <a:avLst/>
            <a:gdLst/>
            <a:ahLst/>
            <a:cxnLst/>
            <a:rect l="l" t="t" r="r" b="b"/>
            <a:pathLst>
              <a:path w="139700" h="139700">
                <a:moveTo>
                  <a:pt x="0" y="63500"/>
                </a:moveTo>
                <a:lnTo>
                  <a:pt x="139700" y="63500"/>
                </a:lnTo>
                <a:moveTo>
                  <a:pt x="76200" y="0"/>
                </a:moveTo>
                <a:lnTo>
                  <a:pt x="139700" y="63500"/>
                </a:lnTo>
                <a:lnTo>
                  <a:pt x="76200" y="127000"/>
                </a:lnTo>
              </a:path>
            </a:pathLst>
          </a:custGeom>
          <a:solidFill>
            <a:srgbClr val="FFFFFF">
              <a:alpha val="0"/>
            </a:srgbClr>
          </a:solidFill>
          <a:ln w="12700">
            <a:solidFill>
              <a:srgbClr val="FD5108"/>
            </a:solidFill>
            <a:prstDash val="solid"/>
            <a:headEnd type="none"/>
            <a:tailEnd type="none"/>
          </a:ln>
        </p:spPr>
      </p:sp>
      <p:sp>
        <p:nvSpPr>
          <p:cNvPr id="26" name="dependency-2-arrow"/>
          <p:cNvSpPr/>
          <p:nvPr/>
        </p:nvSpPr>
        <p:spPr>
          <a:xfrm>
            <a:off x="8496300" y="4584700"/>
            <a:ext cx="139700" cy="139700"/>
          </a:xfrm>
          <a:custGeom>
            <a:avLst/>
            <a:gdLst/>
            <a:ahLst/>
            <a:cxnLst/>
            <a:rect l="l" t="t" r="r" b="b"/>
            <a:pathLst>
              <a:path w="139700" h="139700">
                <a:moveTo>
                  <a:pt x="0" y="63500"/>
                </a:moveTo>
                <a:lnTo>
                  <a:pt x="139700" y="63500"/>
                </a:lnTo>
                <a:moveTo>
                  <a:pt x="76200" y="0"/>
                </a:moveTo>
                <a:lnTo>
                  <a:pt x="139700" y="63500"/>
                </a:lnTo>
                <a:lnTo>
                  <a:pt x="76200" y="127000"/>
                </a:lnTo>
              </a:path>
            </a:pathLst>
          </a:custGeom>
          <a:solidFill>
            <a:srgbClr val="FFFFFF">
              <a:alpha val="0"/>
            </a:srgbClr>
          </a:solidFill>
          <a:ln w="12700">
            <a:solidFill>
              <a:srgbClr val="FD5108"/>
            </a:solidFill>
            <a:prstDash val="solid"/>
            <a:headEnd type="none"/>
            <a:tailEnd type="none"/>
          </a:ln>
        </p:spPr>
      </p:sp>
      <p:sp>
        <p:nvSpPr>
          <p:cNvPr id="27" name="dependency-3-arrow"/>
          <p:cNvSpPr/>
          <p:nvPr/>
        </p:nvSpPr>
        <p:spPr>
          <a:xfrm>
            <a:off x="8496300" y="5010150"/>
            <a:ext cx="139700" cy="139700"/>
          </a:xfrm>
          <a:custGeom>
            <a:avLst/>
            <a:gdLst/>
            <a:ahLst/>
            <a:cxnLst/>
            <a:rect l="l" t="t" r="r" b="b"/>
            <a:pathLst>
              <a:path w="139700" h="139700">
                <a:moveTo>
                  <a:pt x="0" y="63500"/>
                </a:moveTo>
                <a:lnTo>
                  <a:pt x="139700" y="63500"/>
                </a:lnTo>
                <a:moveTo>
                  <a:pt x="76200" y="0"/>
                </a:moveTo>
                <a:lnTo>
                  <a:pt x="139700" y="63500"/>
                </a:lnTo>
                <a:lnTo>
                  <a:pt x="76200" y="127000"/>
                </a:lnTo>
              </a:path>
            </a:pathLst>
          </a:custGeom>
          <a:solidFill>
            <a:srgbClr val="FFFFFF">
              <a:alpha val="0"/>
            </a:srgbClr>
          </a:solidFill>
          <a:ln w="12700">
            <a:solidFill>
              <a:srgbClr val="FD5108"/>
            </a:solidFill>
            <a:prstDash val="solid"/>
            <a:headEnd type="none"/>
            <a:tailEnd type="none"/>
          </a:ln>
        </p:spPr>
      </p:sp>
      <p:sp>
        <p:nvSpPr>
          <p:cNvPr id="28" name="headline"/>
          <p:cNvSpPr txBox="1"/>
          <p:nvPr/>
        </p:nvSpPr>
        <p:spPr>
          <a:xfrm>
            <a:off x="304800" y="527050"/>
            <a:ext cx="11588750" cy="508000"/>
          </a:xfrm>
          <a:prstGeom prst="rect">
            <a:avLst/>
          </a:prstGeom>
          <a:noFill/>
          <a:ln/>
        </p:spPr>
        <p:txBody>
          <a:bodyPr wrap="square" lIns="0" tIns="0" rIns="0" bIns="0" rtlCol="0" anchor="t">
            <a:noAutofit/>
          </a:bodyPr>
          <a:lstStyle/>
          <a:p>
            <a:pPr algn="l" indent="0" marL="0">
              <a:lnSpc>
                <a:spcPct val="100000"/>
              </a:lnSpc>
              <a:buNone/>
              <a:defRPr spc="0"/>
            </a:pPr>
            <a:r>
              <a:rPr lang="en-US" sz="3200" dirty="0" spc="0">
                <a:solidFill>
                  <a:srgbClr val="000000"/>
                </a:solidFill>
                <a:latin typeface="Georgia" pitchFamily="34" charset="0"/>
                <a:ea typeface="Georgia" pitchFamily="34" charset="-122"/>
                <a:cs typeface="Georgia" pitchFamily="34" charset="-120"/>
              </a:rPr>
              <a:t>Run the pilot through four evidence gates</a:t>
            </a:r>
            <a:endParaRPr lang="en-US" sz="3200" dirty="0" spc="0"/>
          </a:p>
        </p:txBody>
      </p:sp>
      <p:sp>
        <p:nvSpPr>
          <p:cNvPr id="29" name="subtitle"/>
          <p:cNvSpPr txBox="1"/>
          <p:nvPr/>
        </p:nvSpPr>
        <p:spPr>
          <a:xfrm>
            <a:off x="304800" y="1060450"/>
            <a:ext cx="11582400" cy="3175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600" dirty="0" spc="0">
                <a:solidFill>
                  <a:srgbClr val="000000"/>
                </a:solidFill>
                <a:latin typeface="Arial" pitchFamily="34" charset="0"/>
                <a:ea typeface="Arial" pitchFamily="34" charset="-122"/>
                <a:cs typeface="Arial" pitchFamily="34" charset="-120"/>
              </a:rPr>
              <a:t>Owners run the workstreams. Evidence gates release the next phase.</a:t>
            </a:r>
            <a:endParaRPr lang="en-US" sz="1600" dirty="0" spc="0"/>
          </a:p>
        </p:txBody>
      </p:sp>
      <p:sp>
        <p:nvSpPr>
          <p:cNvPr id="30" name="gates-heading"/>
          <p:cNvSpPr txBox="1"/>
          <p:nvPr/>
        </p:nvSpPr>
        <p:spPr>
          <a:xfrm>
            <a:off x="8477250" y="1536700"/>
            <a:ext cx="3365500" cy="27305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EVIDENCE GATES</a:t>
            </a:r>
            <a:endParaRPr lang="en-US" sz="1400" dirty="0" spc="0"/>
          </a:p>
        </p:txBody>
      </p:sp>
      <p:sp>
        <p:nvSpPr>
          <p:cNvPr id="31" name="gate-1-label"/>
          <p:cNvSpPr txBox="1"/>
          <p:nvPr/>
        </p:nvSpPr>
        <p:spPr>
          <a:xfrm>
            <a:off x="8401050" y="2178050"/>
            <a:ext cx="742950" cy="2667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600" b="1" dirty="0" spc="0">
                <a:solidFill>
                  <a:srgbClr val="FD5108"/>
                </a:solidFill>
                <a:latin typeface="Arial" pitchFamily="34" charset="0"/>
                <a:ea typeface="Arial" pitchFamily="34" charset="-122"/>
                <a:cs typeface="Arial" pitchFamily="34" charset="-120"/>
              </a:rPr>
              <a:t>G1</a:t>
            </a:r>
            <a:endParaRPr lang="en-US" sz="1600" dirty="0" spc="0"/>
          </a:p>
        </p:txBody>
      </p:sp>
      <p:sp>
        <p:nvSpPr>
          <p:cNvPr id="32" name="gate-1-week"/>
          <p:cNvSpPr txBox="1"/>
          <p:nvPr/>
        </p:nvSpPr>
        <p:spPr>
          <a:xfrm>
            <a:off x="8369300" y="2425700"/>
            <a:ext cx="806450" cy="2413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Week 2</a:t>
            </a:r>
            <a:endParaRPr lang="en-US" sz="1400" dirty="0" spc="0"/>
          </a:p>
        </p:txBody>
      </p:sp>
      <p:sp>
        <p:nvSpPr>
          <p:cNvPr id="33" name="gate-1-evidence"/>
          <p:cNvSpPr txBox="1"/>
          <p:nvPr/>
        </p:nvSpPr>
        <p:spPr>
          <a:xfrm>
            <a:off x="8350250" y="2787650"/>
            <a:ext cx="844550" cy="7239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200" dirty="0" spc="0">
                <a:solidFill>
                  <a:srgbClr val="000000"/>
                </a:solidFill>
                <a:latin typeface="Arial" pitchFamily="34" charset="0"/>
                <a:ea typeface="Arial" pitchFamily="34" charset="-122"/>
                <a:cs typeface="Arial" pitchFamily="34" charset="-120"/>
              </a:rPr>
              <a:t>Corpus +</a:t>
            </a:r>
            <a:endParaRPr lang="en-US" sz="1200" dirty="0" spc="0"/>
          </a:p>
          <a:p>
            <a:pPr algn="ctr" indent="0" marL="0">
              <a:lnSpc>
                <a:spcPct val="100000"/>
              </a:lnSpc>
              <a:buNone/>
              <a:defRPr spc="0"/>
            </a:pPr>
            <a:r>
              <a:rPr lang="en-US" sz="1200" dirty="0" spc="0">
                <a:solidFill>
                  <a:srgbClr val="000000"/>
                </a:solidFill>
                <a:latin typeface="Arial" pitchFamily="34" charset="0"/>
                <a:ea typeface="Arial" pitchFamily="34" charset="-122"/>
                <a:cs typeface="Arial" pitchFamily="34" charset="-120"/>
              </a:rPr>
              <a:t>access</a:t>
            </a:r>
            <a:endParaRPr lang="en-US" sz="1200" dirty="0" spc="0"/>
          </a:p>
          <a:p>
            <a:pPr algn="ctr" indent="0" marL="0">
              <a:lnSpc>
                <a:spcPct val="100000"/>
              </a:lnSpc>
              <a:buNone/>
              <a:defRPr spc="0"/>
            </a:pPr>
            <a:r>
              <a:rPr lang="en-US" sz="1200" dirty="0" spc="0">
                <a:solidFill>
                  <a:srgbClr val="000000"/>
                </a:solidFill>
                <a:latin typeface="Arial" pitchFamily="34" charset="0"/>
                <a:ea typeface="Arial" pitchFamily="34" charset="-122"/>
                <a:cs typeface="Arial" pitchFamily="34" charset="-120"/>
              </a:rPr>
              <a:t>signed</a:t>
            </a:r>
            <a:endParaRPr lang="en-US" sz="1200" dirty="0" spc="0"/>
          </a:p>
        </p:txBody>
      </p:sp>
      <p:sp>
        <p:nvSpPr>
          <p:cNvPr id="34" name="gate-2-label"/>
          <p:cNvSpPr txBox="1"/>
          <p:nvPr/>
        </p:nvSpPr>
        <p:spPr>
          <a:xfrm>
            <a:off x="9296400" y="2178050"/>
            <a:ext cx="742950" cy="2667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600" b="1" dirty="0" spc="0">
                <a:solidFill>
                  <a:srgbClr val="FD5108"/>
                </a:solidFill>
                <a:latin typeface="Arial" pitchFamily="34" charset="0"/>
                <a:ea typeface="Arial" pitchFamily="34" charset="-122"/>
                <a:cs typeface="Arial" pitchFamily="34" charset="-120"/>
              </a:rPr>
              <a:t>G2</a:t>
            </a:r>
            <a:endParaRPr lang="en-US" sz="1600" dirty="0" spc="0"/>
          </a:p>
        </p:txBody>
      </p:sp>
      <p:sp>
        <p:nvSpPr>
          <p:cNvPr id="35" name="gate-2-week"/>
          <p:cNvSpPr txBox="1"/>
          <p:nvPr/>
        </p:nvSpPr>
        <p:spPr>
          <a:xfrm>
            <a:off x="9264650" y="2425700"/>
            <a:ext cx="806450" cy="2413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Week 4</a:t>
            </a:r>
            <a:endParaRPr lang="en-US" sz="1400" dirty="0" spc="0"/>
          </a:p>
        </p:txBody>
      </p:sp>
      <p:sp>
        <p:nvSpPr>
          <p:cNvPr id="36" name="gate-2-evidence"/>
          <p:cNvSpPr txBox="1"/>
          <p:nvPr/>
        </p:nvSpPr>
        <p:spPr>
          <a:xfrm>
            <a:off x="9245600" y="2787650"/>
            <a:ext cx="844550" cy="7239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200" dirty="0" spc="0">
                <a:solidFill>
                  <a:srgbClr val="000000"/>
                </a:solidFill>
                <a:latin typeface="Arial" pitchFamily="34" charset="0"/>
                <a:ea typeface="Arial" pitchFamily="34" charset="-122"/>
                <a:cs typeface="Arial" pitchFamily="34" charset="-120"/>
              </a:rPr>
              <a:t>Test pack</a:t>
            </a:r>
            <a:endParaRPr lang="en-US" sz="1200" dirty="0" spc="0"/>
          </a:p>
          <a:p>
            <a:pPr algn="ctr" indent="0" marL="0">
              <a:lnSpc>
                <a:spcPct val="100000"/>
              </a:lnSpc>
              <a:buNone/>
              <a:defRPr spc="0"/>
            </a:pPr>
            <a:r>
              <a:rPr lang="en-US" sz="1200" dirty="0" spc="0">
                <a:solidFill>
                  <a:srgbClr val="000000"/>
                </a:solidFill>
                <a:latin typeface="Arial" pitchFamily="34" charset="0"/>
                <a:ea typeface="Arial" pitchFamily="34" charset="-122"/>
                <a:cs typeface="Arial" pitchFamily="34" charset="-120"/>
              </a:rPr>
              <a:t>approved</a:t>
            </a:r>
            <a:endParaRPr lang="en-US" sz="1200" dirty="0" spc="0"/>
          </a:p>
        </p:txBody>
      </p:sp>
      <p:sp>
        <p:nvSpPr>
          <p:cNvPr id="37" name="gate-3-label"/>
          <p:cNvSpPr txBox="1"/>
          <p:nvPr/>
        </p:nvSpPr>
        <p:spPr>
          <a:xfrm>
            <a:off x="10198100" y="2178050"/>
            <a:ext cx="742950" cy="2667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600" b="1" dirty="0" spc="0">
                <a:solidFill>
                  <a:srgbClr val="FD5108"/>
                </a:solidFill>
                <a:latin typeface="Arial" pitchFamily="34" charset="0"/>
                <a:ea typeface="Arial" pitchFamily="34" charset="-122"/>
                <a:cs typeface="Arial" pitchFamily="34" charset="-120"/>
              </a:rPr>
              <a:t>G3</a:t>
            </a:r>
            <a:endParaRPr lang="en-US" sz="1600" dirty="0" spc="0"/>
          </a:p>
        </p:txBody>
      </p:sp>
      <p:sp>
        <p:nvSpPr>
          <p:cNvPr id="38" name="gate-3-week"/>
          <p:cNvSpPr txBox="1"/>
          <p:nvPr/>
        </p:nvSpPr>
        <p:spPr>
          <a:xfrm>
            <a:off x="10166350" y="2425700"/>
            <a:ext cx="806450" cy="2413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Week 8</a:t>
            </a:r>
            <a:endParaRPr lang="en-US" sz="1400" dirty="0" spc="0"/>
          </a:p>
        </p:txBody>
      </p:sp>
      <p:sp>
        <p:nvSpPr>
          <p:cNvPr id="39" name="gate-3-evidence"/>
          <p:cNvSpPr txBox="1"/>
          <p:nvPr/>
        </p:nvSpPr>
        <p:spPr>
          <a:xfrm>
            <a:off x="10147300" y="2787650"/>
            <a:ext cx="844550" cy="7239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200" dirty="0" spc="0">
                <a:solidFill>
                  <a:srgbClr val="000000"/>
                </a:solidFill>
                <a:latin typeface="Arial" pitchFamily="34" charset="0"/>
                <a:ea typeface="Arial" pitchFamily="34" charset="-122"/>
                <a:cs typeface="Arial" pitchFamily="34" charset="-120"/>
              </a:rPr>
              <a:t>10 tasks</a:t>
            </a:r>
            <a:endParaRPr lang="en-US" sz="1200" dirty="0" spc="0"/>
          </a:p>
          <a:p>
            <a:pPr algn="ctr" indent="0" marL="0">
              <a:lnSpc>
                <a:spcPct val="100000"/>
              </a:lnSpc>
              <a:buNone/>
              <a:defRPr spc="0"/>
            </a:pPr>
            <a:r>
              <a:rPr lang="en-US" sz="1200" dirty="0" spc="0">
                <a:solidFill>
                  <a:srgbClr val="000000"/>
                </a:solidFill>
                <a:latin typeface="Arial" pitchFamily="34" charset="0"/>
                <a:ea typeface="Arial" pitchFamily="34" charset="-122"/>
                <a:cs typeface="Arial" pitchFamily="34" charset="-120"/>
              </a:rPr>
              <a:t>reviewed</a:t>
            </a:r>
            <a:endParaRPr lang="en-US" sz="1200" dirty="0" spc="0"/>
          </a:p>
        </p:txBody>
      </p:sp>
      <p:sp>
        <p:nvSpPr>
          <p:cNvPr id="40" name="gate-4-label"/>
          <p:cNvSpPr txBox="1"/>
          <p:nvPr/>
        </p:nvSpPr>
        <p:spPr>
          <a:xfrm>
            <a:off x="11112500" y="2178050"/>
            <a:ext cx="742950" cy="2667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600" b="1" dirty="0" spc="0">
                <a:solidFill>
                  <a:srgbClr val="FD5108"/>
                </a:solidFill>
                <a:latin typeface="Arial" pitchFamily="34" charset="0"/>
                <a:ea typeface="Arial" pitchFamily="34" charset="-122"/>
                <a:cs typeface="Arial" pitchFamily="34" charset="-120"/>
              </a:rPr>
              <a:t>G4</a:t>
            </a:r>
            <a:endParaRPr lang="en-US" sz="1600" dirty="0" spc="0"/>
          </a:p>
        </p:txBody>
      </p:sp>
      <p:sp>
        <p:nvSpPr>
          <p:cNvPr id="41" name="gate-4-week"/>
          <p:cNvSpPr txBox="1"/>
          <p:nvPr/>
        </p:nvSpPr>
        <p:spPr>
          <a:xfrm>
            <a:off x="11080750" y="2425700"/>
            <a:ext cx="806450" cy="2413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Week 12</a:t>
            </a:r>
            <a:endParaRPr lang="en-US" sz="1400" dirty="0" spc="0"/>
          </a:p>
        </p:txBody>
      </p:sp>
      <p:sp>
        <p:nvSpPr>
          <p:cNvPr id="42" name="gate-4-evidence"/>
          <p:cNvSpPr txBox="1"/>
          <p:nvPr/>
        </p:nvSpPr>
        <p:spPr>
          <a:xfrm>
            <a:off x="11061700" y="2787650"/>
            <a:ext cx="844550" cy="7239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200" dirty="0" spc="0">
                <a:solidFill>
                  <a:srgbClr val="000000"/>
                </a:solidFill>
                <a:latin typeface="Arial" pitchFamily="34" charset="0"/>
                <a:ea typeface="Arial" pitchFamily="34" charset="-122"/>
                <a:cs typeface="Arial" pitchFamily="34" charset="-120"/>
              </a:rPr>
              <a:t>Practice</a:t>
            </a:r>
            <a:endParaRPr lang="en-US" sz="1200" dirty="0" spc="0"/>
          </a:p>
          <a:p>
            <a:pPr algn="ctr" indent="0" marL="0">
              <a:lnSpc>
                <a:spcPct val="100000"/>
              </a:lnSpc>
              <a:buNone/>
              <a:defRPr spc="0"/>
            </a:pPr>
            <a:r>
              <a:rPr lang="en-US" sz="1200" dirty="0" spc="0">
                <a:solidFill>
                  <a:srgbClr val="000000"/>
                </a:solidFill>
                <a:latin typeface="Arial" pitchFamily="34" charset="0"/>
                <a:ea typeface="Arial" pitchFamily="34" charset="-122"/>
                <a:cs typeface="Arial" pitchFamily="34" charset="-120"/>
              </a:rPr>
              <a:t>lead + CFO</a:t>
            </a:r>
            <a:endParaRPr lang="en-US" sz="1200" dirty="0" spc="0"/>
          </a:p>
          <a:p>
            <a:pPr algn="ctr" indent="0" marL="0">
              <a:lnSpc>
                <a:spcPct val="100000"/>
              </a:lnSpc>
              <a:buNone/>
              <a:defRPr spc="0"/>
            </a:pPr>
            <a:r>
              <a:rPr lang="en-US" sz="1200" dirty="0" spc="0">
                <a:solidFill>
                  <a:srgbClr val="000000"/>
                </a:solidFill>
                <a:latin typeface="Arial" pitchFamily="34" charset="0"/>
                <a:ea typeface="Arial" pitchFamily="34" charset="-122"/>
                <a:cs typeface="Arial" pitchFamily="34" charset="-120"/>
              </a:rPr>
              <a:t>decide</a:t>
            </a:r>
            <a:endParaRPr lang="en-US" sz="1200" dirty="0" spc="0"/>
          </a:p>
        </p:txBody>
      </p:sp>
      <p:sp>
        <p:nvSpPr>
          <p:cNvPr id="43" name="dependencies-heading"/>
          <p:cNvSpPr txBox="1"/>
          <p:nvPr/>
        </p:nvSpPr>
        <p:spPr>
          <a:xfrm>
            <a:off x="8445500" y="3746500"/>
            <a:ext cx="3397250" cy="27305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DEPENDENCIES</a:t>
            </a:r>
            <a:endParaRPr lang="en-US" sz="1400" dirty="0" spc="0"/>
          </a:p>
        </p:txBody>
      </p:sp>
      <p:sp>
        <p:nvSpPr>
          <p:cNvPr id="44" name="dependency-1-text"/>
          <p:cNvSpPr txBox="1"/>
          <p:nvPr/>
        </p:nvSpPr>
        <p:spPr>
          <a:xfrm>
            <a:off x="8820150" y="4095750"/>
            <a:ext cx="3048000" cy="2794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dirty="0" spc="0">
                <a:solidFill>
                  <a:srgbClr val="000000"/>
                </a:solidFill>
                <a:latin typeface="Arial" pitchFamily="34" charset="0"/>
                <a:ea typeface="Arial" pitchFamily="34" charset="-122"/>
                <a:cs typeface="Arial" pitchFamily="34" charset="-120"/>
              </a:rPr>
              <a:t>Permissions before retrieval tests</a:t>
            </a:r>
            <a:endParaRPr lang="en-US" sz="1400" dirty="0" spc="0"/>
          </a:p>
        </p:txBody>
      </p:sp>
      <p:sp>
        <p:nvSpPr>
          <p:cNvPr id="45" name="dependency-2-text"/>
          <p:cNvSpPr txBox="1"/>
          <p:nvPr/>
        </p:nvSpPr>
        <p:spPr>
          <a:xfrm>
            <a:off x="8820150" y="4521200"/>
            <a:ext cx="3048000" cy="2794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dirty="0" spc="0">
                <a:solidFill>
                  <a:srgbClr val="000000"/>
                </a:solidFill>
                <a:latin typeface="Arial" pitchFamily="34" charset="0"/>
                <a:ea typeface="Arial" pitchFamily="34" charset="-122"/>
                <a:cs typeface="Arial" pitchFamily="34" charset="-120"/>
              </a:rPr>
              <a:t>Approved test pack before pilot</a:t>
            </a:r>
            <a:endParaRPr lang="en-US" sz="1400" dirty="0" spc="0"/>
          </a:p>
        </p:txBody>
      </p:sp>
      <p:sp>
        <p:nvSpPr>
          <p:cNvPr id="46" name="dependency-3-text"/>
          <p:cNvSpPr txBox="1"/>
          <p:nvPr/>
        </p:nvSpPr>
        <p:spPr>
          <a:xfrm>
            <a:off x="8820150" y="4946650"/>
            <a:ext cx="3048000" cy="2794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dirty="0" spc="0">
                <a:solidFill>
                  <a:srgbClr val="000000"/>
                </a:solidFill>
                <a:latin typeface="Arial" pitchFamily="34" charset="0"/>
                <a:ea typeface="Arial" pitchFamily="34" charset="-122"/>
                <a:cs typeface="Arial" pitchFamily="34" charset="-120"/>
              </a:rPr>
              <a:t>Quality evidence before benefit case</a:t>
            </a:r>
            <a:endParaRPr lang="en-US" sz="1400" dirty="0" spc="0"/>
          </a:p>
        </p:txBody>
      </p:sp>
      <p:sp>
        <p:nvSpPr>
          <p:cNvPr id="47" name="decision-label"/>
          <p:cNvSpPr txBox="1"/>
          <p:nvPr/>
        </p:nvSpPr>
        <p:spPr>
          <a:xfrm>
            <a:off x="635000" y="5689600"/>
            <a:ext cx="2667000" cy="3302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FD5108"/>
                </a:solidFill>
                <a:latin typeface="Arial" pitchFamily="34" charset="0"/>
                <a:ea typeface="Arial" pitchFamily="34" charset="-122"/>
                <a:cs typeface="Arial" pitchFamily="34" charset="-120"/>
              </a:rPr>
              <a:t>STOP RULE</a:t>
            </a:r>
            <a:endParaRPr lang="en-US" sz="1400" dirty="0" spc="0"/>
          </a:p>
        </p:txBody>
      </p:sp>
      <p:sp>
        <p:nvSpPr>
          <p:cNvPr id="48" name="decision-message"/>
          <p:cNvSpPr txBox="1"/>
          <p:nvPr/>
        </p:nvSpPr>
        <p:spPr>
          <a:xfrm>
            <a:off x="3556000" y="5689600"/>
            <a:ext cx="8032750" cy="3302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No expansion while critical data exceptions remain open.</a:t>
            </a:r>
            <a:endParaRPr lang="en-US" sz="1400" dirty="0" spc="0"/>
          </a:p>
        </p:txBody>
      </p:sp>
      <p:sp>
        <p:nvSpPr>
          <p:cNvPr id="49"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noAutofit/>
          </a:bodyPr>
          <a:lstStyle>
            <a:lvl1pPr>
              <a:defRPr sz="900">
                <a:solidFill>
                  <a:srgbClr val="666666"/>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SlidePoise presentation</dc:title>
  <dc:subject>Editable presentation generated from SlidePoise scene contracts</dc:subject>
  <dc:creator>SlidePoise</dc:creator>
  <cp:lastModifiedBy>SlidePoise</cp:lastModifiedBy>
  <cp:revision>1</cp:revision>
  <dcterms:created xsi:type="dcterms:W3CDTF">2026-09-05T14:31:08Z</dcterms:created>
  <dcterms:modified xsi:type="dcterms:W3CDTF">2026-09-05T14:31:08Z</dcterms:modified>
</cp:coreProperties>
</file>