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pilot engagement supplies one research task. Twenty paired tasks correspond to twenty engagements.
The practice lead and CFO release scale funding only after the evidence gates are reviewed. Critical data exceptions stop expansion.
[SlidePoise sources]
Generated target visual: /private/tmp/.slidepoise-rebuild-h51errnw/slides/s04-delivery-roadmap/work/accepted-slide.png
Canonical asset remix-flag-line: /Users/henry/Codes/AI_slide_drafting/examples/consulting-ai-transformation/run/work/icon-cache/flag/remix-flag-line.svg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POISE_MASTER_1">
    <p:bg>
      <p:bgPr>
        <a:solidFill>
          <a:srgbClr val="FFFFFF"/>
        </a:solidFill>
      </p:bgPr>
    </p:bg>
    <p:spTree>
      <p:nvGrpSpPr>
        <p:cNvPr id="1" name=""/>
        <p:cNvGrpSpPr/>
        <p:nvPr/>
      </p:nvGrpSpPr>
      <p:grpSpPr>
        <a:xfrm>
          <a:off x="0" y="0"/>
          <a:ext cx="0" cy="0"/>
          <a:chOff x="0" y="0"/>
          <a:chExt cx="0" cy="0"/>
        </a:xfrm>
      </p:grpSpPr>
      <p:sp>
        <p:nvSpPr>
          <p:cNvPr id="2" name="SC_MASTER_HEADER_LEFT"/>
          <p:cNvSpPr/>
          <p:nvPr/>
        </p:nvSpPr>
        <p:spPr>
          <a:xfrm>
            <a:off x="304800" y="31750"/>
            <a:ext cx="5547360" cy="342900"/>
          </a:xfrm>
          <a:prstGeom prst="rect">
            <a:avLst/>
          </a:prstGeom>
          <a:noFill/>
          <a:ln/>
        </p:spPr>
        <p:txBody>
          <a:bodyPr wrap="square" lIns="0" tIns="0" rIns="0" bIns="0" rtlCol="0" anchor="ctr">
            <a:normAutofit/>
          </a:bodyPr>
          <a:lstStyle/>
          <a:p>
            <a:pPr algn="l" indent="0" marL="0">
              <a:buNone/>
            </a:pPr>
            <a:r>
              <a:rPr lang="en-US" sz="1000" dirty="0">
                <a:solidFill>
                  <a:srgbClr val="666666"/>
                </a:solidFill>
                <a:latin typeface="Arial" pitchFamily="34" charset="0"/>
                <a:ea typeface="Arial" pitchFamily="34" charset="-122"/>
                <a:cs typeface="Arial" pitchFamily="34" charset="-120"/>
              </a:rPr>
              <a:t>NORTHSTAR ADVISORY</a:t>
            </a:r>
            <a:endParaRPr lang="en-US" sz="1000" dirty="0"/>
          </a:p>
        </p:txBody>
      </p:sp>
      <p:sp>
        <p:nvSpPr>
          <p:cNvPr id="3" name="SC_MASTER_HEADER_RIGHT"/>
          <p:cNvSpPr/>
          <p:nvPr/>
        </p:nvSpPr>
        <p:spPr>
          <a:xfrm>
            <a:off x="6339840" y="31750"/>
            <a:ext cx="5547360" cy="342900"/>
          </a:xfrm>
          <a:prstGeom prst="rect">
            <a:avLst/>
          </a:prstGeom>
          <a:noFill/>
          <a:ln/>
        </p:spPr>
        <p:txBody>
          <a:bodyPr wrap="square" lIns="0" tIns="0" rIns="0" bIns="0" rtlCol="0" anchor="ctr">
            <a:normAutofit/>
          </a:bodyPr>
          <a:lstStyle/>
          <a:p>
            <a:pPr algn="r" indent="0" marL="0">
              <a:buNone/>
            </a:pPr>
            <a:r>
              <a:rPr lang="en-US" sz="1000" dirty="0">
                <a:solidFill>
                  <a:srgbClr val="666666"/>
                </a:solidFill>
                <a:latin typeface="Arial" pitchFamily="34" charset="0"/>
                <a:ea typeface="Arial" pitchFamily="34" charset="-122"/>
                <a:cs typeface="Arial" pitchFamily="34" charset="-120"/>
              </a:rPr>
              <a:t>AI TRANSFORMATION</a:t>
            </a:r>
            <a:endParaRPr lang="en-US" sz="1000" dirty="0"/>
          </a:p>
        </p:txBody>
      </p:sp>
      <p:sp>
        <p:nvSpPr>
          <p:cNvPr id="4" name="Shape 2"/>
          <p:cNvSpPr/>
          <p:nvPr/>
        </p:nvSpPr>
        <p:spPr>
          <a:xfrm>
            <a:off x="304800" y="400050"/>
            <a:ext cx="11582400" cy="0"/>
          </a:xfrm>
          <a:prstGeom prst="line">
            <a:avLst/>
          </a:prstGeom>
          <a:noFill/>
          <a:ln w="6350">
            <a:solidFill>
              <a:srgbClr val="DFE3E6"/>
            </a:solidFill>
            <a:prstDash val="solid"/>
          </a:ln>
        </p:spPr>
      </p:sp>
      <p:sp>
        <p:nvSpPr>
          <p:cNvPr id="5" name="Shape 3"/>
          <p:cNvSpPr/>
          <p:nvPr/>
        </p:nvSpPr>
        <p:spPr>
          <a:xfrm>
            <a:off x="304800" y="6502400"/>
            <a:ext cx="11582400" cy="0"/>
          </a:xfrm>
          <a:prstGeom prst="line">
            <a:avLst/>
          </a:prstGeom>
          <a:noFill/>
          <a:ln w="6350">
            <a:solidFill>
              <a:srgbClr val="DFE3E6"/>
            </a:solidFill>
            <a:prstDash val="solid"/>
          </a:ln>
        </p:spPr>
      </p:sp>
      <p:sp>
        <p:nvSpPr>
          <p:cNvPr id="6" name="SC_MASTER_FOOTER_LEFT"/>
          <p:cNvSpPr/>
          <p:nvPr/>
        </p:nvSpPr>
        <p:spPr>
          <a:xfrm>
            <a:off x="304800" y="6534150"/>
            <a:ext cx="4267200" cy="292100"/>
          </a:xfrm>
          <a:prstGeom prst="rect">
            <a:avLst/>
          </a:prstGeom>
          <a:noFill/>
          <a:ln/>
        </p:spPr>
        <p:txBody>
          <a:bodyPr wrap="square" lIns="0" tIns="0" rIns="0" bIns="0" rtlCol="0" anchor="ctr">
            <a:normAutofit/>
          </a:bodyPr>
          <a:lstStyle/>
          <a:p>
            <a:pPr algn="l" indent="0" marL="0">
              <a:buNone/>
            </a:pPr>
            <a:r>
              <a:rPr lang="en-US" sz="900" dirty="0">
                <a:solidFill>
                  <a:srgbClr val="666666"/>
                </a:solidFill>
                <a:latin typeface="Arial" pitchFamily="34" charset="0"/>
                <a:ea typeface="Arial" pitchFamily="34" charset="-122"/>
                <a:cs typeface="Arial" pitchFamily="34" charset="-120"/>
              </a:rPr>
              <a:t>ILLUSTRATIVE PLANNING ASSUMPTIONS</a:t>
            </a:r>
            <a:endParaRPr lang="en-US" sz="900" dirty="0"/>
          </a:p>
        </p:txBody>
      </p:sp>
      <p:sp>
        <p:nvSpPr>
          <p:cNvPr id="7" name="SC_MASTER_FOOTER_CENTER"/>
          <p:cNvSpPr/>
          <p:nvPr/>
        </p:nvSpPr>
        <p:spPr>
          <a:xfrm>
            <a:off x="4267200" y="6534150"/>
            <a:ext cx="3657600" cy="292100"/>
          </a:xfrm>
          <a:prstGeom prst="rect">
            <a:avLst/>
          </a:prstGeom>
          <a:noFill/>
          <a:ln/>
        </p:spPr>
        <p:txBody>
          <a:bodyPr wrap="square" lIns="0" tIns="0" rIns="0" bIns="0" rtlCol="0" anchor="ctr">
            <a:normAutofit/>
          </a:bodyPr>
          <a:lstStyle/>
          <a:p>
            <a:pPr algn="ctr" indent="0" marL="0">
              <a:buNone/>
            </a:pPr>
            <a:r>
              <a:rPr lang="en-US" sz="900" dirty="0">
                <a:solidFill>
                  <a:srgbClr val="666666"/>
                </a:solidFill>
                <a:latin typeface="Arial" pitchFamily="34" charset="0"/>
                <a:ea typeface="Arial" pitchFamily="34" charset="-122"/>
                <a:cs typeface="Arial" pitchFamily="34" charset="-120"/>
              </a:rPr>
              <a:t>Capacity value is not a cash saving.</a:t>
            </a:r>
            <a:endParaRPr lang="en-US" sz="900" dirty="0"/>
          </a:p>
        </p:txBody>
      </p:sp>
      <p:sp>
        <p:nvSpPr>
          <p:cNvPr id="25"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666666"/>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666666"/>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image" Target="../media/image-1-3.png"/><Relationship Id="rId4" Type="http://schemas.openxmlformats.org/officeDocument/2006/relationships/image" Target="../media/image-1-4.svg"/><Relationship Id="rId5" Type="http://schemas.openxmlformats.org/officeDocument/2006/relationships/image" Target="../media/image-1-5.png"/><Relationship Id="rId6" Type="http://schemas.openxmlformats.org/officeDocument/2006/relationships/image" Target="../media/image-1-6.svg"/><Relationship Id="rId7" Type="http://schemas.openxmlformats.org/officeDocument/2006/relationships/image" Target="../media/image-1-7.png"/><Relationship Id="rId8" Type="http://schemas.openxmlformats.org/officeDocument/2006/relationships/image" Target="../media/image-1-8.svg"/><Relationship Id="rId9" Type="http://schemas.openxmlformats.org/officeDocument/2006/relationships/slideLayout" Target="../slideLayouts/slideLayout2.xml"/><Relationship Id="rId10"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dependency-divider"/>
          <p:cNvSpPr/>
          <p:nvPr/>
        </p:nvSpPr>
        <p:spPr>
          <a:xfrm>
            <a:off x="8413750" y="4318000"/>
            <a:ext cx="6350" cy="1193800"/>
          </a:xfrm>
          <a:prstGeom prst="rect">
            <a:avLst/>
          </a:prstGeom>
          <a:solidFill>
            <a:srgbClr val="B7BCC2"/>
          </a:solidFill>
          <a:ln w="12700">
            <a:solidFill>
              <a:srgbClr val="FFFFFF">
                <a:alpha val="0"/>
              </a:srgbClr>
            </a:solidFill>
            <a:prstDash val="solid"/>
          </a:ln>
        </p:spPr>
      </p:sp>
      <p:sp>
        <p:nvSpPr>
          <p:cNvPr id="3" name="dependency-line"/>
          <p:cNvSpPr/>
          <p:nvPr/>
        </p:nvSpPr>
        <p:spPr>
          <a:xfrm>
            <a:off x="8890000" y="4692650"/>
            <a:ext cx="25400" cy="635000"/>
          </a:xfrm>
          <a:prstGeom prst="rect">
            <a:avLst/>
          </a:prstGeom>
          <a:solidFill>
            <a:srgbClr val="FD5108"/>
          </a:solidFill>
          <a:ln w="12700">
            <a:solidFill>
              <a:srgbClr val="FFFFFF">
                <a:alpha val="0"/>
              </a:srgbClr>
            </a:solidFill>
            <a:prstDash val="solid"/>
          </a:ln>
        </p:spPr>
      </p:sp>
      <p:sp>
        <p:nvSpPr>
          <p:cNvPr id="4" name="decision-band"/>
          <p:cNvSpPr/>
          <p:nvPr/>
        </p:nvSpPr>
        <p:spPr>
          <a:xfrm>
            <a:off x="292100" y="5708650"/>
            <a:ext cx="11607800" cy="590550"/>
          </a:xfrm>
          <a:prstGeom prst="rect">
            <a:avLst/>
          </a:prstGeom>
          <a:solidFill>
            <a:srgbClr val="FFF5ED"/>
          </a:solidFill>
          <a:ln w="12700">
            <a:solidFill>
              <a:srgbClr val="FFFFFF">
                <a:alpha val="0"/>
              </a:srgbClr>
            </a:solidFill>
            <a:prstDash val="solid"/>
          </a:ln>
        </p:spPr>
      </p:sp>
      <p:sp>
        <p:nvSpPr>
          <p:cNvPr id="5" name="decision-accent"/>
          <p:cNvSpPr/>
          <p:nvPr/>
        </p:nvSpPr>
        <p:spPr>
          <a:xfrm>
            <a:off x="292100" y="5708650"/>
            <a:ext cx="50800" cy="590550"/>
          </a:xfrm>
          <a:prstGeom prst="rect">
            <a:avLst/>
          </a:prstGeom>
          <a:solidFill>
            <a:srgbClr val="FD5108"/>
          </a:solidFill>
          <a:ln w="12700">
            <a:solidFill>
              <a:srgbClr val="FFFFFF">
                <a:alpha val="0"/>
              </a:srgbClr>
            </a:solidFill>
            <a:prstDash val="solid"/>
          </a:ln>
        </p:spPr>
      </p:sp>
      <p:sp>
        <p:nvSpPr>
          <p:cNvPr id="6" name="dependency-node-1"/>
          <p:cNvSpPr/>
          <p:nvPr/>
        </p:nvSpPr>
        <p:spPr>
          <a:xfrm>
            <a:off x="8832850" y="4635500"/>
            <a:ext cx="139700" cy="139700"/>
          </a:xfrm>
          <a:prstGeom prst="ellipse">
            <a:avLst/>
          </a:prstGeom>
          <a:solidFill>
            <a:srgbClr val="FD5108"/>
          </a:solidFill>
          <a:ln w="12700">
            <a:solidFill>
              <a:srgbClr val="FFFFFF">
                <a:alpha val="0"/>
              </a:srgbClr>
            </a:solidFill>
            <a:prstDash val="solid"/>
          </a:ln>
        </p:spPr>
      </p:sp>
      <p:sp>
        <p:nvSpPr>
          <p:cNvPr id="7" name="dependency-node-2"/>
          <p:cNvSpPr/>
          <p:nvPr/>
        </p:nvSpPr>
        <p:spPr>
          <a:xfrm>
            <a:off x="8832850" y="4953000"/>
            <a:ext cx="139700" cy="139700"/>
          </a:xfrm>
          <a:prstGeom prst="ellipse">
            <a:avLst/>
          </a:prstGeom>
          <a:solidFill>
            <a:srgbClr val="FD5108"/>
          </a:solidFill>
          <a:ln w="12700">
            <a:solidFill>
              <a:srgbClr val="FFFFFF">
                <a:alpha val="0"/>
              </a:srgbClr>
            </a:solidFill>
            <a:prstDash val="solid"/>
          </a:ln>
        </p:spPr>
      </p:sp>
      <p:sp>
        <p:nvSpPr>
          <p:cNvPr id="8" name="dependency-node-3"/>
          <p:cNvSpPr/>
          <p:nvPr/>
        </p:nvSpPr>
        <p:spPr>
          <a:xfrm>
            <a:off x="8832850" y="5270500"/>
            <a:ext cx="139700" cy="139700"/>
          </a:xfrm>
          <a:prstGeom prst="ellipse">
            <a:avLst/>
          </a:prstGeom>
          <a:solidFill>
            <a:srgbClr val="FD5108"/>
          </a:solidFill>
          <a:ln w="12700">
            <a:solidFill>
              <a:srgbClr val="FFFFFF">
                <a:alpha val="0"/>
              </a:srgbClr>
            </a:solidFill>
            <a:prstDash val="solid"/>
          </a:ln>
        </p:spPr>
      </p:sp>
      <p:graphicFrame>
        <p:nvGraphicFramePr>
          <p:cNvPr id="9" name="roadmap-matrix"/>
          <p:cNvGraphicFramePr>
            <a:graphicFrameLocks noGrp="1"/>
          </p:cNvGraphicFramePr>
          <p:nvPr>
            <p:extLst>
              <p:ext uri="{D42A27DB-BD31-4B8C-83A1-F6EECF244321}">
                <p14:modId xmlns:p14="http://schemas.microsoft.com/office/powerpoint/2010/main" val="1579011935"/>
              </p:ext>
            </p:extLst>
          </p:nvPr>
        </p:nvGraphicFramePr>
        <p:xfrm>
          <a:off x="273050" y="1460500"/>
          <a:ext cx="11620500" cy="2743200"/>
        </p:xfrm>
        <a:graphic>
          <a:graphicData uri="http://schemas.openxmlformats.org/drawingml/2006/table">
            <a:tbl>
              <a:tblPr/>
              <a:tblGrid>
                <a:gridCol w="2254250"/>
                <a:gridCol w="2336800"/>
                <a:gridCol w="2336800"/>
                <a:gridCol w="2336800"/>
                <a:gridCol w="2355850"/>
              </a:tblGrid>
              <a:tr h="508000">
                <a:tc>
                  <a:txBody>
                    <a:bodyPr>
                      <a:noAutofit/>
                    </a:bodyPr>
                    <a:lstStyle/>
                    <a:p>
                      <a:pPr algn="l" indent="0" marL="0">
                        <a:buNone/>
                      </a:pPr>
                      <a:r>
                        <a:rPr lang="en-US" sz="1000" b="1" dirty="0">
                          <a:solidFill>
                            <a:srgbClr val="FFFFFF"/>
                          </a:solidFill>
                          <a:latin typeface="Arial" pitchFamily="34" charset="0"/>
                          <a:ea typeface="Arial" pitchFamily="34" charset="-122"/>
                          <a:cs typeface="Arial" pitchFamily="34" charset="-120"/>
                        </a:rPr>
                        <a:t>WORKSTREAM / OWNER</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WEEKS 1–2</a:t>
                      </a:r>
                      <a:endParaRPr lang="en-US" sz="1000" dirty="0">
                        <a:latin typeface="Arial" charset="0"/>
                        <a:ea typeface="Arial" charset="0"/>
                        <a:cs typeface="Arial" charset="0"/>
                      </a:endParaRPr>
                    </a:p>
                    <a:p>
                      <a:pPr algn="ctr" indent="0" marL="0">
                        <a:buNone/>
                      </a:pPr>
                      <a:r>
                        <a:rPr lang="en-US" sz="1000" b="1" dirty="0">
                          <a:solidFill>
                            <a:srgbClr val="FFFFFF"/>
                          </a:solidFill>
                          <a:latin typeface="Arial" pitchFamily="34" charset="0"/>
                          <a:ea typeface="Arial" pitchFamily="34" charset="-122"/>
                          <a:cs typeface="Arial" pitchFamily="34" charset="-120"/>
                        </a:rPr>
                        <a:t>Approve &amp; baseline</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WEEKS 3–4</a:t>
                      </a:r>
                      <a:endParaRPr lang="en-US" sz="1000" dirty="0">
                        <a:latin typeface="Arial" charset="0"/>
                        <a:ea typeface="Arial" charset="0"/>
                        <a:cs typeface="Arial" charset="0"/>
                      </a:endParaRPr>
                    </a:p>
                    <a:p>
                      <a:pPr algn="ctr" indent="0" marL="0">
                        <a:buNone/>
                      </a:pPr>
                      <a:r>
                        <a:rPr lang="en-US" sz="1000" b="1" dirty="0">
                          <a:solidFill>
                            <a:srgbClr val="FFFFFF"/>
                          </a:solidFill>
                          <a:latin typeface="Arial" pitchFamily="34" charset="0"/>
                          <a:ea typeface="Arial" pitchFamily="34" charset="-122"/>
                          <a:cs typeface="Arial" pitchFamily="34" charset="-120"/>
                        </a:rPr>
                        <a:t>Build &amp; test</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WEEKS 5–8</a:t>
                      </a:r>
                      <a:endParaRPr lang="en-US" sz="1000" dirty="0">
                        <a:latin typeface="Arial" charset="0"/>
                        <a:ea typeface="Arial" charset="0"/>
                        <a:cs typeface="Arial" charset="0"/>
                      </a:endParaRPr>
                    </a:p>
                    <a:p>
                      <a:pPr algn="ctr" indent="0" marL="0">
                        <a:buNone/>
                      </a:pPr>
                      <a:r>
                        <a:rPr lang="en-US" sz="1000" b="1" dirty="0">
                          <a:solidFill>
                            <a:srgbClr val="FFFFFF"/>
                          </a:solidFill>
                          <a:latin typeface="Arial" pitchFamily="34" charset="0"/>
                          <a:ea typeface="Arial" pitchFamily="34" charset="-122"/>
                          <a:cs typeface="Arial" pitchFamily="34" charset="-120"/>
                        </a:rPr>
                        <a:t>Pilot &amp; learn</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c>
                  <a:txBody>
                    <a:bodyPr>
                      <a:no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WEEKS 9–12</a:t>
                      </a:r>
                      <a:endParaRPr lang="en-US" sz="1000" dirty="0">
                        <a:latin typeface="Arial" charset="0"/>
                        <a:ea typeface="Arial" charset="0"/>
                        <a:cs typeface="Arial" charset="0"/>
                      </a:endParaRPr>
                    </a:p>
                    <a:p>
                      <a:pPr algn="ctr" indent="0" marL="0">
                        <a:buNone/>
                      </a:pPr>
                      <a:r>
                        <a:rPr lang="en-US" sz="1000" b="1" dirty="0">
                          <a:solidFill>
                            <a:srgbClr val="FFFFFF"/>
                          </a:solidFill>
                          <a:latin typeface="Arial" pitchFamily="34" charset="0"/>
                          <a:ea typeface="Arial" pitchFamily="34" charset="-122"/>
                          <a:cs typeface="Arial" pitchFamily="34" charset="-120"/>
                        </a:rPr>
                        <a:t>Prove &amp; decide</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000000"/>
                    </a:solidFill>
                  </a:tcPr>
                </a:tc>
              </a:tr>
              <a:tr h="558800">
                <a:tc>
                  <a:txBody>
                    <a:bodyPr>
                      <a:noAutofit/>
                    </a:bodyPr>
                    <a:lstStyle/>
                    <a:p>
                      <a:pPr algn="l" indent="0" marL="0">
                        <a:buNone/>
                      </a:pPr>
                      <a:r>
                        <a:rPr lang="en-US" sz="1000" b="1" dirty="0">
                          <a:solidFill>
                            <a:srgbClr val="000000"/>
                          </a:solidFill>
                          <a:latin typeface="Arial" pitchFamily="34" charset="0"/>
                          <a:ea typeface="Arial" pitchFamily="34" charset="-122"/>
                          <a:cs typeface="Arial" pitchFamily="34" charset="-120"/>
                        </a:rPr>
                        <a:t>Data &amp; access</a:t>
                      </a:r>
                      <a:endParaRPr lang="en-US" sz="1000" dirty="0">
                        <a:latin typeface="Arial" charset="0"/>
                        <a:ea typeface="Arial" charset="0"/>
                        <a:cs typeface="Arial" charset="0"/>
                      </a:endParaRPr>
                    </a:p>
                    <a:p>
                      <a:pPr algn="l" indent="0" marL="0">
                        <a:buNone/>
                      </a:pPr>
                      <a:r>
                        <a:rPr lang="en-US" sz="1000" b="1" dirty="0">
                          <a:solidFill>
                            <a:srgbClr val="000000"/>
                          </a:solidFill>
                          <a:latin typeface="Arial" pitchFamily="34" charset="0"/>
                          <a:ea typeface="Arial" pitchFamily="34" charset="-122"/>
                          <a:cs typeface="Arial" pitchFamily="34" charset="-120"/>
                        </a:rPr>
                        <a:t>Source steward</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Approved corpus</a:t>
                      </a:r>
                      <a:endParaRPr lang="en-US" sz="1000" dirty="0">
                        <a:latin typeface="Arial" charset="0"/>
                        <a:ea typeface="Arial" charset="0"/>
                        <a:cs typeface="Arial" charset="0"/>
                      </a:endParaRPr>
                    </a:p>
                    <a:p>
                      <a:pPr algn="ctr" indent="0" marL="0">
                        <a:buNone/>
                      </a:pPr>
                      <a:r>
                        <a:rPr lang="en-US" sz="1000" dirty="0">
                          <a:solidFill>
                            <a:srgbClr val="000000"/>
                          </a:solidFill>
                          <a:latin typeface="Arial" pitchFamily="34" charset="0"/>
                          <a:ea typeface="Arial" pitchFamily="34" charset="-122"/>
                          <a:cs typeface="Arial" pitchFamily="34" charset="-120"/>
                        </a:rPr>
                        <a:t>Access register</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Source refresh</a:t>
                      </a:r>
                      <a:endParaRPr lang="en-US" sz="1000" dirty="0">
                        <a:latin typeface="Arial" charset="0"/>
                        <a:ea typeface="Arial" charset="0"/>
                        <a:cs typeface="Arial" charset="0"/>
                      </a:endParaRPr>
                    </a:p>
                    <a:p>
                      <a:pPr algn="ctr" indent="0" marL="0">
                        <a:buNone/>
                      </a:pPr>
                      <a:r>
                        <a:rPr lang="en-US" sz="1000" dirty="0">
                          <a:solidFill>
                            <a:srgbClr val="000000"/>
                          </a:solidFill>
                          <a:latin typeface="Arial" pitchFamily="34" charset="0"/>
                          <a:ea typeface="Arial" pitchFamily="34" charset="-122"/>
                          <a:cs typeface="Arial" pitchFamily="34" charset="-120"/>
                        </a:rPr>
                        <a:t>Named stewards</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Weekly access and</a:t>
                      </a:r>
                      <a:endParaRPr lang="en-US" sz="1000" dirty="0">
                        <a:latin typeface="Arial" charset="0"/>
                        <a:ea typeface="Arial" charset="0"/>
                        <a:cs typeface="Arial" charset="0"/>
                      </a:endParaRPr>
                    </a:p>
                    <a:p>
                      <a:pPr algn="ctr" indent="0" marL="0">
                        <a:buNone/>
                      </a:pPr>
                      <a:r>
                        <a:rPr lang="en-US" sz="1000" dirty="0">
                          <a:solidFill>
                            <a:srgbClr val="000000"/>
                          </a:solidFill>
                          <a:latin typeface="Arial" pitchFamily="34" charset="0"/>
                          <a:ea typeface="Arial" pitchFamily="34" charset="-122"/>
                          <a:cs typeface="Arial" pitchFamily="34" charset="-120"/>
                        </a:rPr>
                        <a:t>freshness checks</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Audit closeout</a:t>
                      </a:r>
                      <a:endParaRPr lang="en-US" sz="1000" dirty="0">
                        <a:latin typeface="Arial" charset="0"/>
                        <a:ea typeface="Arial" charset="0"/>
                        <a:cs typeface="Arial" charset="0"/>
                      </a:endParaRPr>
                    </a:p>
                    <a:p>
                      <a:pPr algn="ctr" indent="0" marL="0">
                        <a:buNone/>
                      </a:pPr>
                      <a:r>
                        <a:rPr lang="en-US" sz="1000" dirty="0">
                          <a:solidFill>
                            <a:srgbClr val="000000"/>
                          </a:solidFill>
                          <a:latin typeface="Arial" pitchFamily="34" charset="0"/>
                          <a:ea typeface="Arial" pitchFamily="34" charset="-122"/>
                          <a:cs typeface="Arial" pitchFamily="34" charset="-120"/>
                        </a:rPr>
                        <a:t>Release inventory</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558800">
                <a:tc>
                  <a:txBody>
                    <a:bodyPr>
                      <a:noAutofit/>
                    </a:bodyPr>
                    <a:lstStyle/>
                    <a:p>
                      <a:pPr algn="l" indent="0" marL="0">
                        <a:buNone/>
                      </a:pPr>
                      <a:r>
                        <a:rPr lang="en-US" sz="1000" b="1" dirty="0">
                          <a:solidFill>
                            <a:srgbClr val="000000"/>
                          </a:solidFill>
                          <a:latin typeface="Arial" pitchFamily="34" charset="0"/>
                          <a:ea typeface="Arial" pitchFamily="34" charset="-122"/>
                          <a:cs typeface="Arial" pitchFamily="34" charset="-120"/>
                        </a:rPr>
                        <a:t>Workflow &amp; product</a:t>
                      </a:r>
                      <a:endParaRPr lang="en-US" sz="1000" dirty="0">
                        <a:latin typeface="Arial" charset="0"/>
                        <a:ea typeface="Arial" charset="0"/>
                        <a:cs typeface="Arial" charset="0"/>
                      </a:endParaRPr>
                    </a:p>
                    <a:p>
                      <a:pPr algn="l" indent="0" marL="0">
                        <a:buNone/>
                      </a:pPr>
                      <a:r>
                        <a:rPr lang="en-US" sz="1000" b="1" dirty="0">
                          <a:solidFill>
                            <a:srgbClr val="000000"/>
                          </a:solidFill>
                          <a:latin typeface="Arial" pitchFamily="34" charset="0"/>
                          <a:ea typeface="Arial" pitchFamily="34" charset="-122"/>
                          <a:cs typeface="Arial" pitchFamily="34" charset="-120"/>
                        </a:rPr>
                        <a:t>Product lead</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Task mapping</a:t>
                      </a:r>
                      <a:endParaRPr lang="en-US" sz="1000" dirty="0">
                        <a:latin typeface="Arial" charset="0"/>
                        <a:ea typeface="Arial" charset="0"/>
                        <a:cs typeface="Arial" charset="0"/>
                      </a:endParaRPr>
                    </a:p>
                    <a:p>
                      <a:pPr algn="ctr" indent="0" marL="0">
                        <a:buNone/>
                      </a:pPr>
                      <a:r>
                        <a:rPr lang="en-US" sz="1000" dirty="0">
                          <a:solidFill>
                            <a:srgbClr val="000000"/>
                          </a:solidFill>
                          <a:latin typeface="Arial" pitchFamily="34" charset="0"/>
                          <a:ea typeface="Arial" pitchFamily="34" charset="-122"/>
                          <a:cs typeface="Arial" pitchFamily="34" charset="-120"/>
                        </a:rPr>
                        <a:t>Baseline time logs</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Grounded draft</a:t>
                      </a:r>
                      <a:endParaRPr lang="en-US" sz="1000" dirty="0">
                        <a:latin typeface="Arial" charset="0"/>
                        <a:ea typeface="Arial" charset="0"/>
                        <a:cs typeface="Arial" charset="0"/>
                      </a:endParaRPr>
                    </a:p>
                    <a:p>
                      <a:pPr algn="ctr" indent="0" marL="0">
                        <a:buNone/>
                      </a:pPr>
                      <a:r>
                        <a:rPr lang="en-US" sz="1000" dirty="0">
                          <a:solidFill>
                            <a:srgbClr val="000000"/>
                          </a:solidFill>
                          <a:latin typeface="Arial" pitchFamily="34" charset="0"/>
                          <a:ea typeface="Arial" pitchFamily="34" charset="-122"/>
                          <a:cs typeface="Arial" pitchFamily="34" charset="-120"/>
                        </a:rPr>
                        <a:t>Visible citations</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15-user pilot</a:t>
                      </a:r>
                      <a:endParaRPr lang="en-US" sz="1000" dirty="0">
                        <a:latin typeface="Arial" charset="0"/>
                        <a:ea typeface="Arial" charset="0"/>
                        <a:cs typeface="Arial" charset="0"/>
                      </a:endParaRPr>
                    </a:p>
                    <a:p>
                      <a:pPr algn="ctr" indent="0" marL="0">
                        <a:buNone/>
                      </a:pPr>
                      <a:r>
                        <a:rPr lang="en-US" sz="1000" dirty="0">
                          <a:solidFill>
                            <a:srgbClr val="000000"/>
                          </a:solidFill>
                          <a:latin typeface="Arial" pitchFamily="34" charset="0"/>
                          <a:ea typeface="Arial" pitchFamily="34" charset="-122"/>
                          <a:cs typeface="Arial" pitchFamily="34" charset="-120"/>
                        </a:rPr>
                        <a:t>Defect fixes</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Release candidate</a:t>
                      </a:r>
                      <a:endParaRPr lang="en-US" sz="1000" dirty="0">
                        <a:latin typeface="Arial" charset="0"/>
                        <a:ea typeface="Arial" charset="0"/>
                        <a:cs typeface="Arial" charset="0"/>
                      </a:endParaRPr>
                    </a:p>
                    <a:p>
                      <a:pPr algn="ctr" indent="0" marL="0">
                        <a:buNone/>
                      </a:pPr>
                      <a:r>
                        <a:rPr lang="en-US" sz="1000" dirty="0">
                          <a:solidFill>
                            <a:srgbClr val="000000"/>
                          </a:solidFill>
                          <a:latin typeface="Arial" pitchFamily="34" charset="0"/>
                          <a:ea typeface="Arial" pitchFamily="34" charset="-122"/>
                          <a:cs typeface="Arial" pitchFamily="34" charset="-120"/>
                        </a:rPr>
                        <a:t>Runbook</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r h="558800">
                <a:tc>
                  <a:txBody>
                    <a:bodyPr>
                      <a:noAutofit/>
                    </a:bodyPr>
                    <a:lstStyle/>
                    <a:p>
                      <a:pPr algn="l" indent="0" marL="0">
                        <a:buNone/>
                      </a:pPr>
                      <a:r>
                        <a:rPr lang="en-US" sz="1000" b="1" dirty="0">
                          <a:solidFill>
                            <a:srgbClr val="000000"/>
                          </a:solidFill>
                          <a:latin typeface="Arial" pitchFamily="34" charset="0"/>
                          <a:ea typeface="Arial" pitchFamily="34" charset="-122"/>
                          <a:cs typeface="Arial" pitchFamily="34" charset="-120"/>
                        </a:rPr>
                        <a:t>Quality &amp; controls</a:t>
                      </a:r>
                      <a:endParaRPr lang="en-US" sz="1000" dirty="0">
                        <a:latin typeface="Arial" charset="0"/>
                        <a:ea typeface="Arial" charset="0"/>
                        <a:cs typeface="Arial" charset="0"/>
                      </a:endParaRPr>
                    </a:p>
                    <a:p>
                      <a:pPr algn="l" indent="0" marL="0">
                        <a:buNone/>
                      </a:pPr>
                      <a:r>
                        <a:rPr lang="en-US" sz="1000" b="1" dirty="0">
                          <a:solidFill>
                            <a:srgbClr val="000000"/>
                          </a:solidFill>
                          <a:latin typeface="Arial" pitchFamily="34" charset="0"/>
                          <a:ea typeface="Arial" pitchFamily="34" charset="-122"/>
                          <a:cs typeface="Arial" pitchFamily="34" charset="-120"/>
                        </a:rPr>
                        <a:t>Expert reviewer</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Risk boundaries</a:t>
                      </a:r>
                      <a:endParaRPr lang="en-US" sz="1000" dirty="0">
                        <a:latin typeface="Arial" charset="0"/>
                        <a:ea typeface="Arial" charset="0"/>
                        <a:cs typeface="Arial" charset="0"/>
                      </a:endParaRPr>
                    </a:p>
                    <a:p>
                      <a:pPr algn="ctr" indent="0" marL="0">
                        <a:buNone/>
                      </a:pPr>
                      <a:r>
                        <a:rPr lang="en-US" sz="1000" dirty="0">
                          <a:solidFill>
                            <a:srgbClr val="000000"/>
                          </a:solidFill>
                          <a:latin typeface="Arial" pitchFamily="34" charset="0"/>
                          <a:ea typeface="Arial" pitchFamily="34" charset="-122"/>
                          <a:cs typeface="Arial" pitchFamily="34" charset="-120"/>
                        </a:rPr>
                        <a:t>Review criteria</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Test pack</a:t>
                      </a:r>
                      <a:endParaRPr lang="en-US" sz="1000" dirty="0">
                        <a:latin typeface="Arial" charset="0"/>
                        <a:ea typeface="Arial" charset="0"/>
                        <a:cs typeface="Arial" charset="0"/>
                      </a:endParaRPr>
                    </a:p>
                    <a:p>
                      <a:pPr algn="ctr" indent="0" marL="0">
                        <a:buNone/>
                      </a:pPr>
                      <a:r>
                        <a:rPr lang="en-US" sz="1000" dirty="0">
                          <a:solidFill>
                            <a:srgbClr val="000000"/>
                          </a:solidFill>
                          <a:latin typeface="Arial" pitchFamily="34" charset="0"/>
                          <a:ea typeface="Arial" pitchFamily="34" charset="-122"/>
                          <a:cs typeface="Arial" pitchFamily="34" charset="-120"/>
                        </a:rPr>
                        <a:t>Rejection reasons</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10 reviewed tasks</a:t>
                      </a:r>
                      <a:endParaRPr lang="en-US" sz="1000" dirty="0">
                        <a:latin typeface="Arial" charset="0"/>
                        <a:ea typeface="Arial" charset="0"/>
                        <a:cs typeface="Arial" charset="0"/>
                      </a:endParaRPr>
                    </a:p>
                    <a:p>
                      <a:pPr algn="ctr" indent="0" marL="0">
                        <a:buNone/>
                      </a:pPr>
                      <a:r>
                        <a:rPr lang="en-US" sz="1000" dirty="0">
                          <a:solidFill>
                            <a:srgbClr val="000000"/>
                          </a:solidFill>
                          <a:latin typeface="Arial" pitchFamily="34" charset="0"/>
                          <a:ea typeface="Arial" pitchFamily="34" charset="-122"/>
                          <a:cs typeface="Arial" pitchFamily="34" charset="-120"/>
                        </a:rPr>
                        <a:t>Error triage</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20 completed tasks</a:t>
                      </a:r>
                      <a:endParaRPr lang="en-US" sz="1000" dirty="0">
                        <a:latin typeface="Arial" charset="0"/>
                        <a:ea typeface="Arial" charset="0"/>
                        <a:cs typeface="Arial" charset="0"/>
                      </a:endParaRPr>
                    </a:p>
                    <a:p>
                      <a:pPr algn="ctr" indent="0" marL="0">
                        <a:buNone/>
                      </a:pPr>
                      <a:r>
                        <a:rPr lang="en-US" sz="1000" dirty="0">
                          <a:solidFill>
                            <a:srgbClr val="000000"/>
                          </a:solidFill>
                          <a:latin typeface="Arial" pitchFamily="34" charset="0"/>
                          <a:ea typeface="Arial" pitchFamily="34" charset="-122"/>
                          <a:cs typeface="Arial" pitchFamily="34" charset="-120"/>
                        </a:rPr>
                        <a:t>Gate evidence</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FFFFF"/>
                    </a:solidFill>
                  </a:tcPr>
                </a:tc>
              </a:tr>
              <a:tr h="558800">
                <a:tc>
                  <a:txBody>
                    <a:bodyPr>
                      <a:noAutofit/>
                    </a:bodyPr>
                    <a:lstStyle/>
                    <a:p>
                      <a:pPr algn="l" indent="0" marL="0">
                        <a:buNone/>
                      </a:pPr>
                      <a:r>
                        <a:rPr lang="en-US" sz="1000" b="1" dirty="0">
                          <a:solidFill>
                            <a:srgbClr val="000000"/>
                          </a:solidFill>
                          <a:latin typeface="Arial" pitchFamily="34" charset="0"/>
                          <a:ea typeface="Arial" pitchFamily="34" charset="-122"/>
                          <a:cs typeface="Arial" pitchFamily="34" charset="-120"/>
                        </a:rPr>
                        <a:t>Adoption &amp; value</a:t>
                      </a:r>
                      <a:endParaRPr lang="en-US" sz="1000" dirty="0">
                        <a:latin typeface="Arial" charset="0"/>
                        <a:ea typeface="Arial" charset="0"/>
                        <a:cs typeface="Arial" charset="0"/>
                      </a:endParaRPr>
                    </a:p>
                    <a:p>
                      <a:pPr algn="l" indent="0" marL="0">
                        <a:buNone/>
                      </a:pPr>
                      <a:r>
                        <a:rPr lang="en-US" sz="1000" b="1" dirty="0">
                          <a:solidFill>
                            <a:srgbClr val="000000"/>
                          </a:solidFill>
                          <a:latin typeface="Arial" pitchFamily="34" charset="0"/>
                          <a:ea typeface="Arial" pitchFamily="34" charset="-122"/>
                          <a:cs typeface="Arial" pitchFamily="34" charset="-120"/>
                        </a:rPr>
                        <a:t>Practice lead</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Sponsor &amp; users</a:t>
                      </a:r>
                      <a:endParaRPr lang="en-US" sz="1000" dirty="0">
                        <a:latin typeface="Arial" charset="0"/>
                        <a:ea typeface="Arial" charset="0"/>
                        <a:cs typeface="Arial" charset="0"/>
                      </a:endParaRPr>
                    </a:p>
                    <a:p>
                      <a:pPr algn="ctr" indent="0" marL="0">
                        <a:buNone/>
                      </a:pPr>
                      <a:r>
                        <a:rPr lang="en-US" sz="1000" dirty="0">
                          <a:solidFill>
                            <a:srgbClr val="000000"/>
                          </a:solidFill>
                          <a:latin typeface="Arial" pitchFamily="34" charset="0"/>
                          <a:ea typeface="Arial" pitchFamily="34" charset="-122"/>
                          <a:cs typeface="Arial" pitchFamily="34" charset="-120"/>
                        </a:rPr>
                        <a:t>Agree tracking</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Training &amp; support</a:t>
                      </a:r>
                      <a:endParaRPr lang="en-US" sz="1000" dirty="0">
                        <a:latin typeface="Arial" charset="0"/>
                        <a:ea typeface="Arial" charset="0"/>
                        <a:cs typeface="Arial" charset="0"/>
                      </a:endParaRPr>
                    </a:p>
                    <a:p>
                      <a:pPr algn="ctr" indent="0" marL="0">
                        <a:buNone/>
                      </a:pPr>
                      <a:r>
                        <a:rPr lang="en-US" sz="1000" dirty="0">
                          <a:solidFill>
                            <a:srgbClr val="000000"/>
                          </a:solidFill>
                          <a:latin typeface="Arial" pitchFamily="34" charset="0"/>
                          <a:ea typeface="Arial" pitchFamily="34" charset="-122"/>
                          <a:cs typeface="Arial" pitchFamily="34" charset="-120"/>
                        </a:rPr>
                        <a:t>Measurement plan</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Weekly usage</a:t>
                      </a:r>
                      <a:endParaRPr lang="en-US" sz="1000" dirty="0">
                        <a:latin typeface="Arial" charset="0"/>
                        <a:ea typeface="Arial" charset="0"/>
                        <a:cs typeface="Arial" charset="0"/>
                      </a:endParaRPr>
                    </a:p>
                    <a:p>
                      <a:pPr algn="ctr" indent="0" marL="0">
                        <a:buNone/>
                      </a:pPr>
                      <a:r>
                        <a:rPr lang="en-US" sz="1000" dirty="0">
                          <a:solidFill>
                            <a:srgbClr val="000000"/>
                          </a:solidFill>
                          <a:latin typeface="Arial" pitchFamily="34" charset="0"/>
                          <a:ea typeface="Arial" pitchFamily="34" charset="-122"/>
                          <a:cs typeface="Arial" pitchFamily="34" charset="-120"/>
                        </a:rPr>
                        <a:t>Feedback sessions</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c>
                  <a:txBody>
                    <a:bodyPr>
                      <a:noAutofit/>
                    </a:bodyPr>
                    <a:lstStyle/>
                    <a:p>
                      <a:pPr algn="ctr" indent="0" marL="0">
                        <a:buNone/>
                      </a:pPr>
                      <a:r>
                        <a:rPr lang="en-US" sz="1000" dirty="0">
                          <a:solidFill>
                            <a:srgbClr val="000000"/>
                          </a:solidFill>
                          <a:latin typeface="Arial" pitchFamily="34" charset="0"/>
                          <a:ea typeface="Arial" pitchFamily="34" charset="-122"/>
                          <a:cs typeface="Arial" pitchFamily="34" charset="-120"/>
                        </a:rPr>
                        <a:t>Benefit case</a:t>
                      </a:r>
                      <a:endParaRPr lang="en-US" sz="1000" dirty="0">
                        <a:latin typeface="Arial" charset="0"/>
                        <a:ea typeface="Arial" charset="0"/>
                        <a:cs typeface="Arial" charset="0"/>
                      </a:endParaRPr>
                    </a:p>
                    <a:p>
                      <a:pPr algn="ctr" indent="0" marL="0">
                        <a:buNone/>
                      </a:pPr>
                      <a:r>
                        <a:rPr lang="en-US" sz="1000" dirty="0">
                          <a:solidFill>
                            <a:srgbClr val="000000"/>
                          </a:solidFill>
                          <a:latin typeface="Arial" pitchFamily="34" charset="0"/>
                          <a:ea typeface="Arial" pitchFamily="34" charset="-122"/>
                          <a:cs typeface="Arial" pitchFamily="34" charset="-120"/>
                        </a:rPr>
                        <a:t>Scale recommendation</a:t>
                      </a:r>
                      <a:endParaRPr lang="en-US" sz="1000" dirty="0">
                        <a:latin typeface="Arial" charset="0"/>
                        <a:ea typeface="Arial" charset="0"/>
                        <a:cs typeface="Arial" charset="0"/>
                      </a:endParaRPr>
                    </a:p>
                  </a:txBody>
                  <a:tcPr marL="101600" marR="101600" marT="38100" marB="38100" anchor="ctr">
                    <a:lnL w="6350" cap="flat" cmpd="sng" algn="ctr">
                      <a:solidFill>
                        <a:srgbClr val="C6C9CD"/>
                      </a:solidFill>
                      <a:prstDash val="solid"/>
                      <a:round/>
                      <a:headEnd type="none" w="med" len="med"/>
                      <a:tailEnd type="none" w="med" len="med"/>
                    </a:lnL>
                    <a:lnR w="6350" cap="flat" cmpd="sng" algn="ctr">
                      <a:solidFill>
                        <a:srgbClr val="C6C9CD"/>
                      </a:solidFill>
                      <a:prstDash val="solid"/>
                      <a:round/>
                      <a:headEnd type="none" w="med" len="med"/>
                      <a:tailEnd type="none" w="med" len="med"/>
                    </a:lnR>
                    <a:lnT w="6350" cap="flat" cmpd="sng" algn="ctr">
                      <a:solidFill>
                        <a:srgbClr val="C6C9CD"/>
                      </a:solidFill>
                      <a:prstDash val="solid"/>
                      <a:round/>
                      <a:headEnd type="none" w="med" len="med"/>
                      <a:tailEnd type="none" w="med" len="med"/>
                    </a:lnT>
                    <a:lnB w="6350" cap="flat" cmpd="sng" algn="ctr">
                      <a:solidFill>
                        <a:srgbClr val="C6C9CD"/>
                      </a:solidFill>
                      <a:prstDash val="solid"/>
                      <a:round/>
                      <a:headEnd type="none" w="med" len="med"/>
                      <a:tailEnd type="none" w="med" len="med"/>
                    </a:lnB>
                    <a:solidFill>
                      <a:srgbClr val="F5F7F8"/>
                    </a:solidFill>
                  </a:tcPr>
                </a:tc>
              </a:tr>
            </a:tbl>
          </a:graphicData>
        </a:graphic>
      </p:graphicFrame>
      <p:cxnSp>
        <p:nvCxnSpPr>
          <p:cNvPr id="10" name="SC_CONNECTOR__gate-flow-1__0"/>
          <p:cNvCxnSpPr/>
          <p:nvPr/>
        </p:nvCxnSpPr>
        <p:spPr>
          <a:xfrm>
            <a:off x="1549400" y="4800600"/>
            <a:ext cx="1663700" cy="0"/>
          </a:xfrm>
          <a:prstGeom prst="line">
            <a:avLst/>
          </a:prstGeom>
          <a:noFill/>
          <a:ln w="19050">
            <a:solidFill>
              <a:srgbClr val="FD5108"/>
            </a:solidFill>
            <a:prstDash val="solid"/>
            <a:round/>
            <a:headEnd type="none"/>
            <a:tailEnd type="triangle" w="lg" len="lg"/>
          </a:ln>
        </p:spPr>
      </p:cxnSp>
      <p:cxnSp>
        <p:nvCxnSpPr>
          <p:cNvPr id="11" name="SC_CONNECTOR__gate-flow-2__0"/>
          <p:cNvCxnSpPr/>
          <p:nvPr/>
        </p:nvCxnSpPr>
        <p:spPr>
          <a:xfrm>
            <a:off x="3517900" y="4800600"/>
            <a:ext cx="1663700" cy="0"/>
          </a:xfrm>
          <a:prstGeom prst="line">
            <a:avLst/>
          </a:prstGeom>
          <a:noFill/>
          <a:ln w="19050">
            <a:solidFill>
              <a:srgbClr val="FD5108"/>
            </a:solidFill>
            <a:prstDash val="solid"/>
            <a:round/>
            <a:headEnd type="none"/>
            <a:tailEnd type="triangle" w="lg" len="lg"/>
          </a:ln>
        </p:spPr>
      </p:cxnSp>
      <p:cxnSp>
        <p:nvCxnSpPr>
          <p:cNvPr id="12" name="SC_CONNECTOR__gate-flow-3__0"/>
          <p:cNvCxnSpPr/>
          <p:nvPr/>
        </p:nvCxnSpPr>
        <p:spPr>
          <a:xfrm>
            <a:off x="5486400" y="4800600"/>
            <a:ext cx="1663700" cy="0"/>
          </a:xfrm>
          <a:prstGeom prst="line">
            <a:avLst/>
          </a:prstGeom>
          <a:noFill/>
          <a:ln w="19050">
            <a:solidFill>
              <a:srgbClr val="FD5108"/>
            </a:solidFill>
            <a:prstDash val="solid"/>
            <a:round/>
            <a:headEnd type="none"/>
            <a:tailEnd type="triangle" w="lg" len="lg"/>
          </a:ln>
        </p:spPr>
      </p:cxnSp>
      <p:sp>
        <p:nvSpPr>
          <p:cNvPr id="13" name="headline"/>
          <p:cNvSpPr txBox="1"/>
          <p:nvPr/>
        </p:nvSpPr>
        <p:spPr>
          <a:xfrm>
            <a:off x="292100" y="533400"/>
            <a:ext cx="11607800" cy="482600"/>
          </a:xfrm>
          <a:prstGeom prst="rect">
            <a:avLst/>
          </a:prstGeom>
          <a:noFill/>
          <a:ln/>
        </p:spPr>
        <p:txBody>
          <a:bodyPr wrap="square" lIns="0" tIns="0" rIns="0" bIns="0" rtlCol="0" anchor="t">
            <a:noAutofit/>
          </a:bodyPr>
          <a:lstStyle/>
          <a:p>
            <a:pPr algn="l" indent="0" marL="0">
              <a:lnSpc>
                <a:spcPct val="100000"/>
              </a:lnSpc>
              <a:buNone/>
              <a:defRPr spc="0"/>
            </a:pPr>
            <a:r>
              <a:rPr lang="en-US" sz="3200" dirty="0" spc="0">
                <a:solidFill>
                  <a:srgbClr val="000000"/>
                </a:solidFill>
                <a:latin typeface="Georgia" pitchFamily="34" charset="0"/>
                <a:ea typeface="Georgia" pitchFamily="34" charset="-122"/>
                <a:cs typeface="Georgia" pitchFamily="34" charset="-120"/>
              </a:rPr>
              <a:t>Run the pilot through four evidence gates</a:t>
            </a:r>
            <a:endParaRPr lang="en-US" sz="3200" dirty="0" spc="0"/>
          </a:p>
        </p:txBody>
      </p:sp>
      <p:sp>
        <p:nvSpPr>
          <p:cNvPr id="14" name="subtitle"/>
          <p:cNvSpPr txBox="1"/>
          <p:nvPr/>
        </p:nvSpPr>
        <p:spPr>
          <a:xfrm>
            <a:off x="298450" y="1047750"/>
            <a:ext cx="11588750" cy="3048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600" dirty="0" spc="0">
                <a:solidFill>
                  <a:srgbClr val="000000"/>
                </a:solidFill>
                <a:latin typeface="Arial" pitchFamily="34" charset="0"/>
                <a:ea typeface="Arial" pitchFamily="34" charset="-122"/>
                <a:cs typeface="Arial" pitchFamily="34" charset="-120"/>
              </a:rPr>
              <a:t>Owners run the workstreams. Evidence gates release the next phase.</a:t>
            </a:r>
            <a:endParaRPr lang="en-US" sz="1600" dirty="0" spc="0"/>
          </a:p>
        </p:txBody>
      </p:sp>
      <p:sp>
        <p:nvSpPr>
          <p:cNvPr id="15" name="gates-heading"/>
          <p:cNvSpPr txBox="1"/>
          <p:nvPr/>
        </p:nvSpPr>
        <p:spPr>
          <a:xfrm>
            <a:off x="273050" y="4324350"/>
            <a:ext cx="5715000" cy="2286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250" b="1" dirty="0" spc="0">
                <a:solidFill>
                  <a:srgbClr val="000000"/>
                </a:solidFill>
                <a:latin typeface="Arial" pitchFamily="34" charset="0"/>
                <a:ea typeface="Arial" pitchFamily="34" charset="-122"/>
                <a:cs typeface="Arial" pitchFamily="34" charset="-120"/>
              </a:rPr>
              <a:t>EVIDENCE GATES</a:t>
            </a:r>
            <a:endParaRPr lang="en-US" sz="1250" dirty="0" spc="0"/>
          </a:p>
        </p:txBody>
      </p:sp>
      <p:sp>
        <p:nvSpPr>
          <p:cNvPr id="16" name="gate-label-g1"/>
          <p:cNvSpPr txBox="1"/>
          <p:nvPr/>
        </p:nvSpPr>
        <p:spPr>
          <a:xfrm>
            <a:off x="571500" y="5035550"/>
            <a:ext cx="1651000" cy="2032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150" b="1" dirty="0" spc="0">
                <a:solidFill>
                  <a:srgbClr val="FD5108"/>
                </a:solidFill>
                <a:latin typeface="Arial" pitchFamily="34" charset="0"/>
                <a:ea typeface="Arial" pitchFamily="34" charset="-122"/>
                <a:cs typeface="Arial" pitchFamily="34" charset="-120"/>
              </a:rPr>
              <a:t>G1 · Week 2</a:t>
            </a:r>
            <a:endParaRPr lang="en-US" sz="1150" dirty="0" spc="0"/>
          </a:p>
        </p:txBody>
      </p:sp>
      <p:sp>
        <p:nvSpPr>
          <p:cNvPr id="17" name="gate-detail-g1"/>
          <p:cNvSpPr txBox="1"/>
          <p:nvPr/>
        </p:nvSpPr>
        <p:spPr>
          <a:xfrm>
            <a:off x="444500" y="5251450"/>
            <a:ext cx="1905000" cy="22225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950" dirty="0" spc="0">
                <a:solidFill>
                  <a:srgbClr val="000000"/>
                </a:solidFill>
                <a:latin typeface="Arial" pitchFamily="34" charset="0"/>
                <a:ea typeface="Arial" pitchFamily="34" charset="-122"/>
                <a:cs typeface="Arial" pitchFamily="34" charset="-120"/>
              </a:rPr>
              <a:t>Corpus + access signed</a:t>
            </a:r>
            <a:endParaRPr lang="en-US" sz="950" dirty="0" spc="0"/>
          </a:p>
        </p:txBody>
      </p:sp>
      <p:sp>
        <p:nvSpPr>
          <p:cNvPr id="18" name="gate-label-g2"/>
          <p:cNvSpPr txBox="1"/>
          <p:nvPr/>
        </p:nvSpPr>
        <p:spPr>
          <a:xfrm>
            <a:off x="2540000" y="5035550"/>
            <a:ext cx="1651000" cy="2032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150" b="1" dirty="0" spc="0">
                <a:solidFill>
                  <a:srgbClr val="FD5108"/>
                </a:solidFill>
                <a:latin typeface="Arial" pitchFamily="34" charset="0"/>
                <a:ea typeface="Arial" pitchFamily="34" charset="-122"/>
                <a:cs typeface="Arial" pitchFamily="34" charset="-120"/>
              </a:rPr>
              <a:t>G2 · Week 4</a:t>
            </a:r>
            <a:endParaRPr lang="en-US" sz="1150" dirty="0" spc="0"/>
          </a:p>
        </p:txBody>
      </p:sp>
      <p:sp>
        <p:nvSpPr>
          <p:cNvPr id="19" name="gate-detail-g2"/>
          <p:cNvSpPr txBox="1"/>
          <p:nvPr/>
        </p:nvSpPr>
        <p:spPr>
          <a:xfrm>
            <a:off x="2413000" y="5251450"/>
            <a:ext cx="1905000" cy="22225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950" dirty="0" spc="0">
                <a:solidFill>
                  <a:srgbClr val="000000"/>
                </a:solidFill>
                <a:latin typeface="Arial" pitchFamily="34" charset="0"/>
                <a:ea typeface="Arial" pitchFamily="34" charset="-122"/>
                <a:cs typeface="Arial" pitchFamily="34" charset="-120"/>
              </a:rPr>
              <a:t>Test pack approved</a:t>
            </a:r>
            <a:endParaRPr lang="en-US" sz="950" dirty="0" spc="0"/>
          </a:p>
        </p:txBody>
      </p:sp>
      <p:sp>
        <p:nvSpPr>
          <p:cNvPr id="20" name="gate-label-g3"/>
          <p:cNvSpPr txBox="1"/>
          <p:nvPr/>
        </p:nvSpPr>
        <p:spPr>
          <a:xfrm>
            <a:off x="4508500" y="5035550"/>
            <a:ext cx="1651000" cy="2032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150" b="1" dirty="0" spc="0">
                <a:solidFill>
                  <a:srgbClr val="FD5108"/>
                </a:solidFill>
                <a:latin typeface="Arial" pitchFamily="34" charset="0"/>
                <a:ea typeface="Arial" pitchFamily="34" charset="-122"/>
                <a:cs typeface="Arial" pitchFamily="34" charset="-120"/>
              </a:rPr>
              <a:t>G3 · Week 8</a:t>
            </a:r>
            <a:endParaRPr lang="en-US" sz="1150" dirty="0" spc="0"/>
          </a:p>
        </p:txBody>
      </p:sp>
      <p:sp>
        <p:nvSpPr>
          <p:cNvPr id="21" name="gate-detail-g3"/>
          <p:cNvSpPr txBox="1"/>
          <p:nvPr/>
        </p:nvSpPr>
        <p:spPr>
          <a:xfrm>
            <a:off x="4381500" y="5251450"/>
            <a:ext cx="1905000" cy="22225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950" dirty="0" spc="0">
                <a:solidFill>
                  <a:srgbClr val="000000"/>
                </a:solidFill>
                <a:latin typeface="Arial" pitchFamily="34" charset="0"/>
                <a:ea typeface="Arial" pitchFamily="34" charset="-122"/>
                <a:cs typeface="Arial" pitchFamily="34" charset="-120"/>
              </a:rPr>
              <a:t>10 tasks reviewed</a:t>
            </a:r>
            <a:endParaRPr lang="en-US" sz="950" dirty="0" spc="0"/>
          </a:p>
        </p:txBody>
      </p:sp>
      <p:sp>
        <p:nvSpPr>
          <p:cNvPr id="22" name="gate-label-g4"/>
          <p:cNvSpPr txBox="1"/>
          <p:nvPr/>
        </p:nvSpPr>
        <p:spPr>
          <a:xfrm>
            <a:off x="6477000" y="5035550"/>
            <a:ext cx="1651000" cy="20320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1150" b="1" dirty="0" spc="0">
                <a:solidFill>
                  <a:srgbClr val="FD5108"/>
                </a:solidFill>
                <a:latin typeface="Arial" pitchFamily="34" charset="0"/>
                <a:ea typeface="Arial" pitchFamily="34" charset="-122"/>
                <a:cs typeface="Arial" pitchFamily="34" charset="-120"/>
              </a:rPr>
              <a:t>G4 · Week 12</a:t>
            </a:r>
            <a:endParaRPr lang="en-US" sz="1150" dirty="0" spc="0"/>
          </a:p>
        </p:txBody>
      </p:sp>
      <p:sp>
        <p:nvSpPr>
          <p:cNvPr id="23" name="gate-detail-g4"/>
          <p:cNvSpPr txBox="1"/>
          <p:nvPr/>
        </p:nvSpPr>
        <p:spPr>
          <a:xfrm>
            <a:off x="6350000" y="5251450"/>
            <a:ext cx="1905000" cy="222250"/>
          </a:xfrm>
          <a:prstGeom prst="rect">
            <a:avLst/>
          </a:prstGeom>
          <a:noFill/>
          <a:ln/>
        </p:spPr>
        <p:txBody>
          <a:bodyPr wrap="square" lIns="12700" tIns="12700" rIns="12700" bIns="12700" rtlCol="0" anchor="t">
            <a:noAutofit/>
          </a:bodyPr>
          <a:lstStyle/>
          <a:p>
            <a:pPr algn="ctr" indent="0" marL="0">
              <a:lnSpc>
                <a:spcPct val="100000"/>
              </a:lnSpc>
              <a:buNone/>
              <a:defRPr spc="0"/>
            </a:pPr>
            <a:r>
              <a:rPr lang="en-US" sz="950" dirty="0" spc="0">
                <a:solidFill>
                  <a:srgbClr val="000000"/>
                </a:solidFill>
                <a:latin typeface="Arial" pitchFamily="34" charset="0"/>
                <a:ea typeface="Arial" pitchFamily="34" charset="-122"/>
                <a:cs typeface="Arial" pitchFamily="34" charset="-120"/>
              </a:rPr>
              <a:t>Practice lead + CFO decide</a:t>
            </a:r>
            <a:endParaRPr lang="en-US" sz="950" dirty="0" spc="0"/>
          </a:p>
        </p:txBody>
      </p:sp>
      <p:sp>
        <p:nvSpPr>
          <p:cNvPr id="24" name="dependencies-heading"/>
          <p:cNvSpPr txBox="1"/>
          <p:nvPr/>
        </p:nvSpPr>
        <p:spPr>
          <a:xfrm>
            <a:off x="8636000" y="4324350"/>
            <a:ext cx="3238500" cy="22860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250" b="1" dirty="0" spc="0">
                <a:solidFill>
                  <a:srgbClr val="000000"/>
                </a:solidFill>
                <a:latin typeface="Arial" pitchFamily="34" charset="0"/>
                <a:ea typeface="Arial" pitchFamily="34" charset="-122"/>
                <a:cs typeface="Arial" pitchFamily="34" charset="-120"/>
              </a:rPr>
              <a:t>DEPENDENCIES</a:t>
            </a:r>
            <a:endParaRPr lang="en-US" sz="1250" dirty="0" spc="0"/>
          </a:p>
        </p:txBody>
      </p:sp>
      <p:sp>
        <p:nvSpPr>
          <p:cNvPr id="25" name="dependency-text-1"/>
          <p:cNvSpPr txBox="1"/>
          <p:nvPr/>
        </p:nvSpPr>
        <p:spPr>
          <a:xfrm>
            <a:off x="9207500" y="4610100"/>
            <a:ext cx="2603500" cy="22225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000" dirty="0" spc="0">
                <a:solidFill>
                  <a:srgbClr val="000000"/>
                </a:solidFill>
                <a:latin typeface="Arial" pitchFamily="34" charset="0"/>
                <a:ea typeface="Arial" pitchFamily="34" charset="-122"/>
                <a:cs typeface="Arial" pitchFamily="34" charset="-120"/>
              </a:rPr>
              <a:t>Permissions before retrieval tests</a:t>
            </a:r>
            <a:endParaRPr lang="en-US" sz="1000" dirty="0" spc="0"/>
          </a:p>
        </p:txBody>
      </p:sp>
      <p:sp>
        <p:nvSpPr>
          <p:cNvPr id="26" name="dependency-text-2"/>
          <p:cNvSpPr txBox="1"/>
          <p:nvPr/>
        </p:nvSpPr>
        <p:spPr>
          <a:xfrm>
            <a:off x="9207500" y="4927600"/>
            <a:ext cx="2603500" cy="22225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000" dirty="0" spc="0">
                <a:solidFill>
                  <a:srgbClr val="000000"/>
                </a:solidFill>
                <a:latin typeface="Arial" pitchFamily="34" charset="0"/>
                <a:ea typeface="Arial" pitchFamily="34" charset="-122"/>
                <a:cs typeface="Arial" pitchFamily="34" charset="-120"/>
              </a:rPr>
              <a:t>Approved test pack before pilot</a:t>
            </a:r>
            <a:endParaRPr lang="en-US" sz="1000" dirty="0" spc="0"/>
          </a:p>
        </p:txBody>
      </p:sp>
      <p:sp>
        <p:nvSpPr>
          <p:cNvPr id="27" name="dependency-text-3"/>
          <p:cNvSpPr txBox="1"/>
          <p:nvPr/>
        </p:nvSpPr>
        <p:spPr>
          <a:xfrm>
            <a:off x="9207500" y="5245100"/>
            <a:ext cx="2603500" cy="222250"/>
          </a:xfrm>
          <a:prstGeom prst="rect">
            <a:avLst/>
          </a:prstGeom>
          <a:noFill/>
          <a:ln/>
        </p:spPr>
        <p:txBody>
          <a:bodyPr wrap="square" lIns="12700" tIns="12700" rIns="12700" bIns="12700" rtlCol="0" anchor="t">
            <a:noAutofit/>
          </a:bodyPr>
          <a:lstStyle/>
          <a:p>
            <a:pPr algn="l" indent="0" marL="0">
              <a:lnSpc>
                <a:spcPct val="100000"/>
              </a:lnSpc>
              <a:buNone/>
              <a:defRPr spc="0"/>
            </a:pPr>
            <a:r>
              <a:rPr lang="en-US" sz="1000" dirty="0" spc="0">
                <a:solidFill>
                  <a:srgbClr val="000000"/>
                </a:solidFill>
                <a:latin typeface="Arial" pitchFamily="34" charset="0"/>
                <a:ea typeface="Arial" pitchFamily="34" charset="-122"/>
                <a:cs typeface="Arial" pitchFamily="34" charset="-120"/>
              </a:rPr>
              <a:t>Quality evidence before benefit case</a:t>
            </a:r>
            <a:endParaRPr lang="en-US" sz="1000" dirty="0" spc="0"/>
          </a:p>
        </p:txBody>
      </p:sp>
      <p:sp>
        <p:nvSpPr>
          <p:cNvPr id="28" name="decision-label"/>
          <p:cNvSpPr txBox="1"/>
          <p:nvPr/>
        </p:nvSpPr>
        <p:spPr>
          <a:xfrm>
            <a:off x="508000" y="5822950"/>
            <a:ext cx="27305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FD5108"/>
                </a:solidFill>
                <a:latin typeface="Arial" pitchFamily="34" charset="0"/>
                <a:ea typeface="Arial" pitchFamily="34" charset="-122"/>
                <a:cs typeface="Arial" pitchFamily="34" charset="-120"/>
              </a:rPr>
              <a:t>STOP RULE</a:t>
            </a:r>
            <a:endParaRPr lang="en-US" sz="1400" dirty="0" spc="0"/>
          </a:p>
        </p:txBody>
      </p:sp>
      <p:sp>
        <p:nvSpPr>
          <p:cNvPr id="29" name="decision-message"/>
          <p:cNvSpPr txBox="1"/>
          <p:nvPr/>
        </p:nvSpPr>
        <p:spPr>
          <a:xfrm>
            <a:off x="3302000" y="5822950"/>
            <a:ext cx="8369300" cy="317500"/>
          </a:xfrm>
          <a:prstGeom prst="rect">
            <a:avLst/>
          </a:prstGeom>
          <a:noFill/>
          <a:ln/>
        </p:spPr>
        <p:txBody>
          <a:bodyPr wrap="square" lIns="12700" tIns="12700" rIns="12700" bIns="12700" rtlCol="0" anchor="ctr">
            <a:noAutofit/>
          </a:bodyPr>
          <a:lstStyle/>
          <a:p>
            <a:pPr algn="l" indent="0" marL="0">
              <a:lnSpc>
                <a:spcPct val="100000"/>
              </a:lnSpc>
              <a:buNone/>
              <a:defRPr spc="0"/>
            </a:pPr>
            <a:r>
              <a:rPr lang="en-US" sz="1400" b="1" dirty="0" spc="0">
                <a:solidFill>
                  <a:srgbClr val="000000"/>
                </a:solidFill>
                <a:latin typeface="Arial" pitchFamily="34" charset="0"/>
                <a:ea typeface="Arial" pitchFamily="34" charset="-122"/>
                <a:cs typeface="Arial" pitchFamily="34" charset="-120"/>
              </a:rPr>
              <a:t>No expansion while critical data exceptions remain open.</a:t>
            </a:r>
            <a:endParaRPr lang="en-US" sz="1400" dirty="0" spc="0"/>
          </a:p>
        </p:txBody>
      </p:sp>
      <p:pic>
        <p:nvPicPr>
          <p:cNvPr id="30" name="gate-icon-g1" descr="remix-flag-line">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257300" y="4660900"/>
            <a:ext cx="279400" cy="279400"/>
          </a:xfrm>
          <a:prstGeom prst="rect">
            <a:avLst/>
          </a:prstGeom>
        </p:spPr>
      </p:pic>
      <p:pic>
        <p:nvPicPr>
          <p:cNvPr id="31" name="gate-icon-g2" descr="remix-flag-line">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25800" y="4660900"/>
            <a:ext cx="279400" cy="279400"/>
          </a:xfrm>
          <a:prstGeom prst="rect">
            <a:avLst/>
          </a:prstGeom>
        </p:spPr>
      </p:pic>
      <p:pic>
        <p:nvPicPr>
          <p:cNvPr id="32" name="gate-icon-g3" descr="remix-flag-line">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194300" y="4660900"/>
            <a:ext cx="279400" cy="279400"/>
          </a:xfrm>
          <a:prstGeom prst="rect">
            <a:avLst/>
          </a:prstGeom>
        </p:spPr>
      </p:pic>
      <p:pic>
        <p:nvPicPr>
          <p:cNvPr id="33" name="gate-icon-g4" descr="remix-flag-line">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162800" y="4660900"/>
            <a:ext cx="279400" cy="279400"/>
          </a:xfrm>
          <a:prstGeom prst="rect">
            <a:avLst/>
          </a:prstGeom>
        </p:spPr>
      </p:pic>
      <p:sp>
        <p:nvSpPr>
          <p:cNvPr id="34" name="Slide Number Placeholder 0"/>
          <p:cNvSpPr>
            <a:spLocks noGrp="1"/>
          </p:cNvSpPr>
          <p:nvPr>
            <p:ph type="sldNum" sz="quarter" idx="4294967295"/>
          </p:nvPr>
        </p:nvSpPr>
        <p:spPr>
          <a:xfrm>
            <a:off x="10871200" y="6534150"/>
            <a:ext cx="1016000" cy="292100"/>
          </a:xfrm>
          <a:prstGeom prst="rect">
            <a:avLst/>
          </a:prstGeom>
          <a:extLst>
            <a:ext uri="{C572A759-6A51-4108-AA02-DFA0A04FC94B}">
              <ma14:wrappingTextBoxFlag xmlns:ma14="http://schemas.microsoft.com/office/mac/drawingml/2011/main" val="0"/>
            </a:ext>
          </a:extLst>
        </p:spPr>
        <p:txBody>
          <a:bodyPr lIns="0" tIns="0" rIns="0" bIns="0" anchor="ctr">
            <a:noAutofit/>
          </a:bodyPr>
          <a:lstStyle>
            <a:lvl1pPr>
              <a:defRPr sz="900">
                <a:solidFill>
                  <a:srgbClr val="666666"/>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s04-delivery-roadmap</dc:title>
  <dc:subject>Editable presentation generated from SlidePoise scene contracts</dc:subject>
  <dc:creator>SlidePoise</dc:creator>
  <cp:lastModifiedBy>SlidePoise</cp:lastModifiedBy>
  <cp:revision>1</cp:revision>
  <dcterms:created xsi:type="dcterms:W3CDTF">2026-09-08T09:04:44Z</dcterms:created>
  <dcterms:modified xsi:type="dcterms:W3CDTF">2026-09-08T09:04:44Z</dcterms:modified>
</cp:coreProperties>
</file>