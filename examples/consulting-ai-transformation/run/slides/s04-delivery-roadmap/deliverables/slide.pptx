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pilot engagement supplies one research task. Twenty paired tasks correspond to twenty engagements.
The practice lead and CFO release scale funding only after the evidence gates are reviewed. Critical data exceptions stop expansion.
[SlidePoise sources]
Generated target visual: /Users/henry/Codes/AI_slide_drafting/examples/consulting-ai-transformation/run/slides/s04-delivery-roadmap/work/accepted-slide.png
Canonical asset remix-flag-line: /Users/henry/Codes/AI_slide_drafting/examples/consulting-ai-transformation/run/work/icon-cache/flag/remix-flag-line.svg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304800" y="31750"/>
            <a:ext cx="5547360" cy="342900"/>
          </a:xfrm>
          <a:prstGeom prst="rect">
            <a:avLst/>
          </a:prstGeom>
          <a:noFill/>
          <a:ln/>
        </p:spPr>
        <p:txBody>
          <a:bodyPr wrap="square" lIns="0" tIns="0" rIns="0" bIns="0" rtlCol="0" anchor="ctr">
            <a:normAutofit/>
          </a:bodyPr>
          <a:lstStyle/>
          <a:p>
            <a:pPr algn="l" indent="0" marL="0">
              <a:buNone/>
            </a:pPr>
            <a:r>
              <a:rPr lang="en-US" sz="1000" dirty="0">
                <a:solidFill>
                  <a:srgbClr val="666666"/>
                </a:solidFill>
                <a:latin typeface="Arial" pitchFamily="34" charset="0"/>
                <a:ea typeface="Arial" pitchFamily="34" charset="-122"/>
                <a:cs typeface="Arial" pitchFamily="34" charset="-120"/>
              </a:rPr>
              <a:t>NORTHSTAR ADVISORY</a:t>
            </a:r>
            <a:endParaRPr lang="en-US" sz="1000" dirty="0"/>
          </a:p>
        </p:txBody>
      </p:sp>
      <p:sp>
        <p:nvSpPr>
          <p:cNvPr id="3" name="SC_MASTER_HEADER_RIGHT"/>
          <p:cNvSpPr/>
          <p:nvPr/>
        </p:nvSpPr>
        <p:spPr>
          <a:xfrm>
            <a:off x="6339840" y="31750"/>
            <a:ext cx="5547360" cy="342900"/>
          </a:xfrm>
          <a:prstGeom prst="rect">
            <a:avLst/>
          </a:prstGeom>
          <a:noFill/>
          <a:ln/>
        </p:spPr>
        <p:txBody>
          <a:bodyPr wrap="square" lIns="0" tIns="0" rIns="0" bIns="0" rtlCol="0" anchor="ctr">
            <a:normAutofit/>
          </a:bodyPr>
          <a:lstStyle/>
          <a:p>
            <a:pPr algn="r" indent="0" marL="0">
              <a:buNone/>
            </a:pPr>
            <a:r>
              <a:rPr lang="en-US" sz="1000" dirty="0">
                <a:solidFill>
                  <a:srgbClr val="666666"/>
                </a:solidFill>
                <a:latin typeface="Arial" pitchFamily="34" charset="0"/>
                <a:ea typeface="Arial" pitchFamily="34" charset="-122"/>
                <a:cs typeface="Arial" pitchFamily="34" charset="-120"/>
              </a:rPr>
              <a:t>AI TRANSFORMATION</a:t>
            </a:r>
            <a:endParaRPr lang="en-US" sz="1000" dirty="0"/>
          </a:p>
        </p:txBody>
      </p:sp>
      <p:sp>
        <p:nvSpPr>
          <p:cNvPr id="4" name="Shape 2"/>
          <p:cNvSpPr/>
          <p:nvPr/>
        </p:nvSpPr>
        <p:spPr>
          <a:xfrm>
            <a:off x="304800" y="400050"/>
            <a:ext cx="11582400" cy="0"/>
          </a:xfrm>
          <a:prstGeom prst="line">
            <a:avLst/>
          </a:prstGeom>
          <a:noFill/>
          <a:ln w="6350">
            <a:solidFill>
              <a:srgbClr val="DFE3E6"/>
            </a:solidFill>
            <a:prstDash val="solid"/>
          </a:ln>
        </p:spPr>
      </p:sp>
      <p:sp>
        <p:nvSpPr>
          <p:cNvPr id="5" name="Shape 3"/>
          <p:cNvSpPr/>
          <p:nvPr/>
        </p:nvSpPr>
        <p:spPr>
          <a:xfrm>
            <a:off x="304800" y="6502400"/>
            <a:ext cx="11582400" cy="0"/>
          </a:xfrm>
          <a:prstGeom prst="line">
            <a:avLst/>
          </a:prstGeom>
          <a:noFill/>
          <a:ln w="6350">
            <a:solidFill>
              <a:srgbClr val="DFE3E6"/>
            </a:solidFill>
            <a:prstDash val="solid"/>
          </a:ln>
        </p:spPr>
      </p:sp>
      <p:sp>
        <p:nvSpPr>
          <p:cNvPr id="6" name="SC_MASTER_FOOTER_LEFT"/>
          <p:cNvSpPr/>
          <p:nvPr/>
        </p:nvSpPr>
        <p:spPr>
          <a:xfrm>
            <a:off x="304800" y="6534150"/>
            <a:ext cx="4267200" cy="292100"/>
          </a:xfrm>
          <a:prstGeom prst="rect">
            <a:avLst/>
          </a:prstGeom>
          <a:noFill/>
          <a:ln/>
        </p:spPr>
        <p:txBody>
          <a:bodyPr wrap="square" lIns="0" tIns="0" rIns="0" bIns="0" rtlCol="0" anchor="ctr">
            <a:normAutofit/>
          </a:bodyPr>
          <a:lstStyle/>
          <a:p>
            <a:pPr algn="l" indent="0" marL="0">
              <a:buNone/>
            </a:pPr>
            <a:r>
              <a:rPr lang="en-US" sz="900" dirty="0">
                <a:solidFill>
                  <a:srgbClr val="666666"/>
                </a:solidFill>
                <a:latin typeface="Arial" pitchFamily="34" charset="0"/>
                <a:ea typeface="Arial" pitchFamily="34" charset="-122"/>
                <a:cs typeface="Arial" pitchFamily="34" charset="-120"/>
              </a:rPr>
              <a:t>ILLUSTRATIVE PLANNING ASSUMPTIONS</a:t>
            </a:r>
            <a:endParaRPr lang="en-US" sz="900" dirty="0"/>
          </a:p>
        </p:txBody>
      </p:sp>
      <p:sp>
        <p:nvSpPr>
          <p:cNvPr id="7" name="SC_MASTER_FOOTER_CENTER"/>
          <p:cNvSpPr/>
          <p:nvPr/>
        </p:nvSpPr>
        <p:spPr>
          <a:xfrm>
            <a:off x="4267200" y="6534150"/>
            <a:ext cx="3657600" cy="292100"/>
          </a:xfrm>
          <a:prstGeom prst="rect">
            <a:avLst/>
          </a:prstGeom>
          <a:noFill/>
          <a:ln/>
        </p:spPr>
        <p:txBody>
          <a:bodyPr wrap="square" lIns="0" tIns="0" rIns="0" bIns="0" rtlCol="0" anchor="ctr">
            <a:normAutofit/>
          </a:bodyPr>
          <a:lstStyle/>
          <a:p>
            <a:pPr algn="ctr" indent="0" marL="0">
              <a:buNone/>
            </a:pPr>
            <a:r>
              <a:rPr lang="en-US" sz="900" dirty="0">
                <a:solidFill>
                  <a:srgbClr val="666666"/>
                </a:solidFill>
                <a:latin typeface="Arial" pitchFamily="34" charset="0"/>
                <a:ea typeface="Arial" pitchFamily="34" charset="-122"/>
                <a:cs typeface="Arial" pitchFamily="34" charset="-120"/>
              </a:rPr>
              <a:t>Capacity value is not a cash saving.</a:t>
            </a:r>
            <a:endParaRPr lang="en-US" sz="900" dirty="0"/>
          </a:p>
        </p:txBody>
      </p:sp>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dependency-divider"/>
          <p:cNvSpPr/>
          <p:nvPr/>
        </p:nvSpPr>
        <p:spPr>
          <a:xfrm>
            <a:off x="8413750" y="4318000"/>
            <a:ext cx="6350" cy="1193800"/>
          </a:xfrm>
          <a:prstGeom prst="rect">
            <a:avLst/>
          </a:prstGeom>
          <a:solidFill>
            <a:srgbClr val="B7BCC2"/>
          </a:solidFill>
          <a:ln w="12700">
            <a:solidFill>
              <a:srgbClr val="FFFFFF">
                <a:alpha val="0"/>
              </a:srgbClr>
            </a:solidFill>
            <a:prstDash val="solid"/>
          </a:ln>
        </p:spPr>
      </p:sp>
      <p:sp>
        <p:nvSpPr>
          <p:cNvPr id="3" name="dependency-line"/>
          <p:cNvSpPr/>
          <p:nvPr/>
        </p:nvSpPr>
        <p:spPr>
          <a:xfrm>
            <a:off x="8890000" y="4692650"/>
            <a:ext cx="25400" cy="635000"/>
          </a:xfrm>
          <a:prstGeom prst="rect">
            <a:avLst/>
          </a:prstGeom>
          <a:solidFill>
            <a:srgbClr val="FD5108"/>
          </a:solidFill>
          <a:ln w="12700">
            <a:solidFill>
              <a:srgbClr val="FFFFFF">
                <a:alpha val="0"/>
              </a:srgbClr>
            </a:solidFill>
            <a:prstDash val="solid"/>
          </a:ln>
        </p:spPr>
      </p:sp>
      <p:sp>
        <p:nvSpPr>
          <p:cNvPr id="4"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5"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sp>
        <p:nvSpPr>
          <p:cNvPr id="6" name="dependency-node-1"/>
          <p:cNvSpPr/>
          <p:nvPr/>
        </p:nvSpPr>
        <p:spPr>
          <a:xfrm>
            <a:off x="8832850" y="4635500"/>
            <a:ext cx="139700" cy="139700"/>
          </a:xfrm>
          <a:prstGeom prst="ellipse">
            <a:avLst/>
          </a:prstGeom>
          <a:solidFill>
            <a:srgbClr val="FD5108"/>
          </a:solidFill>
          <a:ln w="12700">
            <a:solidFill>
              <a:srgbClr val="FFFFFF">
                <a:alpha val="0"/>
              </a:srgbClr>
            </a:solidFill>
            <a:prstDash val="solid"/>
          </a:ln>
        </p:spPr>
      </p:sp>
      <p:sp>
        <p:nvSpPr>
          <p:cNvPr id="7" name="dependency-node-2"/>
          <p:cNvSpPr/>
          <p:nvPr/>
        </p:nvSpPr>
        <p:spPr>
          <a:xfrm>
            <a:off x="8832850" y="4953000"/>
            <a:ext cx="139700" cy="139700"/>
          </a:xfrm>
          <a:prstGeom prst="ellipse">
            <a:avLst/>
          </a:prstGeom>
          <a:solidFill>
            <a:srgbClr val="FD5108"/>
          </a:solidFill>
          <a:ln w="12700">
            <a:solidFill>
              <a:srgbClr val="FFFFFF">
                <a:alpha val="0"/>
              </a:srgbClr>
            </a:solidFill>
            <a:prstDash val="solid"/>
          </a:ln>
        </p:spPr>
      </p:sp>
      <p:sp>
        <p:nvSpPr>
          <p:cNvPr id="8" name="dependency-node-3"/>
          <p:cNvSpPr/>
          <p:nvPr/>
        </p:nvSpPr>
        <p:spPr>
          <a:xfrm>
            <a:off x="8832850" y="5270500"/>
            <a:ext cx="139700" cy="139700"/>
          </a:xfrm>
          <a:prstGeom prst="ellipse">
            <a:avLst/>
          </a:prstGeom>
          <a:solidFill>
            <a:srgbClr val="FD5108"/>
          </a:solidFill>
          <a:ln w="12700">
            <a:solidFill>
              <a:srgbClr val="FFFFFF">
                <a:alpha val="0"/>
              </a:srgbClr>
            </a:solidFill>
            <a:prstDash val="solid"/>
          </a:ln>
        </p:spPr>
      </p:sp>
      <p:graphicFrame>
        <p:nvGraphicFramePr>
          <p:cNvPr id="9" name="roadmap-matrix"/>
          <p:cNvGraphicFramePr>
            <a:graphicFrameLocks noGrp="1"/>
          </p:cNvGraphicFramePr>
          <p:nvPr>
            <p:extLst>
              <p:ext uri="{D42A27DB-BD31-4B8C-83A1-F6EECF244321}">
                <p14:modId xmlns:p14="http://schemas.microsoft.com/office/powerpoint/2010/main" val="1579011935"/>
              </p:ext>
            </p:extLst>
          </p:nvPr>
        </p:nvGraphicFramePr>
        <p:xfrm>
          <a:off x="273050" y="1460500"/>
          <a:ext cx="11620500" cy="2743200"/>
        </p:xfrm>
        <a:graphic>
          <a:graphicData uri="http://schemas.openxmlformats.org/drawingml/2006/table">
            <a:tbl>
              <a:tblPr/>
              <a:tblGrid>
                <a:gridCol w="2254250"/>
                <a:gridCol w="2336800"/>
                <a:gridCol w="2336800"/>
                <a:gridCol w="2336800"/>
                <a:gridCol w="2355850"/>
              </a:tblGrid>
              <a:tr h="5080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WORKSTREAM / OWNER</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WEEKS 1–2</a:t>
                      </a:r>
                      <a:endParaRPr lang="en-US" sz="1200" dirty="0">
                        <a:latin typeface="Arial" charset="0"/>
                        <a:ea typeface="Arial" charset="0"/>
                        <a:cs typeface="Arial" charset="0"/>
                      </a:endParaRPr>
                    </a:p>
                    <a:p>
                      <a:pPr algn="l" indent="0" marL="0">
                        <a:buNone/>
                      </a:pPr>
                      <a:r>
                        <a:rPr lang="en-US" sz="1200" b="1" dirty="0">
                          <a:solidFill>
                            <a:srgbClr val="FFFFFF"/>
                          </a:solidFill>
                          <a:latin typeface="Arial" pitchFamily="34" charset="0"/>
                          <a:ea typeface="Arial" pitchFamily="34" charset="-122"/>
                          <a:cs typeface="Arial" pitchFamily="34" charset="-120"/>
                        </a:rPr>
                        <a:t>Approve &amp; baseline</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WEEKS 3–4</a:t>
                      </a:r>
                      <a:endParaRPr lang="en-US" sz="1200" dirty="0">
                        <a:latin typeface="Arial" charset="0"/>
                        <a:ea typeface="Arial" charset="0"/>
                        <a:cs typeface="Arial" charset="0"/>
                      </a:endParaRPr>
                    </a:p>
                    <a:p>
                      <a:pPr algn="l" indent="0" marL="0">
                        <a:buNone/>
                      </a:pPr>
                      <a:r>
                        <a:rPr lang="en-US" sz="1200" b="1" dirty="0">
                          <a:solidFill>
                            <a:srgbClr val="FFFFFF"/>
                          </a:solidFill>
                          <a:latin typeface="Arial" pitchFamily="34" charset="0"/>
                          <a:ea typeface="Arial" pitchFamily="34" charset="-122"/>
                          <a:cs typeface="Arial" pitchFamily="34" charset="-120"/>
                        </a:rPr>
                        <a:t>Build &amp; test</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WEEKS 5–8</a:t>
                      </a:r>
                      <a:endParaRPr lang="en-US" sz="1200" dirty="0">
                        <a:latin typeface="Arial" charset="0"/>
                        <a:ea typeface="Arial" charset="0"/>
                        <a:cs typeface="Arial" charset="0"/>
                      </a:endParaRPr>
                    </a:p>
                    <a:p>
                      <a:pPr algn="l" indent="0" marL="0">
                        <a:buNone/>
                      </a:pPr>
                      <a:r>
                        <a:rPr lang="en-US" sz="1200" b="1" dirty="0">
                          <a:solidFill>
                            <a:srgbClr val="FFFFFF"/>
                          </a:solidFill>
                          <a:latin typeface="Arial" pitchFamily="34" charset="0"/>
                          <a:ea typeface="Arial" pitchFamily="34" charset="-122"/>
                          <a:cs typeface="Arial" pitchFamily="34" charset="-120"/>
                        </a:rPr>
                        <a:t>Pilot &amp; learn</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WEEKS 9–12</a:t>
                      </a:r>
                      <a:endParaRPr lang="en-US" sz="1200" dirty="0">
                        <a:latin typeface="Arial" charset="0"/>
                        <a:ea typeface="Arial" charset="0"/>
                        <a:cs typeface="Arial" charset="0"/>
                      </a:endParaRPr>
                    </a:p>
                    <a:p>
                      <a:pPr algn="l" indent="0" marL="0">
                        <a:buNone/>
                      </a:pPr>
                      <a:r>
                        <a:rPr lang="en-US" sz="1200" b="1" dirty="0">
                          <a:solidFill>
                            <a:srgbClr val="FFFFFF"/>
                          </a:solidFill>
                          <a:latin typeface="Arial" pitchFamily="34" charset="0"/>
                          <a:ea typeface="Arial" pitchFamily="34" charset="-122"/>
                          <a:cs typeface="Arial" pitchFamily="34" charset="-120"/>
                        </a:rPr>
                        <a:t>Prove &amp; decide</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5588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Data &amp; access
</a:t>
                      </a:r>
                      <a:pPr algn="l" indent="0" marL="0">
                        <a:buNone/>
                      </a:pPr>
                      <a:r>
                        <a:rPr lang="en-US" sz="1200" dirty="0">
                          <a:solidFill>
                            <a:srgbClr val="000000"/>
                          </a:solidFill>
                          <a:latin typeface="Arial" pitchFamily="34" charset="0"/>
                          <a:ea typeface="Arial" pitchFamily="34" charset="-122"/>
                          <a:cs typeface="Arial" pitchFamily="34" charset="-120"/>
                        </a:rPr>
                        <a:t>Source steward</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Approved corpus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Access register</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Source refresh</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Named stewards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Weekly access and</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freshness checks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Audit closeout</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Release inventory</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5588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Workflow &amp; product
</a:t>
                      </a:r>
                      <a:pPr algn="l" indent="0" marL="0">
                        <a:buNone/>
                      </a:pPr>
                      <a:r>
                        <a:rPr lang="en-US" sz="1200" dirty="0">
                          <a:solidFill>
                            <a:srgbClr val="000000"/>
                          </a:solidFill>
                          <a:latin typeface="Arial" pitchFamily="34" charset="0"/>
                          <a:ea typeface="Arial" pitchFamily="34" charset="-122"/>
                          <a:cs typeface="Arial" pitchFamily="34" charset="-120"/>
                        </a:rPr>
                        <a:t>Product lead</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Task mapping</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Baseline time logs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Grounded draft</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Visible citations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15-user pilot</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Defect fixes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Release candidate</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Runbook</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5588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Quality &amp; controls
</a:t>
                      </a:r>
                      <a:pPr algn="l" indent="0" marL="0">
                        <a:buNone/>
                      </a:pPr>
                      <a:r>
                        <a:rPr lang="en-US" sz="1200" dirty="0">
                          <a:solidFill>
                            <a:srgbClr val="000000"/>
                          </a:solidFill>
                          <a:latin typeface="Arial" pitchFamily="34" charset="0"/>
                          <a:ea typeface="Arial" pitchFamily="34" charset="-122"/>
                          <a:cs typeface="Arial" pitchFamily="34" charset="-120"/>
                        </a:rPr>
                        <a:t>Expert reviewer</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Risk boundaries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Review criteria</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Test pack</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Rejection reasons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10 reviewed tasks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Error triage</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20 completed tasks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Gate evidence</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5588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Adoption &amp; value
</a:t>
                      </a:r>
                      <a:pPr algn="l" indent="0" marL="0">
                        <a:buNone/>
                      </a:pPr>
                      <a:r>
                        <a:rPr lang="en-US" sz="1200" dirty="0">
                          <a:solidFill>
                            <a:srgbClr val="000000"/>
                          </a:solidFill>
                          <a:latin typeface="Arial" pitchFamily="34" charset="0"/>
                          <a:ea typeface="Arial" pitchFamily="34" charset="-122"/>
                          <a:cs typeface="Arial" pitchFamily="34" charset="-120"/>
                        </a:rPr>
                        <a:t>Practice lead</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Sponsor &amp; users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Agree tracking</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Training &amp; support</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Measurement plan</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Weekly usage</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Feedback sessions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Benefit case</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Scale recommendation</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bl>
          </a:graphicData>
        </a:graphic>
      </p:graphicFrame>
      <p:cxnSp>
        <p:nvCxnSpPr>
          <p:cNvPr id="10" name="SC_CONNECTOR__gate-flow-1__0"/>
          <p:cNvCxnSpPr/>
          <p:nvPr/>
        </p:nvCxnSpPr>
        <p:spPr>
          <a:xfrm>
            <a:off x="1549400" y="4800600"/>
            <a:ext cx="1663700" cy="0"/>
          </a:xfrm>
          <a:prstGeom prst="line">
            <a:avLst/>
          </a:prstGeom>
          <a:noFill/>
          <a:ln w="19050">
            <a:solidFill>
              <a:srgbClr val="FD5108"/>
            </a:solidFill>
            <a:prstDash val="solid"/>
            <a:round/>
            <a:headEnd type="none"/>
            <a:tailEnd type="triangle" w="lg" len="lg"/>
          </a:ln>
        </p:spPr>
      </p:cxnSp>
      <p:cxnSp>
        <p:nvCxnSpPr>
          <p:cNvPr id="11" name="SC_CONNECTOR__gate-flow-2__0"/>
          <p:cNvCxnSpPr/>
          <p:nvPr/>
        </p:nvCxnSpPr>
        <p:spPr>
          <a:xfrm>
            <a:off x="3517900" y="4800600"/>
            <a:ext cx="1663700" cy="0"/>
          </a:xfrm>
          <a:prstGeom prst="line">
            <a:avLst/>
          </a:prstGeom>
          <a:noFill/>
          <a:ln w="19050">
            <a:solidFill>
              <a:srgbClr val="FD5108"/>
            </a:solidFill>
            <a:prstDash val="solid"/>
            <a:round/>
            <a:headEnd type="none"/>
            <a:tailEnd type="triangle" w="lg" len="lg"/>
          </a:ln>
        </p:spPr>
      </p:cxnSp>
      <p:cxnSp>
        <p:nvCxnSpPr>
          <p:cNvPr id="12" name="SC_CONNECTOR__gate-flow-3__0"/>
          <p:cNvCxnSpPr/>
          <p:nvPr/>
        </p:nvCxnSpPr>
        <p:spPr>
          <a:xfrm>
            <a:off x="5486400" y="4800600"/>
            <a:ext cx="1663700" cy="0"/>
          </a:xfrm>
          <a:prstGeom prst="line">
            <a:avLst/>
          </a:prstGeom>
          <a:noFill/>
          <a:ln w="19050">
            <a:solidFill>
              <a:srgbClr val="FD5108"/>
            </a:solidFill>
            <a:prstDash val="solid"/>
            <a:round/>
            <a:headEnd type="none"/>
            <a:tailEnd type="triangle" w="lg" len="lg"/>
          </a:ln>
        </p:spPr>
      </p:cxnSp>
      <p:sp>
        <p:nvSpPr>
          <p:cNvPr id="13"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Run the pilot through four evidence gates</a:t>
            </a:r>
            <a:endParaRPr lang="en-US" sz="3200" dirty="0" spc="0"/>
          </a:p>
        </p:txBody>
      </p:sp>
      <p:sp>
        <p:nvSpPr>
          <p:cNvPr id="14"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Owners run the workstreams. Evidence gates release the next phase.</a:t>
            </a:r>
            <a:endParaRPr lang="en-US" sz="1600" dirty="0" spc="0"/>
          </a:p>
        </p:txBody>
      </p:sp>
      <p:sp>
        <p:nvSpPr>
          <p:cNvPr id="15" name="gates-heading"/>
          <p:cNvSpPr txBox="1"/>
          <p:nvPr/>
        </p:nvSpPr>
        <p:spPr>
          <a:xfrm>
            <a:off x="273050" y="4324350"/>
            <a:ext cx="57150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EVIDENCE GATES</a:t>
            </a:r>
            <a:endParaRPr lang="en-US" sz="1400" dirty="0" spc="0"/>
          </a:p>
        </p:txBody>
      </p:sp>
      <p:sp>
        <p:nvSpPr>
          <p:cNvPr id="16" name="gate-label-g1"/>
          <p:cNvSpPr txBox="1"/>
          <p:nvPr/>
        </p:nvSpPr>
        <p:spPr>
          <a:xfrm>
            <a:off x="5715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300" b="1" dirty="0" spc="0">
                <a:solidFill>
                  <a:srgbClr val="FD5108"/>
                </a:solidFill>
                <a:latin typeface="Arial" pitchFamily="34" charset="0"/>
                <a:ea typeface="Arial" pitchFamily="34" charset="-122"/>
                <a:cs typeface="Arial" pitchFamily="34" charset="-120"/>
              </a:rPr>
              <a:t>G1 · Week 2</a:t>
            </a:r>
            <a:endParaRPr lang="en-US" sz="1300" dirty="0" spc="0"/>
          </a:p>
        </p:txBody>
      </p:sp>
      <p:sp>
        <p:nvSpPr>
          <p:cNvPr id="17" name="gate-detail-g1"/>
          <p:cNvSpPr txBox="1"/>
          <p:nvPr/>
        </p:nvSpPr>
        <p:spPr>
          <a:xfrm>
            <a:off x="412750" y="5251450"/>
            <a:ext cx="1968500" cy="342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Corpus + access signed</a:t>
            </a:r>
            <a:endParaRPr lang="en-US" sz="1150" dirty="0" spc="0"/>
          </a:p>
        </p:txBody>
      </p:sp>
      <p:sp>
        <p:nvSpPr>
          <p:cNvPr id="18" name="gate-label-g2"/>
          <p:cNvSpPr txBox="1"/>
          <p:nvPr/>
        </p:nvSpPr>
        <p:spPr>
          <a:xfrm>
            <a:off x="25400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300" b="1" dirty="0" spc="0">
                <a:solidFill>
                  <a:srgbClr val="FD5108"/>
                </a:solidFill>
                <a:latin typeface="Arial" pitchFamily="34" charset="0"/>
                <a:ea typeface="Arial" pitchFamily="34" charset="-122"/>
                <a:cs typeface="Arial" pitchFamily="34" charset="-120"/>
              </a:rPr>
              <a:t>G2 · Week 4</a:t>
            </a:r>
            <a:endParaRPr lang="en-US" sz="1300" dirty="0" spc="0"/>
          </a:p>
        </p:txBody>
      </p:sp>
      <p:sp>
        <p:nvSpPr>
          <p:cNvPr id="19" name="gate-detail-g2"/>
          <p:cNvSpPr txBox="1"/>
          <p:nvPr/>
        </p:nvSpPr>
        <p:spPr>
          <a:xfrm>
            <a:off x="2381250" y="5251450"/>
            <a:ext cx="1968500" cy="342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Test pack approved</a:t>
            </a:r>
            <a:endParaRPr lang="en-US" sz="1150" dirty="0" spc="0"/>
          </a:p>
        </p:txBody>
      </p:sp>
      <p:sp>
        <p:nvSpPr>
          <p:cNvPr id="20" name="gate-label-g3"/>
          <p:cNvSpPr txBox="1"/>
          <p:nvPr/>
        </p:nvSpPr>
        <p:spPr>
          <a:xfrm>
            <a:off x="45085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300" b="1" dirty="0" spc="0">
                <a:solidFill>
                  <a:srgbClr val="FD5108"/>
                </a:solidFill>
                <a:latin typeface="Arial" pitchFamily="34" charset="0"/>
                <a:ea typeface="Arial" pitchFamily="34" charset="-122"/>
                <a:cs typeface="Arial" pitchFamily="34" charset="-120"/>
              </a:rPr>
              <a:t>G3 · Week 8</a:t>
            </a:r>
            <a:endParaRPr lang="en-US" sz="1300" dirty="0" spc="0"/>
          </a:p>
        </p:txBody>
      </p:sp>
      <p:sp>
        <p:nvSpPr>
          <p:cNvPr id="21" name="gate-detail-g3"/>
          <p:cNvSpPr txBox="1"/>
          <p:nvPr/>
        </p:nvSpPr>
        <p:spPr>
          <a:xfrm>
            <a:off x="4349750" y="5251450"/>
            <a:ext cx="1968500" cy="342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10 tasks reviewed</a:t>
            </a:r>
            <a:endParaRPr lang="en-US" sz="1150" dirty="0" spc="0"/>
          </a:p>
        </p:txBody>
      </p:sp>
      <p:sp>
        <p:nvSpPr>
          <p:cNvPr id="22" name="gate-label-g4"/>
          <p:cNvSpPr txBox="1"/>
          <p:nvPr/>
        </p:nvSpPr>
        <p:spPr>
          <a:xfrm>
            <a:off x="64770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300" b="1" dirty="0" spc="0">
                <a:solidFill>
                  <a:srgbClr val="FD5108"/>
                </a:solidFill>
                <a:latin typeface="Arial" pitchFamily="34" charset="0"/>
                <a:ea typeface="Arial" pitchFamily="34" charset="-122"/>
                <a:cs typeface="Arial" pitchFamily="34" charset="-120"/>
              </a:rPr>
              <a:t>G4 · Week 12</a:t>
            </a:r>
            <a:endParaRPr lang="en-US" sz="1300" dirty="0" spc="0"/>
          </a:p>
        </p:txBody>
      </p:sp>
      <p:sp>
        <p:nvSpPr>
          <p:cNvPr id="23" name="gate-detail-g4"/>
          <p:cNvSpPr txBox="1"/>
          <p:nvPr/>
        </p:nvSpPr>
        <p:spPr>
          <a:xfrm>
            <a:off x="6318250" y="5251450"/>
            <a:ext cx="1968500" cy="342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Practice lead + CFO</a:t>
            </a:r>
            <a:endParaRPr lang="en-US" sz="1150" dirty="0" spc="0"/>
          </a:p>
          <a:p>
            <a:pPr algn="ctr"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decide</a:t>
            </a:r>
            <a:endParaRPr lang="en-US" sz="1150" dirty="0" spc="0"/>
          </a:p>
        </p:txBody>
      </p:sp>
      <p:sp>
        <p:nvSpPr>
          <p:cNvPr id="24" name="dependencies-heading"/>
          <p:cNvSpPr txBox="1"/>
          <p:nvPr/>
        </p:nvSpPr>
        <p:spPr>
          <a:xfrm>
            <a:off x="8636000" y="4324350"/>
            <a:ext cx="32385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DEPENDENCIES</a:t>
            </a:r>
            <a:endParaRPr lang="en-US" sz="1400" dirty="0" spc="0"/>
          </a:p>
        </p:txBody>
      </p:sp>
      <p:sp>
        <p:nvSpPr>
          <p:cNvPr id="25" name="dependency-text-1"/>
          <p:cNvSpPr txBox="1"/>
          <p:nvPr/>
        </p:nvSpPr>
        <p:spPr>
          <a:xfrm>
            <a:off x="9207500" y="4610100"/>
            <a:ext cx="2603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Permissions before retrieval tests</a:t>
            </a:r>
            <a:endParaRPr lang="en-US" sz="1150" dirty="0" spc="0"/>
          </a:p>
        </p:txBody>
      </p:sp>
      <p:sp>
        <p:nvSpPr>
          <p:cNvPr id="26" name="dependency-text-2"/>
          <p:cNvSpPr txBox="1"/>
          <p:nvPr/>
        </p:nvSpPr>
        <p:spPr>
          <a:xfrm>
            <a:off x="9207500" y="4927600"/>
            <a:ext cx="2603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Approved test pack before pilot</a:t>
            </a:r>
            <a:endParaRPr lang="en-US" sz="1150" dirty="0" spc="0"/>
          </a:p>
        </p:txBody>
      </p:sp>
      <p:sp>
        <p:nvSpPr>
          <p:cNvPr id="27" name="dependency-text-3"/>
          <p:cNvSpPr txBox="1"/>
          <p:nvPr/>
        </p:nvSpPr>
        <p:spPr>
          <a:xfrm>
            <a:off x="9207500" y="5245100"/>
            <a:ext cx="2603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Quality evidence before benefit case</a:t>
            </a:r>
            <a:endParaRPr lang="en-US" sz="1150" dirty="0" spc="0"/>
          </a:p>
        </p:txBody>
      </p:sp>
      <p:sp>
        <p:nvSpPr>
          <p:cNvPr id="28"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STOP RULE</a:t>
            </a:r>
            <a:endParaRPr lang="en-US" sz="1400" dirty="0" spc="0"/>
          </a:p>
        </p:txBody>
      </p:sp>
      <p:sp>
        <p:nvSpPr>
          <p:cNvPr id="29"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expansion while critical data exceptions remain open.</a:t>
            </a:r>
            <a:endParaRPr lang="en-US" sz="1400" dirty="0" spc="0"/>
          </a:p>
        </p:txBody>
      </p:sp>
      <p:pic>
        <p:nvPicPr>
          <p:cNvPr id="30" name="gate-icon-g1" descr="remix-flag-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57300" y="4660900"/>
            <a:ext cx="279400" cy="279400"/>
          </a:xfrm>
          <a:prstGeom prst="rect">
            <a:avLst/>
          </a:prstGeom>
        </p:spPr>
      </p:pic>
      <p:pic>
        <p:nvPicPr>
          <p:cNvPr id="31" name="gate-icon-g2" descr="remix-flag-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25800" y="4660900"/>
            <a:ext cx="279400" cy="279400"/>
          </a:xfrm>
          <a:prstGeom prst="rect">
            <a:avLst/>
          </a:prstGeom>
        </p:spPr>
      </p:pic>
      <p:pic>
        <p:nvPicPr>
          <p:cNvPr id="32" name="gate-icon-g3" descr="remix-flag-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94300" y="4660900"/>
            <a:ext cx="279400" cy="279400"/>
          </a:xfrm>
          <a:prstGeom prst="rect">
            <a:avLst/>
          </a:prstGeom>
        </p:spPr>
      </p:pic>
      <p:pic>
        <p:nvPicPr>
          <p:cNvPr id="33" name="gate-icon-g4" descr="remix-flag-line">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62800" y="4660900"/>
            <a:ext cx="279400" cy="279400"/>
          </a:xfrm>
          <a:prstGeom prst="rect">
            <a:avLst/>
          </a:prstGeom>
        </p:spPr>
      </p:pic>
      <p:sp>
        <p:nvSpPr>
          <p:cNvPr id="34"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SlidePoise presentation</dc:title>
  <dc:subject>Editable presentation generated from SlidePoise scene contracts</dc:subject>
  <dc:creator>SlidePoise</dc:creator>
  <cp:lastModifiedBy>SlidePoise</cp:lastModifiedBy>
  <cp:revision>1</cp:revision>
  <dcterms:created xsi:type="dcterms:W3CDTF">2026-09-08T10:52:55Z</dcterms:created>
  <dcterms:modified xsi:type="dcterms:W3CDTF">2026-09-08T10:52:55Z</dcterms:modified>
</cp:coreProperties>
</file>