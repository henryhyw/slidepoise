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/Users/henry/Codes/AI_slide_drafting/output/showcase-revisions/consulting-v3-authoring/slides/s04-delivery-roadmap/work/accepted-slide.png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POISE_MASTER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_MASTER_HEADER_LEFT"/>
          <p:cNvSpPr/>
          <p:nvPr/>
        </p:nvSpPr>
        <p:spPr>
          <a:xfrm>
            <a:off x="304800" y="31750"/>
            <a:ext cx="554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NORTHSTAR ADVISORY</a:t>
            </a:r>
            <a:endParaRPr lang="en-US" sz="1000" dirty="0"/>
          </a:p>
        </p:txBody>
      </p:sp>
      <p:sp>
        <p:nvSpPr>
          <p:cNvPr id="3" name="SC_MASTER_HEADER_RIGHT"/>
          <p:cNvSpPr/>
          <p:nvPr/>
        </p:nvSpPr>
        <p:spPr>
          <a:xfrm>
            <a:off x="6339840" y="31750"/>
            <a:ext cx="554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TRANSFORMATION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04800" y="400050"/>
            <a:ext cx="11582400" cy="0"/>
          </a:xfrm>
          <a:prstGeom prst="line">
            <a:avLst/>
          </a:prstGeom>
          <a:noFill/>
          <a:ln w="6350">
            <a:solidFill>
              <a:srgbClr val="DF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" y="6502400"/>
            <a:ext cx="11582400" cy="0"/>
          </a:xfrm>
          <a:prstGeom prst="line">
            <a:avLst/>
          </a:prstGeom>
          <a:noFill/>
          <a:ln w="6350">
            <a:solidFill>
              <a:srgbClr val="DFE3E6"/>
            </a:solidFill>
            <a:prstDash val="solid"/>
          </a:ln>
        </p:spPr>
      </p:sp>
      <p:sp>
        <p:nvSpPr>
          <p:cNvPr id="6" name="SC_MASTER_FOOTER_LEFT"/>
          <p:cNvSpPr/>
          <p:nvPr/>
        </p:nvSpPr>
        <p:spPr>
          <a:xfrm>
            <a:off x="304800" y="6534150"/>
            <a:ext cx="4267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PLANNING ASSUMPTIONS</a:t>
            </a:r>
            <a:endParaRPr lang="en-US" sz="900" dirty="0"/>
          </a:p>
        </p:txBody>
      </p:sp>
      <p:sp>
        <p:nvSpPr>
          <p:cNvPr id="7" name="SC_MASTER_FOOTER_CENTER"/>
          <p:cNvSpPr/>
          <p:nvPr/>
        </p:nvSpPr>
        <p:spPr>
          <a:xfrm>
            <a:off x="4267200" y="6534150"/>
            <a:ext cx="3657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value is not a cash saving.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ction-rule"/>
          <p:cNvSpPr/>
          <p:nvPr/>
        </p:nvSpPr>
        <p:spPr>
          <a:xfrm>
            <a:off x="311150" y="1409700"/>
            <a:ext cx="11544300" cy="12700"/>
          </a:xfrm>
          <a:prstGeom prst="rect">
            <a:avLst/>
          </a:prstGeom>
          <a:solidFill>
            <a:srgbClr val="AAAAA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ate-1-field"/>
          <p:cNvSpPr/>
          <p:nvPr/>
        </p:nvSpPr>
        <p:spPr>
          <a:xfrm>
            <a:off x="8337550" y="2019300"/>
            <a:ext cx="869950" cy="1511300"/>
          </a:xfrm>
          <a:custGeom>
            <a:avLst/>
            <a:gdLst/>
            <a:ahLst/>
            <a:cxnLst/>
            <a:rect l="l" t="t" r="r" b="b"/>
            <a:pathLst>
              <a:path w="869950" h="1511300">
                <a:moveTo>
                  <a:pt x="0" y="0"/>
                </a:moveTo>
                <a:lnTo>
                  <a:pt x="711200" y="0"/>
                </a:lnTo>
                <a:lnTo>
                  <a:pt x="869950" y="63500"/>
                </a:lnTo>
                <a:lnTo>
                  <a:pt x="869950" y="1511300"/>
                </a:lnTo>
                <a:lnTo>
                  <a:pt x="0" y="1511300"/>
                </a:lnTo>
                <a:close/>
              </a:path>
            </a:pathLst>
          </a:custGeom>
          <a:solidFill>
            <a:srgbClr val="FFF5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gate-2-field"/>
          <p:cNvSpPr/>
          <p:nvPr/>
        </p:nvSpPr>
        <p:spPr>
          <a:xfrm>
            <a:off x="9232900" y="2019300"/>
            <a:ext cx="869950" cy="1511300"/>
          </a:xfrm>
          <a:custGeom>
            <a:avLst/>
            <a:gdLst/>
            <a:ahLst/>
            <a:cxnLst/>
            <a:rect l="l" t="t" r="r" b="b"/>
            <a:pathLst>
              <a:path w="869950" h="1511300">
                <a:moveTo>
                  <a:pt x="0" y="0"/>
                </a:moveTo>
                <a:lnTo>
                  <a:pt x="711200" y="0"/>
                </a:lnTo>
                <a:lnTo>
                  <a:pt x="869950" y="63500"/>
                </a:lnTo>
                <a:lnTo>
                  <a:pt x="869950" y="1511300"/>
                </a:lnTo>
                <a:lnTo>
                  <a:pt x="0" y="1511300"/>
                </a:lnTo>
                <a:close/>
              </a:path>
            </a:pathLst>
          </a:custGeom>
          <a:solidFill>
            <a:srgbClr val="FFF5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gate-3-field"/>
          <p:cNvSpPr/>
          <p:nvPr/>
        </p:nvSpPr>
        <p:spPr>
          <a:xfrm>
            <a:off x="10134600" y="2019300"/>
            <a:ext cx="869950" cy="1511300"/>
          </a:xfrm>
          <a:custGeom>
            <a:avLst/>
            <a:gdLst/>
            <a:ahLst/>
            <a:cxnLst/>
            <a:rect l="l" t="t" r="r" b="b"/>
            <a:pathLst>
              <a:path w="869950" h="1511300">
                <a:moveTo>
                  <a:pt x="0" y="0"/>
                </a:moveTo>
                <a:lnTo>
                  <a:pt x="711200" y="0"/>
                </a:lnTo>
                <a:lnTo>
                  <a:pt x="869950" y="63500"/>
                </a:lnTo>
                <a:lnTo>
                  <a:pt x="869950" y="1511300"/>
                </a:lnTo>
                <a:lnTo>
                  <a:pt x="0" y="1511300"/>
                </a:lnTo>
                <a:close/>
              </a:path>
            </a:pathLst>
          </a:custGeom>
          <a:solidFill>
            <a:srgbClr val="FFF5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gate-4-field"/>
          <p:cNvSpPr/>
          <p:nvPr/>
        </p:nvSpPr>
        <p:spPr>
          <a:xfrm>
            <a:off x="11049000" y="2019300"/>
            <a:ext cx="869950" cy="1511300"/>
          </a:xfrm>
          <a:custGeom>
            <a:avLst/>
            <a:gdLst/>
            <a:ahLst/>
            <a:cxnLst/>
            <a:rect l="l" t="t" r="r" b="b"/>
            <a:pathLst>
              <a:path w="869950" h="1511300">
                <a:moveTo>
                  <a:pt x="0" y="0"/>
                </a:moveTo>
                <a:lnTo>
                  <a:pt x="711200" y="0"/>
                </a:lnTo>
                <a:lnTo>
                  <a:pt x="869950" y="63500"/>
                </a:lnTo>
                <a:lnTo>
                  <a:pt x="869950" y="1511300"/>
                </a:lnTo>
                <a:lnTo>
                  <a:pt x="0" y="1511300"/>
                </a:lnTo>
                <a:close/>
              </a:path>
            </a:pathLst>
          </a:custGeom>
          <a:solidFill>
            <a:srgbClr val="FFF5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gates-bottom-rule"/>
          <p:cNvSpPr/>
          <p:nvPr/>
        </p:nvSpPr>
        <p:spPr>
          <a:xfrm>
            <a:off x="8255000" y="3644900"/>
            <a:ext cx="3721100" cy="6350"/>
          </a:xfrm>
          <a:prstGeom prst="rect">
            <a:avLst/>
          </a:prstGeom>
          <a:solidFill>
            <a:srgbClr val="B5B5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dependency-1-rule"/>
          <p:cNvSpPr/>
          <p:nvPr/>
        </p:nvSpPr>
        <p:spPr>
          <a:xfrm>
            <a:off x="8331200" y="4419600"/>
            <a:ext cx="3524250" cy="6350"/>
          </a:xfrm>
          <a:prstGeom prst="rect">
            <a:avLst/>
          </a:prstGeom>
          <a:solidFill>
            <a:srgbClr val="B5B5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dependency-2-rule"/>
          <p:cNvSpPr/>
          <p:nvPr/>
        </p:nvSpPr>
        <p:spPr>
          <a:xfrm>
            <a:off x="8331200" y="4845050"/>
            <a:ext cx="3524250" cy="6350"/>
          </a:xfrm>
          <a:prstGeom prst="rect">
            <a:avLst/>
          </a:prstGeom>
          <a:solidFill>
            <a:srgbClr val="B5B5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decision-band"/>
          <p:cNvSpPr/>
          <p:nvPr/>
        </p:nvSpPr>
        <p:spPr>
          <a:xfrm>
            <a:off x="311150" y="5422900"/>
            <a:ext cx="11544300" cy="838200"/>
          </a:xfrm>
          <a:prstGeom prst="rect">
            <a:avLst/>
          </a:prstGeom>
          <a:solidFill>
            <a:srgbClr val="FFF5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gate-timeline"/>
          <p:cNvSpPr/>
          <p:nvPr/>
        </p:nvSpPr>
        <p:spPr>
          <a:xfrm>
            <a:off x="8743950" y="1962150"/>
            <a:ext cx="2762250" cy="12700"/>
          </a:xfrm>
          <a:prstGeom prst="rect">
            <a:avLst/>
          </a:prstGeom>
          <a:solidFill>
            <a:srgbClr val="FD51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gate-1-rule"/>
          <p:cNvSpPr/>
          <p:nvPr/>
        </p:nvSpPr>
        <p:spPr>
          <a:xfrm>
            <a:off x="8489950" y="2711450"/>
            <a:ext cx="558800" cy="6350"/>
          </a:xfrm>
          <a:prstGeom prst="rect">
            <a:avLst/>
          </a:prstGeom>
          <a:solidFill>
            <a:srgbClr val="FD51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gate-2-rule"/>
          <p:cNvSpPr/>
          <p:nvPr/>
        </p:nvSpPr>
        <p:spPr>
          <a:xfrm>
            <a:off x="9385300" y="2711450"/>
            <a:ext cx="558800" cy="6350"/>
          </a:xfrm>
          <a:prstGeom prst="rect">
            <a:avLst/>
          </a:prstGeom>
          <a:solidFill>
            <a:srgbClr val="FD51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gate-3-rule"/>
          <p:cNvSpPr/>
          <p:nvPr/>
        </p:nvSpPr>
        <p:spPr>
          <a:xfrm>
            <a:off x="10287000" y="2711450"/>
            <a:ext cx="558800" cy="6350"/>
          </a:xfrm>
          <a:prstGeom prst="rect">
            <a:avLst/>
          </a:prstGeom>
          <a:solidFill>
            <a:srgbClr val="FD51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gate-4-rule"/>
          <p:cNvSpPr/>
          <p:nvPr/>
        </p:nvSpPr>
        <p:spPr>
          <a:xfrm>
            <a:off x="11201400" y="2711450"/>
            <a:ext cx="558800" cy="6350"/>
          </a:xfrm>
          <a:prstGeom prst="rect">
            <a:avLst/>
          </a:prstGeom>
          <a:solidFill>
            <a:srgbClr val="FD51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decision-accent"/>
          <p:cNvSpPr/>
          <p:nvPr/>
        </p:nvSpPr>
        <p:spPr>
          <a:xfrm>
            <a:off x="311150" y="5422900"/>
            <a:ext cx="50800" cy="838200"/>
          </a:xfrm>
          <a:prstGeom prst="rect">
            <a:avLst/>
          </a:prstGeom>
          <a:solidFill>
            <a:srgbClr val="FD51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dependency-1-circle"/>
          <p:cNvSpPr/>
          <p:nvPr/>
        </p:nvSpPr>
        <p:spPr>
          <a:xfrm>
            <a:off x="8432800" y="4089400"/>
            <a:ext cx="266700" cy="2667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D5108"/>
            </a:solidFill>
            <a:prstDash val="solid"/>
          </a:ln>
        </p:spPr>
      </p:sp>
      <p:sp>
        <p:nvSpPr>
          <p:cNvPr id="18" name="dependency-2-circle"/>
          <p:cNvSpPr/>
          <p:nvPr/>
        </p:nvSpPr>
        <p:spPr>
          <a:xfrm>
            <a:off x="8432800" y="4514850"/>
            <a:ext cx="266700" cy="2667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D5108"/>
            </a:solidFill>
            <a:prstDash val="solid"/>
          </a:ln>
        </p:spPr>
      </p:sp>
      <p:sp>
        <p:nvSpPr>
          <p:cNvPr id="19" name="dependency-3-circle"/>
          <p:cNvSpPr/>
          <p:nvPr/>
        </p:nvSpPr>
        <p:spPr>
          <a:xfrm>
            <a:off x="8432800" y="4940300"/>
            <a:ext cx="266700" cy="2667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D5108"/>
            </a:solidFill>
            <a:prstDash val="solid"/>
          </a:ln>
        </p:spPr>
      </p:sp>
      <p:graphicFrame>
        <p:nvGraphicFramePr>
          <p:cNvPr id="20" name="delivery-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7500" y="1593850"/>
          <a:ext cx="7766050" cy="3587750"/>
        </p:xfrm>
        <a:graphic>
          <a:graphicData uri="http://schemas.openxmlformats.org/drawingml/2006/table">
            <a:tbl>
              <a:tblPr/>
              <a:tblGrid>
                <a:gridCol w="1739900"/>
                <a:gridCol w="1581150"/>
                <a:gridCol w="1479550"/>
                <a:gridCol w="1435100"/>
                <a:gridCol w="1530350"/>
              </a:tblGrid>
              <a:tr h="603250"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WORKSTREAM / 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WEEKS 1–2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 &amp; baseline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WEEKS 3–4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&amp; test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WEEKS 5–8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 &amp; learn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WEEKS 9–12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Prove &amp; decide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&amp; access</a:t>
                      </a:r>
                      <a:pPr algn="l" indent="0" marL="0">
                        <a:lnSpc>
                          <a:spcPct val="100000"/>
                        </a:lnSpc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steward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corpus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 register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refresh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Named stewards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 access and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freshness checks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closeout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Release inventory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66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Workflow &amp; product</a:t>
                      </a:r>
                      <a:pPr algn="l" indent="0" marL="0">
                        <a:lnSpc>
                          <a:spcPct val="100000"/>
                        </a:lnSpc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lead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 mapping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time logs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Grounded 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Visible citations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15-user pilot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Defect fixes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Release candidate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Runbook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&amp; controls</a:t>
                      </a:r>
                      <a:pPr algn="l" indent="0" marL="0">
                        <a:lnSpc>
                          <a:spcPct val="100000"/>
                        </a:lnSpc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 reviewer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boundaries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criteria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pack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Rejection reasons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reviewed tasks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triage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completed tasks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evidence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56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Adoption &amp; value</a:t>
                      </a:r>
                      <a:pPr algn="l" indent="0" marL="0">
                        <a:lnSpc>
                          <a:spcPct val="100000"/>
                        </a:lnSpc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Practice lead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 &amp; users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 tracking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 &amp; support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Measurement plan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 usage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sessions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Benefit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recommendation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</a:tbl>
          </a:graphicData>
        </a:graphic>
      </p:graphicFrame>
      <p:sp>
        <p:nvSpPr>
          <p:cNvPr id="21" name="gate-1-marker"/>
          <p:cNvSpPr/>
          <p:nvPr/>
        </p:nvSpPr>
        <p:spPr>
          <a:xfrm>
            <a:off x="8655050" y="1873250"/>
            <a:ext cx="190500" cy="1905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FD5108"/>
            </a:solidFill>
            <a:prstDash val="solid"/>
          </a:ln>
        </p:spPr>
      </p:sp>
      <p:sp>
        <p:nvSpPr>
          <p:cNvPr id="22" name="gate-2-marker"/>
          <p:cNvSpPr/>
          <p:nvPr/>
        </p:nvSpPr>
        <p:spPr>
          <a:xfrm>
            <a:off x="9569450" y="1873250"/>
            <a:ext cx="190500" cy="1905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FD5108"/>
            </a:solidFill>
            <a:prstDash val="solid"/>
          </a:ln>
        </p:spPr>
      </p:sp>
      <p:sp>
        <p:nvSpPr>
          <p:cNvPr id="23" name="gate-3-marker"/>
          <p:cNvSpPr/>
          <p:nvPr/>
        </p:nvSpPr>
        <p:spPr>
          <a:xfrm>
            <a:off x="10477500" y="1873250"/>
            <a:ext cx="190500" cy="1905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FD5108"/>
            </a:solidFill>
            <a:prstDash val="solid"/>
          </a:ln>
        </p:spPr>
      </p:sp>
      <p:sp>
        <p:nvSpPr>
          <p:cNvPr id="24" name="gate-4-marker"/>
          <p:cNvSpPr/>
          <p:nvPr/>
        </p:nvSpPr>
        <p:spPr>
          <a:xfrm>
            <a:off x="11410950" y="1873250"/>
            <a:ext cx="190500" cy="1905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FD5108"/>
            </a:solidFill>
            <a:prstDash val="solid"/>
          </a:ln>
        </p:spPr>
      </p:sp>
      <p:sp>
        <p:nvSpPr>
          <p:cNvPr id="25" name="dependency-1-arrow"/>
          <p:cNvSpPr/>
          <p:nvPr/>
        </p:nvSpPr>
        <p:spPr>
          <a:xfrm>
            <a:off x="8496300" y="415925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0" y="63500"/>
                </a:moveTo>
                <a:lnTo>
                  <a:pt x="139700" y="63500"/>
                </a:lnTo>
                <a:moveTo>
                  <a:pt x="76200" y="0"/>
                </a:moveTo>
                <a:lnTo>
                  <a:pt x="139700" y="63500"/>
                </a:lnTo>
                <a:lnTo>
                  <a:pt x="76200" y="127000"/>
                </a:lnTo>
              </a:path>
            </a:pathLst>
          </a:custGeom>
          <a:solidFill>
            <a:srgbClr val="FFFFFF">
              <a:alpha val="0"/>
            </a:srgbClr>
          </a:solidFill>
          <a:ln w="12700">
            <a:solidFill>
              <a:srgbClr val="FD5108"/>
            </a:solidFill>
            <a:prstDash val="solid"/>
            <a:headEnd type="none"/>
            <a:tailEnd type="none"/>
          </a:ln>
        </p:spPr>
      </p:sp>
      <p:sp>
        <p:nvSpPr>
          <p:cNvPr id="26" name="dependency-2-arrow"/>
          <p:cNvSpPr/>
          <p:nvPr/>
        </p:nvSpPr>
        <p:spPr>
          <a:xfrm>
            <a:off x="8496300" y="45847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0" y="63500"/>
                </a:moveTo>
                <a:lnTo>
                  <a:pt x="139700" y="63500"/>
                </a:lnTo>
                <a:moveTo>
                  <a:pt x="76200" y="0"/>
                </a:moveTo>
                <a:lnTo>
                  <a:pt x="139700" y="63500"/>
                </a:lnTo>
                <a:lnTo>
                  <a:pt x="76200" y="127000"/>
                </a:lnTo>
              </a:path>
            </a:pathLst>
          </a:custGeom>
          <a:solidFill>
            <a:srgbClr val="FFFFFF">
              <a:alpha val="0"/>
            </a:srgbClr>
          </a:solidFill>
          <a:ln w="12700">
            <a:solidFill>
              <a:srgbClr val="FD5108"/>
            </a:solidFill>
            <a:prstDash val="solid"/>
            <a:headEnd type="none"/>
            <a:tailEnd type="none"/>
          </a:ln>
        </p:spPr>
      </p:sp>
      <p:sp>
        <p:nvSpPr>
          <p:cNvPr id="27" name="dependency-3-arrow"/>
          <p:cNvSpPr/>
          <p:nvPr/>
        </p:nvSpPr>
        <p:spPr>
          <a:xfrm>
            <a:off x="8496300" y="501015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0" y="63500"/>
                </a:moveTo>
                <a:lnTo>
                  <a:pt x="139700" y="63500"/>
                </a:lnTo>
                <a:moveTo>
                  <a:pt x="76200" y="0"/>
                </a:moveTo>
                <a:lnTo>
                  <a:pt x="139700" y="63500"/>
                </a:lnTo>
                <a:lnTo>
                  <a:pt x="76200" y="127000"/>
                </a:lnTo>
              </a:path>
            </a:pathLst>
          </a:custGeom>
          <a:solidFill>
            <a:srgbClr val="FFFFFF">
              <a:alpha val="0"/>
            </a:srgbClr>
          </a:solidFill>
          <a:ln w="12700">
            <a:solidFill>
              <a:srgbClr val="FD5108"/>
            </a:solidFill>
            <a:prstDash val="solid"/>
            <a:headEnd type="none"/>
            <a:tailEnd type="none"/>
          </a:ln>
        </p:spPr>
      </p:sp>
      <p:sp>
        <p:nvSpPr>
          <p:cNvPr id="28" name="headline"/>
          <p:cNvSpPr txBox="1"/>
          <p:nvPr/>
        </p:nvSpPr>
        <p:spPr>
          <a:xfrm>
            <a:off x="304800" y="514350"/>
            <a:ext cx="1158875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3200" dirty="0" spc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pilot through four evidence gates</a:t>
            </a:r>
            <a:endParaRPr lang="en-US" sz="3200" dirty="0" spc="0"/>
          </a:p>
        </p:txBody>
      </p:sp>
      <p:sp>
        <p:nvSpPr>
          <p:cNvPr id="29" name="subtitle"/>
          <p:cNvSpPr txBox="1"/>
          <p:nvPr/>
        </p:nvSpPr>
        <p:spPr>
          <a:xfrm>
            <a:off x="311150" y="1054100"/>
            <a:ext cx="11582400" cy="317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6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run the workstreams. Evidence gates release the next phase.</a:t>
            </a:r>
            <a:endParaRPr lang="en-US" sz="1600" dirty="0" spc="0"/>
          </a:p>
        </p:txBody>
      </p:sp>
      <p:sp>
        <p:nvSpPr>
          <p:cNvPr id="30" name="gates-heading"/>
          <p:cNvSpPr txBox="1"/>
          <p:nvPr/>
        </p:nvSpPr>
        <p:spPr>
          <a:xfrm>
            <a:off x="8477250" y="1536700"/>
            <a:ext cx="3365500" cy="2730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GATES</a:t>
            </a:r>
            <a:endParaRPr lang="en-US" sz="1400" dirty="0" spc="0"/>
          </a:p>
        </p:txBody>
      </p:sp>
      <p:sp>
        <p:nvSpPr>
          <p:cNvPr id="31" name="gate-1-label"/>
          <p:cNvSpPr txBox="1"/>
          <p:nvPr/>
        </p:nvSpPr>
        <p:spPr>
          <a:xfrm>
            <a:off x="8401050" y="2178050"/>
            <a:ext cx="74295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 indent="0" marL="0">
              <a:lnSpc>
                <a:spcPct val="100000"/>
              </a:lnSpc>
              <a:buNone/>
              <a:defRPr spc="0"/>
            </a:pPr>
            <a:r>
              <a:rPr lang="en-US" sz="160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1600" dirty="0" spc="0"/>
          </a:p>
        </p:txBody>
      </p:sp>
      <p:sp>
        <p:nvSpPr>
          <p:cNvPr id="32" name="gate-1-week"/>
          <p:cNvSpPr txBox="1"/>
          <p:nvPr/>
        </p:nvSpPr>
        <p:spPr>
          <a:xfrm>
            <a:off x="8369300" y="2425700"/>
            <a:ext cx="806450" cy="2413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400" dirty="0" spc="0"/>
          </a:p>
        </p:txBody>
      </p:sp>
      <p:sp>
        <p:nvSpPr>
          <p:cNvPr id="33" name="gate-1-evidence"/>
          <p:cNvSpPr txBox="1"/>
          <p:nvPr/>
        </p:nvSpPr>
        <p:spPr>
          <a:xfrm>
            <a:off x="8369300" y="2851150"/>
            <a:ext cx="806450" cy="635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 indent="0" marL="0">
              <a:lnSpc>
                <a:spcPct val="118000"/>
              </a:lnSpc>
              <a:buNone/>
              <a:defRPr spc="0"/>
            </a:pPr>
            <a:r>
              <a:rPr lang="en-US" sz="11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+</a:t>
            </a:r>
            <a:endParaRPr lang="en-US" sz="1100" dirty="0" spc="0"/>
          </a:p>
          <a:p>
            <a:pPr algn="ctr" indent="0" marL="0">
              <a:lnSpc>
                <a:spcPct val="118000"/>
              </a:lnSpc>
              <a:buNone/>
              <a:defRPr spc="0"/>
            </a:pPr>
            <a:r>
              <a:rPr lang="en-US" sz="11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100" dirty="0" spc="0"/>
          </a:p>
          <a:p>
            <a:pPr algn="ctr" indent="0" marL="0">
              <a:lnSpc>
                <a:spcPct val="118000"/>
              </a:lnSpc>
              <a:buNone/>
              <a:defRPr spc="0"/>
            </a:pPr>
            <a:r>
              <a:rPr lang="en-US" sz="11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</a:t>
            </a:r>
            <a:endParaRPr lang="en-US" sz="1100" dirty="0" spc="0"/>
          </a:p>
        </p:txBody>
      </p:sp>
      <p:sp>
        <p:nvSpPr>
          <p:cNvPr id="34" name="gate-2-label"/>
          <p:cNvSpPr txBox="1"/>
          <p:nvPr/>
        </p:nvSpPr>
        <p:spPr>
          <a:xfrm>
            <a:off x="9296400" y="2178050"/>
            <a:ext cx="74295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 indent="0" marL="0">
              <a:lnSpc>
                <a:spcPct val="100000"/>
              </a:lnSpc>
              <a:buNone/>
              <a:defRPr spc="0"/>
            </a:pPr>
            <a:r>
              <a:rPr lang="en-US" sz="160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1600" dirty="0" spc="0"/>
          </a:p>
        </p:txBody>
      </p:sp>
      <p:sp>
        <p:nvSpPr>
          <p:cNvPr id="35" name="gate-2-week"/>
          <p:cNvSpPr txBox="1"/>
          <p:nvPr/>
        </p:nvSpPr>
        <p:spPr>
          <a:xfrm>
            <a:off x="9264650" y="2425700"/>
            <a:ext cx="806450" cy="2413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400" dirty="0" spc="0"/>
          </a:p>
        </p:txBody>
      </p:sp>
      <p:sp>
        <p:nvSpPr>
          <p:cNvPr id="36" name="gate-2-evidence"/>
          <p:cNvSpPr txBox="1"/>
          <p:nvPr/>
        </p:nvSpPr>
        <p:spPr>
          <a:xfrm>
            <a:off x="9264650" y="2851150"/>
            <a:ext cx="806450" cy="635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 indent="0" marL="0">
              <a:lnSpc>
                <a:spcPct val="118000"/>
              </a:lnSpc>
              <a:buNone/>
              <a:defRPr spc="0"/>
            </a:pPr>
            <a:r>
              <a:rPr lang="en-US" sz="11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pack</a:t>
            </a:r>
            <a:endParaRPr lang="en-US" sz="1100" dirty="0" spc="0"/>
          </a:p>
          <a:p>
            <a:pPr algn="ctr" indent="0" marL="0">
              <a:lnSpc>
                <a:spcPct val="118000"/>
              </a:lnSpc>
              <a:buNone/>
              <a:defRPr spc="0"/>
            </a:pPr>
            <a:r>
              <a:rPr lang="en-US" sz="11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1100" dirty="0" spc="0"/>
          </a:p>
        </p:txBody>
      </p:sp>
      <p:sp>
        <p:nvSpPr>
          <p:cNvPr id="37" name="gate-3-label"/>
          <p:cNvSpPr txBox="1"/>
          <p:nvPr/>
        </p:nvSpPr>
        <p:spPr>
          <a:xfrm>
            <a:off x="10198100" y="2178050"/>
            <a:ext cx="74295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 indent="0" marL="0">
              <a:lnSpc>
                <a:spcPct val="100000"/>
              </a:lnSpc>
              <a:buNone/>
              <a:defRPr spc="0"/>
            </a:pPr>
            <a:r>
              <a:rPr lang="en-US" sz="160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1600" dirty="0" spc="0"/>
          </a:p>
        </p:txBody>
      </p:sp>
      <p:sp>
        <p:nvSpPr>
          <p:cNvPr id="38" name="gate-3-week"/>
          <p:cNvSpPr txBox="1"/>
          <p:nvPr/>
        </p:nvSpPr>
        <p:spPr>
          <a:xfrm>
            <a:off x="10166350" y="2425700"/>
            <a:ext cx="806450" cy="2413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</a:t>
            </a:r>
            <a:endParaRPr lang="en-US" sz="1400" dirty="0" spc="0"/>
          </a:p>
        </p:txBody>
      </p:sp>
      <p:sp>
        <p:nvSpPr>
          <p:cNvPr id="39" name="gate-3-evidence"/>
          <p:cNvSpPr txBox="1"/>
          <p:nvPr/>
        </p:nvSpPr>
        <p:spPr>
          <a:xfrm>
            <a:off x="10166350" y="2851150"/>
            <a:ext cx="806450" cy="635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 indent="0" marL="0">
              <a:lnSpc>
                <a:spcPct val="118000"/>
              </a:lnSpc>
              <a:buNone/>
              <a:defRPr spc="0"/>
            </a:pPr>
            <a:r>
              <a:rPr lang="en-US" sz="11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tasks</a:t>
            </a:r>
            <a:endParaRPr lang="en-US" sz="1100" dirty="0" spc="0"/>
          </a:p>
          <a:p>
            <a:pPr algn="ctr" indent="0" marL="0">
              <a:lnSpc>
                <a:spcPct val="118000"/>
              </a:lnSpc>
              <a:buNone/>
              <a:defRPr spc="0"/>
            </a:pPr>
            <a:r>
              <a:rPr lang="en-US" sz="11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</a:t>
            </a:r>
            <a:endParaRPr lang="en-US" sz="1100" dirty="0" spc="0"/>
          </a:p>
        </p:txBody>
      </p:sp>
      <p:sp>
        <p:nvSpPr>
          <p:cNvPr id="40" name="gate-4-label"/>
          <p:cNvSpPr txBox="1"/>
          <p:nvPr/>
        </p:nvSpPr>
        <p:spPr>
          <a:xfrm>
            <a:off x="11112500" y="2178050"/>
            <a:ext cx="74295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 indent="0" marL="0">
              <a:lnSpc>
                <a:spcPct val="100000"/>
              </a:lnSpc>
              <a:buNone/>
              <a:defRPr spc="0"/>
            </a:pPr>
            <a:r>
              <a:rPr lang="en-US" sz="160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</a:t>
            </a:r>
            <a:endParaRPr lang="en-US" sz="1600" dirty="0" spc="0"/>
          </a:p>
        </p:txBody>
      </p:sp>
      <p:sp>
        <p:nvSpPr>
          <p:cNvPr id="41" name="gate-4-week"/>
          <p:cNvSpPr txBox="1"/>
          <p:nvPr/>
        </p:nvSpPr>
        <p:spPr>
          <a:xfrm>
            <a:off x="11080750" y="2425700"/>
            <a:ext cx="806450" cy="2413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</a:t>
            </a:r>
            <a:endParaRPr lang="en-US" sz="1400" dirty="0" spc="0"/>
          </a:p>
        </p:txBody>
      </p:sp>
      <p:sp>
        <p:nvSpPr>
          <p:cNvPr id="42" name="gate-4-evidence"/>
          <p:cNvSpPr txBox="1"/>
          <p:nvPr/>
        </p:nvSpPr>
        <p:spPr>
          <a:xfrm>
            <a:off x="11080750" y="2851150"/>
            <a:ext cx="806450" cy="635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 indent="0" marL="0">
              <a:lnSpc>
                <a:spcPct val="118000"/>
              </a:lnSpc>
              <a:buNone/>
              <a:defRPr spc="0"/>
            </a:pPr>
            <a:r>
              <a:rPr lang="en-US" sz="11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1100" dirty="0" spc="0"/>
          </a:p>
          <a:p>
            <a:pPr algn="ctr" indent="0" marL="0">
              <a:lnSpc>
                <a:spcPct val="118000"/>
              </a:lnSpc>
              <a:buNone/>
              <a:defRPr spc="0"/>
            </a:pPr>
            <a:r>
              <a:rPr lang="en-US" sz="11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+ CFO</a:t>
            </a:r>
            <a:endParaRPr lang="en-US" sz="1100" dirty="0" spc="0"/>
          </a:p>
          <a:p>
            <a:pPr algn="ctr" indent="0" marL="0">
              <a:lnSpc>
                <a:spcPct val="118000"/>
              </a:lnSpc>
              <a:buNone/>
              <a:defRPr spc="0"/>
            </a:pPr>
            <a:r>
              <a:rPr lang="en-US" sz="11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100" dirty="0" spc="0"/>
          </a:p>
        </p:txBody>
      </p:sp>
      <p:sp>
        <p:nvSpPr>
          <p:cNvPr id="43" name="dependencies-heading"/>
          <p:cNvSpPr txBox="1"/>
          <p:nvPr/>
        </p:nvSpPr>
        <p:spPr>
          <a:xfrm>
            <a:off x="8445500" y="3746500"/>
            <a:ext cx="3397250" cy="2730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1400" dirty="0" spc="0"/>
          </a:p>
        </p:txBody>
      </p:sp>
      <p:sp>
        <p:nvSpPr>
          <p:cNvPr id="44" name="dependency-1-text"/>
          <p:cNvSpPr txBox="1"/>
          <p:nvPr/>
        </p:nvSpPr>
        <p:spPr>
          <a:xfrm>
            <a:off x="8820150" y="4095750"/>
            <a:ext cx="3048000" cy="279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before retrieval tests</a:t>
            </a:r>
            <a:endParaRPr lang="en-US" sz="1400" dirty="0" spc="0"/>
          </a:p>
        </p:txBody>
      </p:sp>
      <p:sp>
        <p:nvSpPr>
          <p:cNvPr id="45" name="dependency-2-text"/>
          <p:cNvSpPr txBox="1"/>
          <p:nvPr/>
        </p:nvSpPr>
        <p:spPr>
          <a:xfrm>
            <a:off x="8820150" y="4521200"/>
            <a:ext cx="3048000" cy="279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test pack before pilot</a:t>
            </a:r>
            <a:endParaRPr lang="en-US" sz="1400" dirty="0" spc="0"/>
          </a:p>
        </p:txBody>
      </p:sp>
      <p:sp>
        <p:nvSpPr>
          <p:cNvPr id="46" name="dependency-3-text"/>
          <p:cNvSpPr txBox="1"/>
          <p:nvPr/>
        </p:nvSpPr>
        <p:spPr>
          <a:xfrm>
            <a:off x="8820150" y="4946650"/>
            <a:ext cx="3048000" cy="279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evidence before benefit case</a:t>
            </a:r>
            <a:endParaRPr lang="en-US" sz="1400" dirty="0" spc="0"/>
          </a:p>
        </p:txBody>
      </p:sp>
      <p:sp>
        <p:nvSpPr>
          <p:cNvPr id="47" name="decision-label"/>
          <p:cNvSpPr txBox="1"/>
          <p:nvPr/>
        </p:nvSpPr>
        <p:spPr>
          <a:xfrm>
            <a:off x="628650" y="5676900"/>
            <a:ext cx="1847850" cy="330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RULE</a:t>
            </a:r>
            <a:endParaRPr lang="en-US" sz="1400" dirty="0" spc="0"/>
          </a:p>
        </p:txBody>
      </p:sp>
      <p:sp>
        <p:nvSpPr>
          <p:cNvPr id="48" name="decision-message"/>
          <p:cNvSpPr txBox="1"/>
          <p:nvPr/>
        </p:nvSpPr>
        <p:spPr>
          <a:xfrm>
            <a:off x="2584450" y="5676900"/>
            <a:ext cx="8953500" cy="330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expansion while critical data exceptions remain open.</a:t>
            </a:r>
            <a:endParaRPr lang="en-US" sz="1400" dirty="0" spc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>
            <a:noAutofit/>
          </a:bodyPr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SlidePoise presentation</dc:title>
  <dc:subject>Editable presentation generated from SlidePoise scene contracts</dc:subject>
  <dc:creator>SlidePoise</dc:creator>
  <cp:lastModifiedBy>SlidePoise</cp:lastModifiedBy>
  <cp:revision>1</cp:revision>
  <dcterms:created xsi:type="dcterms:W3CDTF">2026-09-05T14:22:54Z</dcterms:created>
  <dcterms:modified xsi:type="dcterms:W3CDTF">2026-09-05T14:22:54Z</dcterms:modified>
</cp:coreProperties>
</file>