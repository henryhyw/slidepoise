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scenario. Twenty paired tasks represent one research task from each of twenty pilot engagements, with ten tasks at the week-eight interim review. The sampled 95% claim-verification gate measures pilot quality. Every client claim still requires expert sign-off and every client release requires engagement-lead approval.
The two curved feedback paths are editable native freeforms. They preserve the observed direction and curve geometry, but moving the table or its columns in Office does not automatically reattach these paths.
[SlidePoise sources]
Generated target visual: /Users/henry/Codes/AI_slide_drafting/output/showcase-revisions/consulting-v3-authoring/slides/s03-operating-model/work/accepted-slide.png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304800" y="31750"/>
            <a:ext cx="5547360" cy="342900"/>
          </a:xfrm>
          <a:prstGeom prst="rect">
            <a:avLst/>
          </a:prstGeom>
          <a:noFill/>
          <a:ln/>
        </p:spPr>
        <p:txBody>
          <a:bodyPr wrap="square" lIns="0" tIns="0" rIns="0" bIns="0" rtlCol="0" anchor="ctr">
            <a:normAutofit/>
          </a:bodyPr>
          <a:lstStyle/>
          <a:p>
            <a:pPr algn="l" indent="0" marL="0">
              <a:buNone/>
            </a:pPr>
            <a:r>
              <a:rPr lang="en-US" sz="1000" dirty="0">
                <a:solidFill>
                  <a:srgbClr val="666666"/>
                </a:solidFill>
                <a:latin typeface="Arial" pitchFamily="34" charset="0"/>
                <a:ea typeface="Arial" pitchFamily="34" charset="-122"/>
                <a:cs typeface="Arial" pitchFamily="34" charset="-120"/>
              </a:rPr>
              <a:t>NORTHSTAR ADVISORY</a:t>
            </a:r>
            <a:endParaRPr lang="en-US" sz="1000" dirty="0"/>
          </a:p>
        </p:txBody>
      </p:sp>
      <p:sp>
        <p:nvSpPr>
          <p:cNvPr id="3" name="SC_MASTER_HEADER_RIGHT"/>
          <p:cNvSpPr/>
          <p:nvPr/>
        </p:nvSpPr>
        <p:spPr>
          <a:xfrm>
            <a:off x="6339840" y="31750"/>
            <a:ext cx="5547360" cy="342900"/>
          </a:xfrm>
          <a:prstGeom prst="rect">
            <a:avLst/>
          </a:prstGeom>
          <a:noFill/>
          <a:ln/>
        </p:spPr>
        <p:txBody>
          <a:bodyPr wrap="square" lIns="0" tIns="0" rIns="0" bIns="0" rtlCol="0" anchor="ctr">
            <a:normAutofit/>
          </a:bodyPr>
          <a:lstStyle/>
          <a:p>
            <a:pPr algn="r" indent="0" marL="0">
              <a:buNone/>
            </a:pPr>
            <a:r>
              <a:rPr lang="en-US" sz="1000" dirty="0">
                <a:solidFill>
                  <a:srgbClr val="666666"/>
                </a:solidFill>
                <a:latin typeface="Arial" pitchFamily="34" charset="0"/>
                <a:ea typeface="Arial" pitchFamily="34" charset="-122"/>
                <a:cs typeface="Arial" pitchFamily="34" charset="-120"/>
              </a:rPr>
              <a:t>AI TRANSFORMATION</a:t>
            </a:r>
            <a:endParaRPr lang="en-US" sz="1000" dirty="0"/>
          </a:p>
        </p:txBody>
      </p:sp>
      <p:sp>
        <p:nvSpPr>
          <p:cNvPr id="4" name="Shape 2"/>
          <p:cNvSpPr/>
          <p:nvPr/>
        </p:nvSpPr>
        <p:spPr>
          <a:xfrm>
            <a:off x="304800" y="400050"/>
            <a:ext cx="11582400" cy="0"/>
          </a:xfrm>
          <a:prstGeom prst="line">
            <a:avLst/>
          </a:prstGeom>
          <a:noFill/>
          <a:ln w="6350">
            <a:solidFill>
              <a:srgbClr val="DFE3E6"/>
            </a:solidFill>
            <a:prstDash val="solid"/>
          </a:ln>
        </p:spPr>
      </p:sp>
      <p:sp>
        <p:nvSpPr>
          <p:cNvPr id="5" name="Shape 3"/>
          <p:cNvSpPr/>
          <p:nvPr/>
        </p:nvSpPr>
        <p:spPr>
          <a:xfrm>
            <a:off x="304800" y="6502400"/>
            <a:ext cx="11582400" cy="0"/>
          </a:xfrm>
          <a:prstGeom prst="line">
            <a:avLst/>
          </a:prstGeom>
          <a:noFill/>
          <a:ln w="6350">
            <a:solidFill>
              <a:srgbClr val="DFE3E6"/>
            </a:solidFill>
            <a:prstDash val="solid"/>
          </a:ln>
        </p:spPr>
      </p:sp>
      <p:sp>
        <p:nvSpPr>
          <p:cNvPr id="6" name="SC_MASTER_FOOTER_LEFT"/>
          <p:cNvSpPr/>
          <p:nvPr/>
        </p:nvSpPr>
        <p:spPr>
          <a:xfrm>
            <a:off x="304800" y="6534150"/>
            <a:ext cx="4267200" cy="292100"/>
          </a:xfrm>
          <a:prstGeom prst="rect">
            <a:avLst/>
          </a:prstGeom>
          <a:noFill/>
          <a:ln/>
        </p:spPr>
        <p:txBody>
          <a:bodyPr wrap="square" lIns="0" tIns="0" rIns="0" bIns="0" rtlCol="0" anchor="ctr">
            <a:normAutofit/>
          </a:bodyPr>
          <a:lstStyle/>
          <a:p>
            <a:pPr algn="l" indent="0" marL="0">
              <a:buNone/>
            </a:pPr>
            <a:r>
              <a:rPr lang="en-US" sz="900" dirty="0">
                <a:solidFill>
                  <a:srgbClr val="666666"/>
                </a:solidFill>
                <a:latin typeface="Arial" pitchFamily="34" charset="0"/>
                <a:ea typeface="Arial" pitchFamily="34" charset="-122"/>
                <a:cs typeface="Arial" pitchFamily="34" charset="-120"/>
              </a:rPr>
              <a:t>ILLUSTRATIVE PLANNING ASSUMPTIONS</a:t>
            </a:r>
            <a:endParaRPr lang="en-US" sz="900" dirty="0"/>
          </a:p>
        </p:txBody>
      </p:sp>
      <p:sp>
        <p:nvSpPr>
          <p:cNvPr id="7" name="SC_MASTER_FOOTER_CENTER"/>
          <p:cNvSpPr/>
          <p:nvPr/>
        </p:nvSpPr>
        <p:spPr>
          <a:xfrm>
            <a:off x="4267200" y="6534150"/>
            <a:ext cx="3657600" cy="292100"/>
          </a:xfrm>
          <a:prstGeom prst="rect">
            <a:avLst/>
          </a:prstGeom>
          <a:noFill/>
          <a:ln/>
        </p:spPr>
        <p:txBody>
          <a:bodyPr wrap="square" lIns="0" tIns="0" rIns="0" bIns="0" rtlCol="0" anchor="ctr">
            <a:normAutofit/>
          </a:bodyPr>
          <a:lstStyle/>
          <a:p>
            <a:pPr algn="ctr" indent="0" marL="0">
              <a:buNone/>
            </a:pPr>
            <a:r>
              <a:rPr lang="en-US" sz="900" dirty="0">
                <a:solidFill>
                  <a:srgbClr val="666666"/>
                </a:solidFill>
                <a:latin typeface="Arial" pitchFamily="34" charset="0"/>
                <a:ea typeface="Arial" pitchFamily="34" charset="-122"/>
                <a:cs typeface="Arial" pitchFamily="34" charset="-120"/>
              </a:rPr>
              <a:t>Capacity value is not a cash saving.</a:t>
            </a:r>
            <a:endParaRPr lang="en-US" sz="900" dirty="0"/>
          </a:p>
        </p:txBody>
      </p:sp>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304800" y="1454150"/>
            <a:ext cx="11582400" cy="12700"/>
          </a:xfrm>
          <a:prstGeom prst="rect">
            <a:avLst/>
          </a:prstGeom>
          <a:solidFill>
            <a:srgbClr val="999999"/>
          </a:solidFill>
          <a:ln w="12700">
            <a:solidFill>
              <a:srgbClr val="FFFFFF">
                <a:alpha val="0"/>
              </a:srgbClr>
            </a:solidFill>
            <a:prstDash val="solid"/>
          </a:ln>
        </p:spPr>
      </p:sp>
      <p:sp>
        <p:nvSpPr>
          <p:cNvPr id="3" name="stage-1"/>
          <p:cNvSpPr/>
          <p:nvPr/>
        </p:nvSpPr>
        <p:spPr>
          <a:xfrm>
            <a:off x="565150" y="1663700"/>
            <a:ext cx="1619250" cy="577850"/>
          </a:xfrm>
          <a:prstGeom prst="rect">
            <a:avLst/>
          </a:prstGeom>
          <a:solidFill>
            <a:srgbClr val="FFFFFF"/>
          </a:solidFill>
          <a:ln w="12700">
            <a:solidFill>
              <a:srgbClr val="FD5108"/>
            </a:solidFill>
            <a:prstDash val="solid"/>
          </a:ln>
        </p:spPr>
      </p:sp>
      <p:sp>
        <p:nvSpPr>
          <p:cNvPr id="4" name="stage-2"/>
          <p:cNvSpPr/>
          <p:nvPr/>
        </p:nvSpPr>
        <p:spPr>
          <a:xfrm>
            <a:off x="2819400" y="1663700"/>
            <a:ext cx="1606550" cy="577850"/>
          </a:xfrm>
          <a:prstGeom prst="rect">
            <a:avLst/>
          </a:prstGeom>
          <a:solidFill>
            <a:srgbClr val="FFFFFF"/>
          </a:solidFill>
          <a:ln w="12700">
            <a:solidFill>
              <a:srgbClr val="FD5108"/>
            </a:solidFill>
            <a:prstDash val="solid"/>
          </a:ln>
        </p:spPr>
      </p:sp>
      <p:sp>
        <p:nvSpPr>
          <p:cNvPr id="5" name="stage-3"/>
          <p:cNvSpPr/>
          <p:nvPr/>
        </p:nvSpPr>
        <p:spPr>
          <a:xfrm>
            <a:off x="5041900" y="1663700"/>
            <a:ext cx="1619250" cy="577850"/>
          </a:xfrm>
          <a:prstGeom prst="rect">
            <a:avLst/>
          </a:prstGeom>
          <a:solidFill>
            <a:srgbClr val="FFFFFF"/>
          </a:solidFill>
          <a:ln w="12700">
            <a:solidFill>
              <a:srgbClr val="FD5108"/>
            </a:solidFill>
            <a:prstDash val="solid"/>
          </a:ln>
        </p:spPr>
      </p:sp>
      <p:sp>
        <p:nvSpPr>
          <p:cNvPr id="6" name="stage-4"/>
          <p:cNvSpPr/>
          <p:nvPr/>
        </p:nvSpPr>
        <p:spPr>
          <a:xfrm>
            <a:off x="7264400" y="1663700"/>
            <a:ext cx="1803400" cy="577850"/>
          </a:xfrm>
          <a:prstGeom prst="rect">
            <a:avLst/>
          </a:prstGeom>
          <a:solidFill>
            <a:srgbClr val="FFFFFF"/>
          </a:solidFill>
          <a:ln w="12700">
            <a:solidFill>
              <a:srgbClr val="FD5108"/>
            </a:solidFill>
            <a:prstDash val="solid"/>
          </a:ln>
        </p:spPr>
      </p:sp>
      <p:sp>
        <p:nvSpPr>
          <p:cNvPr id="7" name="shared-divider"/>
          <p:cNvSpPr/>
          <p:nvPr/>
        </p:nvSpPr>
        <p:spPr>
          <a:xfrm>
            <a:off x="9620250" y="3492500"/>
            <a:ext cx="2260600" cy="6350"/>
          </a:xfrm>
          <a:prstGeom prst="rect">
            <a:avLst/>
          </a:prstGeom>
          <a:solidFill>
            <a:srgbClr val="B5B5B5"/>
          </a:solidFill>
          <a:ln w="12700">
            <a:solidFill>
              <a:srgbClr val="FFFFFF">
                <a:alpha val="0"/>
              </a:srgbClr>
            </a:solidFill>
            <a:prstDash val="solid"/>
          </a:ln>
        </p:spPr>
      </p:sp>
      <p:sp>
        <p:nvSpPr>
          <p:cNvPr id="8" name="decision-band"/>
          <p:cNvSpPr/>
          <p:nvPr/>
        </p:nvSpPr>
        <p:spPr>
          <a:xfrm>
            <a:off x="304800" y="5441950"/>
            <a:ext cx="11582400" cy="806450"/>
          </a:xfrm>
          <a:prstGeom prst="rect">
            <a:avLst/>
          </a:prstGeom>
          <a:solidFill>
            <a:srgbClr val="FFF5ED"/>
          </a:solidFill>
          <a:ln w="12700">
            <a:solidFill>
              <a:srgbClr val="FFFFFF">
                <a:alpha val="0"/>
              </a:srgbClr>
            </a:solidFill>
            <a:prstDash val="solid"/>
          </a:ln>
        </p:spPr>
      </p:sp>
      <p:sp>
        <p:nvSpPr>
          <p:cNvPr id="9" name="decision-accent"/>
          <p:cNvSpPr/>
          <p:nvPr/>
        </p:nvSpPr>
        <p:spPr>
          <a:xfrm>
            <a:off x="304800" y="5441950"/>
            <a:ext cx="50800" cy="806450"/>
          </a:xfrm>
          <a:prstGeom prst="rect">
            <a:avLst/>
          </a:prstGeom>
          <a:solidFill>
            <a:srgbClr val="FD5108"/>
          </a:solidFill>
          <a:ln w="12700">
            <a:solidFill>
              <a:srgbClr val="FFFFFF">
                <a:alpha val="0"/>
              </a:srgbClr>
            </a:solidFill>
            <a:prstDash val="solid"/>
          </a:ln>
        </p:spPr>
      </p:sp>
      <p:graphicFrame>
        <p:nvGraphicFramePr>
          <p:cNvPr id="10" name="responsibility-matrix"/>
          <p:cNvGraphicFramePr>
            <a:graphicFrameLocks noGrp="1"/>
          </p:cNvGraphicFramePr>
          <p:nvPr>
            <p:extLst>
              <p:ext uri="{D42A27DB-BD31-4B8C-83A1-F6EECF244321}">
                <p14:modId xmlns:p14="http://schemas.microsoft.com/office/powerpoint/2010/main" val="1579011935"/>
              </p:ext>
            </p:extLst>
          </p:nvPr>
        </p:nvGraphicFramePr>
        <p:xfrm>
          <a:off x="311150" y="2406650"/>
          <a:ext cx="9042400" cy="2114550"/>
        </p:xfrm>
        <a:graphic>
          <a:graphicData uri="http://schemas.openxmlformats.org/drawingml/2006/table">
            <a:tbl>
              <a:tblPr/>
              <a:tblGrid>
                <a:gridCol w="1758950"/>
                <a:gridCol w="1828800"/>
                <a:gridCol w="1866900"/>
                <a:gridCol w="1746250"/>
                <a:gridCol w="1841500"/>
              </a:tblGrid>
              <a:tr h="349250">
                <a:tc>
                  <a:txBody>
                    <a:bodyPr>
                      <a:noAutofit/>
                    </a:bodyPr>
                    <a:lstStyle/>
                    <a:p>
                      <a:pPr algn="l" indent="0" marL="0">
                        <a:buNone/>
                      </a:pP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Approved sources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Grounded draft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Expert review</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c>
                  <a:txBody>
                    <a:bodyPr>
                      <a:noAutofit/>
                    </a:bodyPr>
                    <a:lstStyle/>
                    <a:p>
                      <a:pPr algn="l" indent="0" marL="0">
                        <a:buNone/>
                      </a:pPr>
                      <a:r>
                        <a:rPr lang="en-US" sz="1200" b="1" dirty="0">
                          <a:solidFill>
                            <a:srgbClr val="FFFFFF"/>
                          </a:solidFill>
                          <a:latin typeface="Arial" pitchFamily="34" charset="0"/>
                          <a:ea typeface="Arial" pitchFamily="34" charset="-122"/>
                          <a:cs typeface="Arial" pitchFamily="34" charset="-120"/>
                        </a:rPr>
                        <a:t>Client-ready output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000000"/>
                    </a:solidFill>
                  </a:tcPr>
                </a:tc>
              </a:tr>
              <a:tr h="412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INPUT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Corpus request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Source pack + task brief</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Draft + evidence trail</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Signed draft + resolved defects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4064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OUTPUT</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Versioned source pack</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Cited draft + uncertainty flags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Signed review or defect log</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Authorized client deliverable</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r h="40640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OWNER</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Source steward</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Engagement team</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Expert reviewer</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Engagement lead</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FFFFF"/>
                    </a:solidFill>
                  </a:tcPr>
                </a:tc>
              </a:tr>
              <a:tr h="539750">
                <a:tc>
                  <a:txBody>
                    <a:bodyPr>
                      <a:noAutofit/>
                    </a:bodyPr>
                    <a:lstStyle/>
                    <a:p>
                      <a:pPr algn="l" indent="0" marL="0">
                        <a:buNone/>
                      </a:pPr>
                      <a:r>
                        <a:rPr lang="en-US" sz="1200" b="1" dirty="0">
                          <a:solidFill>
                            <a:srgbClr val="000000"/>
                          </a:solidFill>
                          <a:latin typeface="Arial" pitchFamily="34" charset="0"/>
                          <a:ea typeface="Arial" pitchFamily="34" charset="-122"/>
                          <a:cs typeface="Arial" pitchFamily="34" charset="-120"/>
                        </a:rPr>
                        <a:t>RELEASE CONTROL</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Verify permissions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dates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Check citations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evidence gaps</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Validate claims</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and quality</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c>
                  <a:txBody>
                    <a:bodyPr>
                      <a:noAutofit/>
                    </a:bodyPr>
                    <a:lstStyle/>
                    <a:p>
                      <a:pPr algn="l" indent="0" marL="0">
                        <a:buNone/>
                      </a:pPr>
                      <a:r>
                        <a:rPr lang="en-US" sz="1200" dirty="0">
                          <a:solidFill>
                            <a:srgbClr val="000000"/>
                          </a:solidFill>
                          <a:latin typeface="Arial" pitchFamily="34" charset="0"/>
                          <a:ea typeface="Arial" pitchFamily="34" charset="-122"/>
                          <a:cs typeface="Arial" pitchFamily="34" charset="-120"/>
                        </a:rPr>
                        <a:t>Confirm release</a:t>
                      </a:r>
                      <a:endParaRPr lang="en-US" sz="1200" dirty="0">
                        <a:latin typeface="Arial" charset="0"/>
                        <a:ea typeface="Arial" charset="0"/>
                        <a:cs typeface="Arial" charset="0"/>
                      </a:endParaRPr>
                    </a:p>
                    <a:p>
                      <a:pPr algn="l" indent="0" marL="0">
                        <a:buNone/>
                      </a:pPr>
                      <a:r>
                        <a:rPr lang="en-US" sz="1200" dirty="0">
                          <a:solidFill>
                            <a:srgbClr val="000000"/>
                          </a:solidFill>
                          <a:latin typeface="Arial" pitchFamily="34" charset="0"/>
                          <a:ea typeface="Arial" pitchFamily="34" charset="-122"/>
                          <a:cs typeface="Arial" pitchFamily="34" charset="-120"/>
                        </a:rPr>
                        <a:t>approval</a:t>
                      </a:r>
                      <a:endParaRPr lang="en-US" sz="1200" dirty="0">
                        <a:latin typeface="Arial" charset="0"/>
                        <a:ea typeface="Arial" charset="0"/>
                        <a:cs typeface="Arial" charset="0"/>
                      </a:endParaRPr>
                    </a:p>
                  </a:txBody>
                  <a:tcPr marL="101600" marR="101600" marT="25400" marB="25400" anchor="ctr">
                    <a:lnL w="6350" cap="flat" cmpd="sng" algn="ctr">
                      <a:solidFill>
                        <a:srgbClr val="B5B5B5"/>
                      </a:solidFill>
                      <a:prstDash val="solid"/>
                      <a:round/>
                      <a:headEnd type="none" w="med" len="med"/>
                      <a:tailEnd type="none" w="med" len="med"/>
                    </a:lnL>
                    <a:lnR w="6350" cap="flat" cmpd="sng" algn="ctr">
                      <a:solidFill>
                        <a:srgbClr val="B5B5B5"/>
                      </a:solidFill>
                      <a:prstDash val="solid"/>
                      <a:round/>
                      <a:headEnd type="none" w="med" len="med"/>
                      <a:tailEnd type="none" w="med" len="med"/>
                    </a:lnR>
                    <a:lnT w="6350" cap="flat" cmpd="sng" algn="ctr">
                      <a:solidFill>
                        <a:srgbClr val="B5B5B5"/>
                      </a:solidFill>
                      <a:prstDash val="solid"/>
                      <a:round/>
                      <a:headEnd type="none" w="med" len="med"/>
                      <a:tailEnd type="none" w="med" len="med"/>
                    </a:lnT>
                    <a:lnB w="6350" cap="flat" cmpd="sng" algn="ctr">
                      <a:solidFill>
                        <a:srgbClr val="B5B5B5"/>
                      </a:solidFill>
                      <a:prstDash val="solid"/>
                      <a:round/>
                      <a:headEnd type="none" w="med" len="med"/>
                      <a:tailEnd type="none" w="med" len="med"/>
                    </a:lnB>
                    <a:solidFill>
                      <a:srgbClr val="F5F7F8"/>
                    </a:solidFill>
                  </a:tcPr>
                </a:tc>
              </a:tr>
            </a:tbl>
          </a:graphicData>
        </a:graphic>
      </p:graphicFrame>
      <p:cxnSp>
        <p:nvCxnSpPr>
          <p:cNvPr id="11" name="SC_CONNECTOR__forward-1__0"/>
          <p:cNvCxnSpPr/>
          <p:nvPr/>
        </p:nvCxnSpPr>
        <p:spPr>
          <a:xfrm>
            <a:off x="2184400" y="1952625"/>
            <a:ext cx="635000" cy="0"/>
          </a:xfrm>
          <a:prstGeom prst="line">
            <a:avLst/>
          </a:prstGeom>
          <a:noFill/>
          <a:ln w="19050">
            <a:solidFill>
              <a:srgbClr val="FD5108"/>
            </a:solidFill>
            <a:prstDash val="solid"/>
            <a:round/>
            <a:headEnd type="none"/>
            <a:tailEnd type="triangle" w="lg" len="lg"/>
          </a:ln>
        </p:spPr>
      </p:cxnSp>
      <p:cxnSp>
        <p:nvCxnSpPr>
          <p:cNvPr id="12" name="SC_CONNECTOR__forward-2__0"/>
          <p:cNvCxnSpPr/>
          <p:nvPr/>
        </p:nvCxnSpPr>
        <p:spPr>
          <a:xfrm>
            <a:off x="4425950" y="1952625"/>
            <a:ext cx="615950" cy="0"/>
          </a:xfrm>
          <a:prstGeom prst="line">
            <a:avLst/>
          </a:prstGeom>
          <a:noFill/>
          <a:ln w="19050">
            <a:solidFill>
              <a:srgbClr val="FD5108"/>
            </a:solidFill>
            <a:prstDash val="solid"/>
            <a:round/>
            <a:headEnd type="none"/>
            <a:tailEnd type="triangle" w="lg" len="lg"/>
          </a:ln>
        </p:spPr>
      </p:cxnSp>
      <p:cxnSp>
        <p:nvCxnSpPr>
          <p:cNvPr id="13" name="SC_CONNECTOR__forward-3__0"/>
          <p:cNvCxnSpPr/>
          <p:nvPr/>
        </p:nvCxnSpPr>
        <p:spPr>
          <a:xfrm>
            <a:off x="6661150" y="1952625"/>
            <a:ext cx="603250" cy="0"/>
          </a:xfrm>
          <a:prstGeom prst="line">
            <a:avLst/>
          </a:prstGeom>
          <a:noFill/>
          <a:ln w="19050">
            <a:solidFill>
              <a:srgbClr val="FD5108"/>
            </a:solidFill>
            <a:prstDash val="solid"/>
            <a:round/>
            <a:headEnd type="none"/>
            <a:tailEnd type="triangle" w="lg" len="lg"/>
          </a:ln>
        </p:spPr>
      </p:cxnSp>
      <p:sp>
        <p:nvSpPr>
          <p:cNvPr id="14" name="source-correction"/>
          <p:cNvSpPr/>
          <p:nvPr/>
        </p:nvSpPr>
        <p:spPr>
          <a:xfrm>
            <a:off x="2349500" y="4521200"/>
            <a:ext cx="1936750" cy="501650"/>
          </a:xfrm>
          <a:custGeom>
            <a:avLst/>
            <a:gdLst/>
            <a:ahLst/>
            <a:cxnLst/>
            <a:rect l="l" t="t" r="r" b="b"/>
            <a:pathLst>
              <a:path w="1936750" h="501650">
                <a:moveTo>
                  <a:pt x="1917700" y="0"/>
                </a:moveTo>
                <a:lnTo>
                  <a:pt x="1917700" y="330200"/>
                </a:lnTo>
                <a:cubicBezTo>
                  <a:pt x="1917700" y="419100"/>
                  <a:pt x="1847850" y="482600"/>
                  <a:pt x="1758950" y="482600"/>
                </a:cubicBezTo>
                <a:lnTo>
                  <a:pt x="234950" y="482600"/>
                </a:lnTo>
                <a:cubicBezTo>
                  <a:pt x="146050" y="482600"/>
                  <a:pt x="76200" y="419100"/>
                  <a:pt x="76200" y="330200"/>
                </a:cubicBezTo>
                <a:lnTo>
                  <a:pt x="76200" y="0"/>
                </a:lnTo>
              </a:path>
            </a:pathLst>
          </a:custGeom>
          <a:solidFill>
            <a:srgbClr val="FFFFFF">
              <a:alpha val="0"/>
            </a:srgbClr>
          </a:solidFill>
          <a:ln w="19050">
            <a:solidFill>
              <a:srgbClr val="FD5108"/>
            </a:solidFill>
            <a:prstDash val="solid"/>
            <a:headEnd type="none"/>
            <a:tailEnd type="triangle"/>
          </a:ln>
        </p:spPr>
      </p:sp>
      <p:sp>
        <p:nvSpPr>
          <p:cNvPr id="15" name="expert-rejection"/>
          <p:cNvSpPr/>
          <p:nvPr/>
        </p:nvSpPr>
        <p:spPr>
          <a:xfrm>
            <a:off x="4781550" y="4521200"/>
            <a:ext cx="2044700" cy="501650"/>
          </a:xfrm>
          <a:custGeom>
            <a:avLst/>
            <a:gdLst/>
            <a:ahLst/>
            <a:cxnLst/>
            <a:rect l="l" t="t" r="r" b="b"/>
            <a:pathLst>
              <a:path w="2044700" h="501650">
                <a:moveTo>
                  <a:pt x="2025650" y="0"/>
                </a:moveTo>
                <a:lnTo>
                  <a:pt x="2025650" y="330200"/>
                </a:lnTo>
                <a:cubicBezTo>
                  <a:pt x="2025650" y="419100"/>
                  <a:pt x="1955800" y="482600"/>
                  <a:pt x="1866900" y="482600"/>
                </a:cubicBezTo>
                <a:lnTo>
                  <a:pt x="234950" y="482600"/>
                </a:lnTo>
                <a:cubicBezTo>
                  <a:pt x="146050" y="482600"/>
                  <a:pt x="76200" y="419100"/>
                  <a:pt x="76200" y="330200"/>
                </a:cubicBezTo>
                <a:lnTo>
                  <a:pt x="76200" y="0"/>
                </a:lnTo>
              </a:path>
            </a:pathLst>
          </a:custGeom>
          <a:solidFill>
            <a:srgbClr val="FFFFFF">
              <a:alpha val="0"/>
            </a:srgbClr>
          </a:solidFill>
          <a:ln w="19050">
            <a:solidFill>
              <a:srgbClr val="FD5108"/>
            </a:solidFill>
            <a:prstDash val="solid"/>
            <a:headEnd type="none"/>
            <a:tailEnd type="triangle"/>
          </a:ln>
        </p:spPr>
      </p:sp>
      <p:sp>
        <p:nvSpPr>
          <p:cNvPr id="16" name="headline"/>
          <p:cNvSpPr txBox="1"/>
          <p:nvPr/>
        </p:nvSpPr>
        <p:spPr>
          <a:xfrm>
            <a:off x="292100" y="450850"/>
            <a:ext cx="11588750" cy="5588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Keep expert ownership at every release</a:t>
            </a:r>
            <a:endParaRPr lang="en-US" sz="3200" dirty="0" spc="0"/>
          </a:p>
        </p:txBody>
      </p:sp>
      <p:sp>
        <p:nvSpPr>
          <p:cNvPr id="17" name="subtitle"/>
          <p:cNvSpPr txBox="1"/>
          <p:nvPr/>
        </p:nvSpPr>
        <p:spPr>
          <a:xfrm>
            <a:off x="298450" y="1022350"/>
            <a:ext cx="11588750" cy="3238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A controlled path from permissioned evidence to approved client work.</a:t>
            </a:r>
            <a:endParaRPr lang="en-US" sz="1600" dirty="0" spc="0"/>
          </a:p>
        </p:txBody>
      </p:sp>
      <p:sp>
        <p:nvSpPr>
          <p:cNvPr id="18" name="stage-1-label"/>
          <p:cNvSpPr txBox="1"/>
          <p:nvPr/>
        </p:nvSpPr>
        <p:spPr>
          <a:xfrm>
            <a:off x="628650" y="1720850"/>
            <a:ext cx="149225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Approved</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sources</a:t>
            </a:r>
            <a:endParaRPr lang="en-US" sz="1400" dirty="0" spc="0"/>
          </a:p>
        </p:txBody>
      </p:sp>
      <p:sp>
        <p:nvSpPr>
          <p:cNvPr id="19" name="stage-2-label"/>
          <p:cNvSpPr txBox="1"/>
          <p:nvPr/>
        </p:nvSpPr>
        <p:spPr>
          <a:xfrm>
            <a:off x="2882900" y="1720850"/>
            <a:ext cx="147955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Grounded</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draft</a:t>
            </a:r>
            <a:endParaRPr lang="en-US" sz="1400" dirty="0" spc="0"/>
          </a:p>
        </p:txBody>
      </p:sp>
      <p:sp>
        <p:nvSpPr>
          <p:cNvPr id="20" name="stage-3-label"/>
          <p:cNvSpPr txBox="1"/>
          <p:nvPr/>
        </p:nvSpPr>
        <p:spPr>
          <a:xfrm>
            <a:off x="5105400" y="1720850"/>
            <a:ext cx="149225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Expert</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review</a:t>
            </a:r>
            <a:endParaRPr lang="en-US" sz="1400" dirty="0" spc="0"/>
          </a:p>
        </p:txBody>
      </p:sp>
      <p:sp>
        <p:nvSpPr>
          <p:cNvPr id="21" name="stage-4-label"/>
          <p:cNvSpPr txBox="1"/>
          <p:nvPr/>
        </p:nvSpPr>
        <p:spPr>
          <a:xfrm>
            <a:off x="7327900" y="1720850"/>
            <a:ext cx="1676400" cy="488950"/>
          </a:xfrm>
          <a:prstGeom prst="rect">
            <a:avLst/>
          </a:prstGeom>
          <a:noFill/>
          <a:ln/>
        </p:spPr>
        <p:txBody>
          <a:bodyPr wrap="square" lIns="12700" tIns="12700" rIns="12700" bIns="12700" rtlCol="0" anchor="t">
            <a:noAutofit/>
          </a:bodyPr>
          <a:lstStyle/>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Client-ready</a:t>
            </a:r>
            <a:endParaRPr lang="en-US" sz="1400" dirty="0" spc="0"/>
          </a:p>
          <a:p>
            <a:pPr algn="ctr" indent="0" marL="0">
              <a:lnSpc>
                <a:spcPct val="95000"/>
              </a:lnSpc>
              <a:buNone/>
              <a:defRPr spc="0"/>
            </a:pPr>
            <a:r>
              <a:rPr lang="en-US" sz="1400" b="1" dirty="0" spc="0">
                <a:solidFill>
                  <a:srgbClr val="000000"/>
                </a:solidFill>
                <a:latin typeface="Arial" pitchFamily="34" charset="0"/>
                <a:ea typeface="Arial" pitchFamily="34" charset="-122"/>
                <a:cs typeface="Arial" pitchFamily="34" charset="-120"/>
              </a:rPr>
              <a:t>output</a:t>
            </a:r>
            <a:endParaRPr lang="en-US" sz="1400" dirty="0" spc="0"/>
          </a:p>
        </p:txBody>
      </p:sp>
      <p:sp>
        <p:nvSpPr>
          <p:cNvPr id="22" name="source-correction-label"/>
          <p:cNvSpPr txBox="1"/>
          <p:nvPr/>
        </p:nvSpPr>
        <p:spPr>
          <a:xfrm>
            <a:off x="2070100" y="5080000"/>
            <a:ext cx="286385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Correct sources via exception register</a:t>
            </a:r>
            <a:endParaRPr lang="en-US" sz="1200" dirty="0" spc="0"/>
          </a:p>
        </p:txBody>
      </p:sp>
      <p:sp>
        <p:nvSpPr>
          <p:cNvPr id="23" name="expert-rejection-label"/>
          <p:cNvSpPr txBox="1"/>
          <p:nvPr/>
        </p:nvSpPr>
        <p:spPr>
          <a:xfrm>
            <a:off x="4978400" y="5080000"/>
            <a:ext cx="2159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Reject with defect reasons</a:t>
            </a:r>
            <a:endParaRPr lang="en-US" sz="1200" dirty="0" spc="0"/>
          </a:p>
        </p:txBody>
      </p:sp>
      <p:sp>
        <p:nvSpPr>
          <p:cNvPr id="24" name="shared-controls-heading"/>
          <p:cNvSpPr txBox="1"/>
          <p:nvPr/>
        </p:nvSpPr>
        <p:spPr>
          <a:xfrm>
            <a:off x="9620250" y="2019300"/>
            <a:ext cx="2266950" cy="292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SHARED CONTROLS</a:t>
            </a:r>
            <a:endParaRPr lang="en-US" sz="1400" dirty="0" spc="0"/>
          </a:p>
        </p:txBody>
      </p:sp>
      <p:sp>
        <p:nvSpPr>
          <p:cNvPr id="25" name="shared-register"/>
          <p:cNvSpPr txBox="1"/>
          <p:nvPr/>
        </p:nvSpPr>
        <p:spPr>
          <a:xfrm>
            <a:off x="9779000" y="2336800"/>
            <a:ext cx="2101850" cy="5842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One register records</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defects, owners and</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disposition.</a:t>
            </a:r>
            <a:endParaRPr lang="en-US" sz="1400" dirty="0" spc="0"/>
          </a:p>
        </p:txBody>
      </p:sp>
      <p:sp>
        <p:nvSpPr>
          <p:cNvPr id="26" name="platform-controls"/>
          <p:cNvSpPr txBox="1"/>
          <p:nvPr/>
        </p:nvSpPr>
        <p:spPr>
          <a:xfrm>
            <a:off x="9779000" y="2895600"/>
            <a:ext cx="2101850" cy="5715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Platform team maintains</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access controls and</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audit logs.</a:t>
            </a:r>
            <a:endParaRPr lang="en-US" sz="1400" dirty="0" spc="0"/>
          </a:p>
        </p:txBody>
      </p:sp>
      <p:sp>
        <p:nvSpPr>
          <p:cNvPr id="27" name="measurement-heading"/>
          <p:cNvSpPr txBox="1"/>
          <p:nvPr/>
        </p:nvSpPr>
        <p:spPr>
          <a:xfrm>
            <a:off x="9620250" y="3670300"/>
            <a:ext cx="2266950" cy="2921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PILOT MEASUREMENT</a:t>
            </a:r>
            <a:endParaRPr lang="en-US" sz="1400" dirty="0" spc="0"/>
          </a:p>
        </p:txBody>
      </p:sp>
      <p:sp>
        <p:nvSpPr>
          <p:cNvPr id="28" name="baseline-measurement"/>
          <p:cNvSpPr txBox="1"/>
          <p:nvPr/>
        </p:nvSpPr>
        <p:spPr>
          <a:xfrm>
            <a:off x="9779000" y="4006850"/>
            <a:ext cx="2101850" cy="5842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Compare 20 paired</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tasks with baseline time</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logs.</a:t>
            </a:r>
            <a:endParaRPr lang="en-US" sz="1400" dirty="0" spc="0"/>
          </a:p>
        </p:txBody>
      </p:sp>
      <p:sp>
        <p:nvSpPr>
          <p:cNvPr id="29" name="review-measurement"/>
          <p:cNvSpPr txBox="1"/>
          <p:nvPr/>
        </p:nvSpPr>
        <p:spPr>
          <a:xfrm>
            <a:off x="9779000" y="4603750"/>
            <a:ext cx="2101850" cy="584200"/>
          </a:xfrm>
          <a:prstGeom prst="rect">
            <a:avLst/>
          </a:prstGeom>
          <a:noFill/>
          <a:ln/>
        </p:spPr>
        <p:txBody>
          <a:bodyPr wrap="square" lIns="12700" tIns="12700" rIns="12700" bIns="12700" rtlCol="0" anchor="t">
            <a:noAutofit/>
          </a:bodyPr>
          <a:lstStyle/>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Verify claim samples</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and record expert review</a:t>
            </a:r>
            <a:endParaRPr lang="en-US" sz="1400" dirty="0" spc="0"/>
          </a:p>
          <a:p>
            <a:pPr algn="l" indent="0" marL="0">
              <a:lnSpc>
                <a:spcPct val="85000"/>
              </a:lnSpc>
              <a:buNone/>
              <a:defRPr spc="0"/>
            </a:pPr>
            <a:r>
              <a:rPr lang="en-US" sz="1400" dirty="0" spc="0">
                <a:solidFill>
                  <a:srgbClr val="000000"/>
                </a:solidFill>
                <a:latin typeface="Arial" pitchFamily="34" charset="0"/>
                <a:ea typeface="Arial" pitchFamily="34" charset="-122"/>
                <a:cs typeface="Arial" pitchFamily="34" charset="-120"/>
              </a:rPr>
              <a:t>effort.</a:t>
            </a:r>
            <a:endParaRPr lang="en-US" sz="1400" dirty="0" spc="0"/>
          </a:p>
        </p:txBody>
      </p:sp>
      <p:sp>
        <p:nvSpPr>
          <p:cNvPr id="30" name="list-bullet-1"/>
          <p:cNvSpPr/>
          <p:nvPr/>
        </p:nvSpPr>
        <p:spPr>
          <a:xfrm>
            <a:off x="9632950" y="2413000"/>
            <a:ext cx="50800" cy="50800"/>
          </a:xfrm>
          <a:prstGeom prst="ellipse">
            <a:avLst/>
          </a:prstGeom>
          <a:solidFill>
            <a:srgbClr val="000000"/>
          </a:solidFill>
          <a:ln w="12700">
            <a:solidFill>
              <a:srgbClr val="FFFFFF">
                <a:alpha val="0"/>
              </a:srgbClr>
            </a:solidFill>
            <a:prstDash val="solid"/>
          </a:ln>
        </p:spPr>
      </p:sp>
      <p:sp>
        <p:nvSpPr>
          <p:cNvPr id="31" name="list-bullet-2"/>
          <p:cNvSpPr/>
          <p:nvPr/>
        </p:nvSpPr>
        <p:spPr>
          <a:xfrm>
            <a:off x="9632950" y="2971800"/>
            <a:ext cx="50800" cy="50800"/>
          </a:xfrm>
          <a:prstGeom prst="ellipse">
            <a:avLst/>
          </a:prstGeom>
          <a:solidFill>
            <a:srgbClr val="000000"/>
          </a:solidFill>
          <a:ln w="12700">
            <a:solidFill>
              <a:srgbClr val="FFFFFF">
                <a:alpha val="0"/>
              </a:srgbClr>
            </a:solidFill>
            <a:prstDash val="solid"/>
          </a:ln>
        </p:spPr>
      </p:sp>
      <p:sp>
        <p:nvSpPr>
          <p:cNvPr id="32" name="list-bullet-3"/>
          <p:cNvSpPr/>
          <p:nvPr/>
        </p:nvSpPr>
        <p:spPr>
          <a:xfrm>
            <a:off x="9632950" y="4083050"/>
            <a:ext cx="50800" cy="50800"/>
          </a:xfrm>
          <a:prstGeom prst="ellipse">
            <a:avLst/>
          </a:prstGeom>
          <a:solidFill>
            <a:srgbClr val="000000"/>
          </a:solidFill>
          <a:ln w="12700">
            <a:solidFill>
              <a:srgbClr val="FFFFFF">
                <a:alpha val="0"/>
              </a:srgbClr>
            </a:solidFill>
            <a:prstDash val="solid"/>
          </a:ln>
        </p:spPr>
      </p:sp>
      <p:sp>
        <p:nvSpPr>
          <p:cNvPr id="33" name="list-bullet-4"/>
          <p:cNvSpPr/>
          <p:nvPr/>
        </p:nvSpPr>
        <p:spPr>
          <a:xfrm>
            <a:off x="9632950" y="4679950"/>
            <a:ext cx="50800" cy="50800"/>
          </a:xfrm>
          <a:prstGeom prst="ellipse">
            <a:avLst/>
          </a:prstGeom>
          <a:solidFill>
            <a:srgbClr val="000000"/>
          </a:solidFill>
          <a:ln w="12700">
            <a:solidFill>
              <a:srgbClr val="FFFFFF">
                <a:alpha val="0"/>
              </a:srgbClr>
            </a:solidFill>
            <a:prstDash val="solid"/>
          </a:ln>
        </p:spPr>
      </p:sp>
      <p:sp>
        <p:nvSpPr>
          <p:cNvPr id="34" name="decision-label"/>
          <p:cNvSpPr txBox="1"/>
          <p:nvPr/>
        </p:nvSpPr>
        <p:spPr>
          <a:xfrm>
            <a:off x="711200" y="5721350"/>
            <a:ext cx="1930400" cy="2984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RELEASE RULE</a:t>
            </a:r>
            <a:endParaRPr lang="en-US" sz="1400" dirty="0" spc="0"/>
          </a:p>
        </p:txBody>
      </p:sp>
      <p:sp>
        <p:nvSpPr>
          <p:cNvPr id="35" name="decision-message"/>
          <p:cNvSpPr txBox="1"/>
          <p:nvPr/>
        </p:nvSpPr>
        <p:spPr>
          <a:xfrm>
            <a:off x="2705100" y="5721350"/>
            <a:ext cx="8890000" cy="2984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client use without expert and engagement-lead sign-off.</a:t>
            </a:r>
            <a:endParaRPr lang="en-US" sz="1400" dirty="0" spc="0"/>
          </a:p>
        </p:txBody>
      </p:sp>
      <p:sp>
        <p:nvSpPr>
          <p:cNvPr id="36"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Expert ownership at every release</dc:title>
  <dc:subject>Editable presentation generated from SlidePoise scene contracts</dc:subject>
  <dc:creator>SlidePoise</dc:creator>
  <cp:lastModifiedBy>SlidePoise</cp:lastModifiedBy>
  <cp:revision>1</cp:revision>
  <dcterms:created xsi:type="dcterms:W3CDTF">2026-09-05T14:26:25Z</dcterms:created>
  <dcterms:modified xsi:type="dcterms:W3CDTF">2026-09-05T14:26:25Z</dcterms:modified>
</cp:coreProperties>
</file>