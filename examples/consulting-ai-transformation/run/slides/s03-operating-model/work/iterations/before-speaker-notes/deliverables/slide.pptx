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/Users/henry/Codes/AI_slide_drafting/output/showcase-revisions/consulting-v3-authoring/slides/s03-operating-model/work/accepted-slide.png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304800" y="1454150"/>
            <a:ext cx="11582400" cy="12700"/>
          </a:xfrm>
          <a:prstGeom prst="rect">
            <a:avLst/>
          </a:prstGeom>
          <a:solidFill>
            <a:srgbClr val="9999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tage-1"/>
          <p:cNvSpPr/>
          <p:nvPr/>
        </p:nvSpPr>
        <p:spPr>
          <a:xfrm>
            <a:off x="565150" y="1663700"/>
            <a:ext cx="1619250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D5108"/>
            </a:solidFill>
            <a:prstDash val="solid"/>
          </a:ln>
        </p:spPr>
      </p:sp>
      <p:sp>
        <p:nvSpPr>
          <p:cNvPr id="4" name="stage-2"/>
          <p:cNvSpPr/>
          <p:nvPr/>
        </p:nvSpPr>
        <p:spPr>
          <a:xfrm>
            <a:off x="2819400" y="1663700"/>
            <a:ext cx="1606550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D5108"/>
            </a:solidFill>
            <a:prstDash val="solid"/>
          </a:ln>
        </p:spPr>
      </p:sp>
      <p:sp>
        <p:nvSpPr>
          <p:cNvPr id="5" name="stage-3"/>
          <p:cNvSpPr/>
          <p:nvPr/>
        </p:nvSpPr>
        <p:spPr>
          <a:xfrm>
            <a:off x="5041900" y="1663700"/>
            <a:ext cx="1619250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D5108"/>
            </a:solidFill>
            <a:prstDash val="solid"/>
          </a:ln>
        </p:spPr>
      </p:sp>
      <p:sp>
        <p:nvSpPr>
          <p:cNvPr id="6" name="stage-4"/>
          <p:cNvSpPr/>
          <p:nvPr/>
        </p:nvSpPr>
        <p:spPr>
          <a:xfrm>
            <a:off x="7264400" y="1663700"/>
            <a:ext cx="1803400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D5108"/>
            </a:solidFill>
            <a:prstDash val="solid"/>
          </a:ln>
        </p:spPr>
      </p:sp>
      <p:sp>
        <p:nvSpPr>
          <p:cNvPr id="7" name="shared-divider"/>
          <p:cNvSpPr/>
          <p:nvPr/>
        </p:nvSpPr>
        <p:spPr>
          <a:xfrm>
            <a:off x="9620250" y="3492500"/>
            <a:ext cx="2260600" cy="6350"/>
          </a:xfrm>
          <a:prstGeom prst="rect">
            <a:avLst/>
          </a:prstGeom>
          <a:solidFill>
            <a:srgbClr val="B5B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cision-band"/>
          <p:cNvSpPr/>
          <p:nvPr/>
        </p:nvSpPr>
        <p:spPr>
          <a:xfrm>
            <a:off x="304800" y="5441950"/>
            <a:ext cx="11582400" cy="80645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decision-accent"/>
          <p:cNvSpPr/>
          <p:nvPr/>
        </p:nvSpPr>
        <p:spPr>
          <a:xfrm>
            <a:off x="304800" y="5441950"/>
            <a:ext cx="50800" cy="8064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0" name="responsibility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1150" y="2406650"/>
          <a:ext cx="9042400" cy="2114550"/>
        </p:xfrm>
        <a:graphic>
          <a:graphicData uri="http://schemas.openxmlformats.org/drawingml/2006/table">
            <a:tbl>
              <a:tblPr/>
              <a:tblGrid>
                <a:gridCol w="1758950"/>
                <a:gridCol w="1828800"/>
                <a:gridCol w="1866900"/>
                <a:gridCol w="1746250"/>
                <a:gridCol w="1841500"/>
              </a:tblGrid>
              <a:tr h="349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draft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Client-ready 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27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Corpus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pack + task brief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+ evidence trail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Signed draft + resolved defects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Versioned source pack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Cited draft + uncertainty flags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Signed review or defect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Authorized client deliverable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064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steward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team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 reviewer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permissions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citations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evidence gaps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claims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quality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release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cxnSp>
        <p:nvCxnSpPr>
          <p:cNvPr id="11" name="SC_CONNECTOR__forward-1__0"/>
          <p:cNvCxnSpPr/>
          <p:nvPr/>
        </p:nvCxnSpPr>
        <p:spPr>
          <a:xfrm>
            <a:off x="2184400" y="1952625"/>
            <a:ext cx="635000" cy="0"/>
          </a:xfrm>
          <a:prstGeom prst="line">
            <a:avLst/>
          </a:prstGeom>
          <a:noFill/>
          <a:ln w="19050">
            <a:solidFill>
              <a:srgbClr val="FD5108"/>
            </a:solidFill>
            <a:prstDash val="solid"/>
            <a:round/>
            <a:headEnd type="none"/>
            <a:tailEnd type="triangle" w="lg" len="lg"/>
          </a:ln>
        </p:spPr>
      </p:cxnSp>
      <p:cxnSp>
        <p:nvCxnSpPr>
          <p:cNvPr id="12" name="SC_CONNECTOR__forward-2__0"/>
          <p:cNvCxnSpPr/>
          <p:nvPr/>
        </p:nvCxnSpPr>
        <p:spPr>
          <a:xfrm>
            <a:off x="4425950" y="1952625"/>
            <a:ext cx="615950" cy="0"/>
          </a:xfrm>
          <a:prstGeom prst="line">
            <a:avLst/>
          </a:prstGeom>
          <a:noFill/>
          <a:ln w="19050">
            <a:solidFill>
              <a:srgbClr val="FD5108"/>
            </a:solidFill>
            <a:prstDash val="solid"/>
            <a:round/>
            <a:headEnd type="none"/>
            <a:tailEnd type="triangle" w="lg" len="lg"/>
          </a:ln>
        </p:spPr>
      </p:cxnSp>
      <p:cxnSp>
        <p:nvCxnSpPr>
          <p:cNvPr id="13" name="SC_CONNECTOR__forward-3__0"/>
          <p:cNvCxnSpPr/>
          <p:nvPr/>
        </p:nvCxnSpPr>
        <p:spPr>
          <a:xfrm>
            <a:off x="6661150" y="1952625"/>
            <a:ext cx="603250" cy="0"/>
          </a:xfrm>
          <a:prstGeom prst="line">
            <a:avLst/>
          </a:prstGeom>
          <a:noFill/>
          <a:ln w="19050">
            <a:solidFill>
              <a:srgbClr val="FD5108"/>
            </a:solidFill>
            <a:prstDash val="solid"/>
            <a:round/>
            <a:headEnd type="none"/>
            <a:tailEnd type="triangle" w="lg" len="lg"/>
          </a:ln>
        </p:spPr>
      </p:cxnSp>
      <p:sp>
        <p:nvSpPr>
          <p:cNvPr id="14" name="source-correction"/>
          <p:cNvSpPr/>
          <p:nvPr/>
        </p:nvSpPr>
        <p:spPr>
          <a:xfrm>
            <a:off x="2349500" y="4521200"/>
            <a:ext cx="1936750" cy="501650"/>
          </a:xfrm>
          <a:custGeom>
            <a:avLst/>
            <a:gdLst/>
            <a:ahLst/>
            <a:cxnLst/>
            <a:rect l="l" t="t" r="r" b="b"/>
            <a:pathLst>
              <a:path w="1936750" h="501650">
                <a:moveTo>
                  <a:pt x="1917700" y="0"/>
                </a:moveTo>
                <a:lnTo>
                  <a:pt x="1917700" y="330200"/>
                </a:lnTo>
                <a:cubicBezTo>
                  <a:pt x="1917700" y="419100"/>
                  <a:pt x="1847850" y="482600"/>
                  <a:pt x="1758950" y="482600"/>
                </a:cubicBezTo>
                <a:lnTo>
                  <a:pt x="234950" y="482600"/>
                </a:lnTo>
                <a:cubicBezTo>
                  <a:pt x="146050" y="482600"/>
                  <a:pt x="76200" y="419100"/>
                  <a:pt x="76200" y="330200"/>
                </a:cubicBezTo>
                <a:lnTo>
                  <a:pt x="76200" y="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D5108"/>
            </a:solidFill>
            <a:prstDash val="solid"/>
            <a:headEnd type="none"/>
            <a:tailEnd type="triangle"/>
          </a:ln>
        </p:spPr>
      </p:sp>
      <p:sp>
        <p:nvSpPr>
          <p:cNvPr id="15" name="expert-rejection"/>
          <p:cNvSpPr/>
          <p:nvPr/>
        </p:nvSpPr>
        <p:spPr>
          <a:xfrm>
            <a:off x="4781550" y="4521200"/>
            <a:ext cx="2044700" cy="501650"/>
          </a:xfrm>
          <a:custGeom>
            <a:avLst/>
            <a:gdLst/>
            <a:ahLst/>
            <a:cxnLst/>
            <a:rect l="l" t="t" r="r" b="b"/>
            <a:pathLst>
              <a:path w="2044700" h="501650">
                <a:moveTo>
                  <a:pt x="2025650" y="0"/>
                </a:moveTo>
                <a:lnTo>
                  <a:pt x="2025650" y="330200"/>
                </a:lnTo>
                <a:cubicBezTo>
                  <a:pt x="2025650" y="419100"/>
                  <a:pt x="1955800" y="482600"/>
                  <a:pt x="1866900" y="482600"/>
                </a:cubicBezTo>
                <a:lnTo>
                  <a:pt x="234950" y="482600"/>
                </a:lnTo>
                <a:cubicBezTo>
                  <a:pt x="146050" y="482600"/>
                  <a:pt x="76200" y="419100"/>
                  <a:pt x="76200" y="330200"/>
                </a:cubicBezTo>
                <a:lnTo>
                  <a:pt x="76200" y="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D5108"/>
            </a:solidFill>
            <a:prstDash val="solid"/>
            <a:headEnd type="none"/>
            <a:tailEnd type="triangle"/>
          </a:ln>
        </p:spPr>
      </p:sp>
      <p:sp>
        <p:nvSpPr>
          <p:cNvPr id="16" name="headline"/>
          <p:cNvSpPr txBox="1"/>
          <p:nvPr/>
        </p:nvSpPr>
        <p:spPr>
          <a:xfrm>
            <a:off x="292100" y="450850"/>
            <a:ext cx="11588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expert ownership at every release</a:t>
            </a:r>
            <a:endParaRPr lang="en-US" sz="3200" dirty="0" spc="0"/>
          </a:p>
        </p:txBody>
      </p:sp>
      <p:sp>
        <p:nvSpPr>
          <p:cNvPr id="17" name="subtitle"/>
          <p:cNvSpPr txBox="1"/>
          <p:nvPr/>
        </p:nvSpPr>
        <p:spPr>
          <a:xfrm>
            <a:off x="298450" y="1022350"/>
            <a:ext cx="1158875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path from permissioned evidence to approved client work.</a:t>
            </a:r>
            <a:endParaRPr lang="en-US" sz="1600" dirty="0" spc="0"/>
          </a:p>
        </p:txBody>
      </p:sp>
      <p:sp>
        <p:nvSpPr>
          <p:cNvPr id="18" name="stage-1-label"/>
          <p:cNvSpPr txBox="1"/>
          <p:nvPr/>
        </p:nvSpPr>
        <p:spPr>
          <a:xfrm>
            <a:off x="628650" y="1720850"/>
            <a:ext cx="1492250" cy="488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400" dirty="0" spc="0"/>
          </a:p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400" dirty="0" spc="0"/>
          </a:p>
        </p:txBody>
      </p:sp>
      <p:sp>
        <p:nvSpPr>
          <p:cNvPr id="19" name="stage-2-label"/>
          <p:cNvSpPr txBox="1"/>
          <p:nvPr/>
        </p:nvSpPr>
        <p:spPr>
          <a:xfrm>
            <a:off x="2882900" y="1720850"/>
            <a:ext cx="1479550" cy="488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400" dirty="0" spc="0"/>
          </a:p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400" dirty="0" spc="0"/>
          </a:p>
        </p:txBody>
      </p:sp>
      <p:sp>
        <p:nvSpPr>
          <p:cNvPr id="20" name="stage-3-label"/>
          <p:cNvSpPr txBox="1"/>
          <p:nvPr/>
        </p:nvSpPr>
        <p:spPr>
          <a:xfrm>
            <a:off x="5105400" y="1720850"/>
            <a:ext cx="1492250" cy="488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400" dirty="0" spc="0"/>
          </a:p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 spc="0"/>
          </a:p>
        </p:txBody>
      </p:sp>
      <p:sp>
        <p:nvSpPr>
          <p:cNvPr id="21" name="stage-4-label"/>
          <p:cNvSpPr txBox="1"/>
          <p:nvPr/>
        </p:nvSpPr>
        <p:spPr>
          <a:xfrm>
            <a:off x="7327900" y="1720850"/>
            <a:ext cx="1676400" cy="488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Client-ready</a:t>
            </a:r>
            <a:endParaRPr lang="en-US" sz="1400" dirty="0" spc="0"/>
          </a:p>
          <a:p>
            <a:pPr algn="ctr" indent="0" marL="0">
              <a:lnSpc>
                <a:spcPct val="95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 spc="0"/>
          </a:p>
        </p:txBody>
      </p:sp>
      <p:sp>
        <p:nvSpPr>
          <p:cNvPr id="22" name="source-correction-label"/>
          <p:cNvSpPr txBox="1"/>
          <p:nvPr/>
        </p:nvSpPr>
        <p:spPr>
          <a:xfrm>
            <a:off x="2070100" y="5080000"/>
            <a:ext cx="28638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sources via exception register</a:t>
            </a:r>
            <a:endParaRPr lang="en-US" sz="1200" dirty="0" spc="0"/>
          </a:p>
        </p:txBody>
      </p:sp>
      <p:sp>
        <p:nvSpPr>
          <p:cNvPr id="23" name="expert-rejection-label"/>
          <p:cNvSpPr txBox="1"/>
          <p:nvPr/>
        </p:nvSpPr>
        <p:spPr>
          <a:xfrm>
            <a:off x="4978400" y="5080000"/>
            <a:ext cx="2159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with defect reasons</a:t>
            </a:r>
            <a:endParaRPr lang="en-US" sz="1200" dirty="0" spc="0"/>
          </a:p>
        </p:txBody>
      </p:sp>
      <p:sp>
        <p:nvSpPr>
          <p:cNvPr id="24" name="shared-controls-heading"/>
          <p:cNvSpPr txBox="1"/>
          <p:nvPr/>
        </p:nvSpPr>
        <p:spPr>
          <a:xfrm>
            <a:off x="9620250" y="2019300"/>
            <a:ext cx="2266950" cy="292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CONTROLS</a:t>
            </a:r>
            <a:endParaRPr lang="en-US" sz="1400" dirty="0" spc="0"/>
          </a:p>
        </p:txBody>
      </p:sp>
      <p:sp>
        <p:nvSpPr>
          <p:cNvPr id="25" name="shared-register"/>
          <p:cNvSpPr txBox="1"/>
          <p:nvPr/>
        </p:nvSpPr>
        <p:spPr>
          <a:xfrm>
            <a:off x="9779000" y="2336800"/>
            <a:ext cx="2101850" cy="584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register records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defects, owners and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disposition.</a:t>
            </a:r>
            <a:endParaRPr lang="en-US" sz="1400" dirty="0" spc="0"/>
          </a:p>
        </p:txBody>
      </p:sp>
      <p:sp>
        <p:nvSpPr>
          <p:cNvPr id="26" name="platform-controls"/>
          <p:cNvSpPr txBox="1"/>
          <p:nvPr/>
        </p:nvSpPr>
        <p:spPr>
          <a:xfrm>
            <a:off x="9779000" y="2895600"/>
            <a:ext cx="2101850" cy="571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team maintains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controls and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logs.</a:t>
            </a:r>
            <a:endParaRPr lang="en-US" sz="1400" dirty="0" spc="0"/>
          </a:p>
        </p:txBody>
      </p:sp>
      <p:sp>
        <p:nvSpPr>
          <p:cNvPr id="27" name="measurement-heading"/>
          <p:cNvSpPr txBox="1"/>
          <p:nvPr/>
        </p:nvSpPr>
        <p:spPr>
          <a:xfrm>
            <a:off x="9620250" y="3670300"/>
            <a:ext cx="2266950" cy="292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MEASUREMENT</a:t>
            </a:r>
            <a:endParaRPr lang="en-US" sz="1400" dirty="0" spc="0"/>
          </a:p>
        </p:txBody>
      </p:sp>
      <p:sp>
        <p:nvSpPr>
          <p:cNvPr id="28" name="baseline-measurement"/>
          <p:cNvSpPr txBox="1"/>
          <p:nvPr/>
        </p:nvSpPr>
        <p:spPr>
          <a:xfrm>
            <a:off x="9779000" y="4006850"/>
            <a:ext cx="2101850" cy="584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20 paired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with baseline time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logs.</a:t>
            </a:r>
            <a:endParaRPr lang="en-US" sz="1400" dirty="0" spc="0"/>
          </a:p>
        </p:txBody>
      </p:sp>
      <p:sp>
        <p:nvSpPr>
          <p:cNvPr id="29" name="review-measurement"/>
          <p:cNvSpPr txBox="1"/>
          <p:nvPr/>
        </p:nvSpPr>
        <p:spPr>
          <a:xfrm>
            <a:off x="9779000" y="4603750"/>
            <a:ext cx="2101850" cy="584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claim samples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record expert review</a:t>
            </a:r>
            <a:endParaRPr lang="en-US" sz="1400" dirty="0" spc="0"/>
          </a:p>
          <a:p>
            <a:pPr algn="l" indent="0" marL="0">
              <a:lnSpc>
                <a:spcPct val="8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effort.</a:t>
            </a:r>
            <a:endParaRPr lang="en-US" sz="1400" dirty="0" spc="0"/>
          </a:p>
        </p:txBody>
      </p:sp>
      <p:sp>
        <p:nvSpPr>
          <p:cNvPr id="30" name="list-bullet-1"/>
          <p:cNvSpPr/>
          <p:nvPr/>
        </p:nvSpPr>
        <p:spPr>
          <a:xfrm>
            <a:off x="9632950" y="2413000"/>
            <a:ext cx="50800" cy="50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list-bullet-2"/>
          <p:cNvSpPr/>
          <p:nvPr/>
        </p:nvSpPr>
        <p:spPr>
          <a:xfrm>
            <a:off x="9632950" y="2971800"/>
            <a:ext cx="50800" cy="50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list-bullet-3"/>
          <p:cNvSpPr/>
          <p:nvPr/>
        </p:nvSpPr>
        <p:spPr>
          <a:xfrm>
            <a:off x="9632950" y="4083050"/>
            <a:ext cx="50800" cy="50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list-bullet-4"/>
          <p:cNvSpPr/>
          <p:nvPr/>
        </p:nvSpPr>
        <p:spPr>
          <a:xfrm>
            <a:off x="9632950" y="4679950"/>
            <a:ext cx="50800" cy="50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decision-label"/>
          <p:cNvSpPr txBox="1"/>
          <p:nvPr/>
        </p:nvSpPr>
        <p:spPr>
          <a:xfrm>
            <a:off x="711200" y="5721350"/>
            <a:ext cx="1930400" cy="298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RULE</a:t>
            </a:r>
            <a:endParaRPr lang="en-US" sz="1400" dirty="0" spc="0"/>
          </a:p>
        </p:txBody>
      </p:sp>
      <p:sp>
        <p:nvSpPr>
          <p:cNvPr id="35" name="decision-message"/>
          <p:cNvSpPr txBox="1"/>
          <p:nvPr/>
        </p:nvSpPr>
        <p:spPr>
          <a:xfrm>
            <a:off x="2705100" y="5721350"/>
            <a:ext cx="8890000" cy="298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client use without expert and engagement-lead sign-off.</a:t>
            </a:r>
            <a:endParaRPr lang="en-US" sz="1400" dirty="0" spc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ownership at every release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2026-09-05T14:19:56Z</dcterms:created>
  <dcterms:modified xsi:type="dcterms:W3CDTF">2026-09-05T14:19:56Z</dcterms:modified>
</cp:coreProperties>
</file>