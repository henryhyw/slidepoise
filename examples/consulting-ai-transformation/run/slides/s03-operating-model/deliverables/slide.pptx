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scenario. Twenty paired tasks represent one research task from each of twenty pilot engagements, with ten tasks at the week-eight interim review. The sampled 95% claim-verification gate measures pilot quality. Every client claim still requires expert sign-off and every client release requires engagement-lead approval.
Rejected drafts return to the drafting team. Source exceptions return to the source steward. The editable feedback paths are regenerated from their named owners when the deck is rebuilt. Moving objects manually in PowerPoint does not reattach the paths.
[SlidePoise sources]
Generated target visual: /Users/henry/Codes/AI_slide_drafting/examples/consulting-ai-transformation/run/slides/s03-operating-model/work/accepted-slide.png
Canonical asset remix-file-search-line: /Users/henry/Codes/AI_slide_drafting/examples/consulting-ai-transformation/run/work/icon-cache/file-search/remix-file-search-line.svg
Canonical asset remix-draft-line: /Users/henry/Codes/AI_slide_drafting/examples/consulting-ai-transformation/run/work/icon-cache/draft/remix-draft-line.svg
Canonical asset remix-shield-check-line: /Users/henry/Codes/AI_slide_drafting/examples/consulting-ai-transformation/run/work/icon-cache/shield-check/remix-shield-check-line.svg
Canonical asset remix-send-plane-2-line: /Users/henry/Codes/AI_slide_drafting/examples/consulting-ai-transformation/run/work/icon-cache/send-plane-2/remix-send-plane-2-line.svg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bottom-divider"/>
          <p:cNvSpPr/>
          <p:nvPr/>
        </p:nvSpPr>
        <p:spPr>
          <a:xfrm>
            <a:off x="6083300" y="5054600"/>
            <a:ext cx="6350" cy="615950"/>
          </a:xfrm>
          <a:prstGeom prst="rect">
            <a:avLst/>
          </a:prstGeom>
          <a:solidFill>
            <a:srgbClr val="B7BCC2"/>
          </a:solidFill>
          <a:ln w="12700">
            <a:solidFill>
              <a:srgbClr val="FFFFFF">
                <a:alpha val="0"/>
              </a:srgbClr>
            </a:solidFill>
            <a:prstDash val="solid"/>
          </a:ln>
        </p:spPr>
      </p:sp>
      <p:sp>
        <p:nvSpPr>
          <p:cNvPr id="3"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4"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sp>
        <p:nvSpPr>
          <p:cNvPr id="5" name="shared-controls-1-bullet"/>
          <p:cNvSpPr/>
          <p:nvPr/>
        </p:nvSpPr>
        <p:spPr>
          <a:xfrm>
            <a:off x="330200" y="5289550"/>
            <a:ext cx="63500" cy="63500"/>
          </a:xfrm>
          <a:prstGeom prst="ellipse">
            <a:avLst/>
          </a:prstGeom>
          <a:solidFill>
            <a:srgbClr val="FD5108"/>
          </a:solidFill>
          <a:ln w="12700">
            <a:solidFill>
              <a:srgbClr val="FFFFFF">
                <a:alpha val="0"/>
              </a:srgbClr>
            </a:solidFill>
            <a:prstDash val="solid"/>
          </a:ln>
        </p:spPr>
      </p:sp>
      <p:sp>
        <p:nvSpPr>
          <p:cNvPr id="6" name="shared-controls-2-bullet"/>
          <p:cNvSpPr/>
          <p:nvPr/>
        </p:nvSpPr>
        <p:spPr>
          <a:xfrm>
            <a:off x="330200" y="5505450"/>
            <a:ext cx="63500" cy="63500"/>
          </a:xfrm>
          <a:prstGeom prst="ellipse">
            <a:avLst/>
          </a:prstGeom>
          <a:solidFill>
            <a:srgbClr val="FD5108"/>
          </a:solidFill>
          <a:ln w="12700">
            <a:solidFill>
              <a:srgbClr val="FFFFFF">
                <a:alpha val="0"/>
              </a:srgbClr>
            </a:solidFill>
            <a:prstDash val="solid"/>
          </a:ln>
        </p:spPr>
      </p:sp>
      <p:sp>
        <p:nvSpPr>
          <p:cNvPr id="7" name="measurement-1-bullet"/>
          <p:cNvSpPr/>
          <p:nvPr/>
        </p:nvSpPr>
        <p:spPr>
          <a:xfrm>
            <a:off x="6369050" y="5289550"/>
            <a:ext cx="63500" cy="63500"/>
          </a:xfrm>
          <a:prstGeom prst="ellipse">
            <a:avLst/>
          </a:prstGeom>
          <a:solidFill>
            <a:srgbClr val="FD5108"/>
          </a:solidFill>
          <a:ln w="12700">
            <a:solidFill>
              <a:srgbClr val="FFFFFF">
                <a:alpha val="0"/>
              </a:srgbClr>
            </a:solidFill>
            <a:prstDash val="solid"/>
          </a:ln>
        </p:spPr>
      </p:sp>
      <p:sp>
        <p:nvSpPr>
          <p:cNvPr id="8" name="measurement-2-bullet"/>
          <p:cNvSpPr/>
          <p:nvPr/>
        </p:nvSpPr>
        <p:spPr>
          <a:xfrm>
            <a:off x="6369050" y="5505450"/>
            <a:ext cx="63500" cy="63500"/>
          </a:xfrm>
          <a:prstGeom prst="ellipse">
            <a:avLst/>
          </a:prstGeom>
          <a:solidFill>
            <a:srgbClr val="FD5108"/>
          </a:solidFill>
          <a:ln w="12700">
            <a:solidFill>
              <a:srgbClr val="FFFFFF">
                <a:alpha val="0"/>
              </a:srgbClr>
            </a:solidFill>
            <a:prstDash val="solid"/>
          </a:ln>
        </p:spPr>
      </p:sp>
      <p:graphicFrame>
        <p:nvGraphicFramePr>
          <p:cNvPr id="9" name="responsibility-matrix"/>
          <p:cNvGraphicFramePr>
            <a:graphicFrameLocks noGrp="1"/>
          </p:cNvGraphicFramePr>
          <p:nvPr>
            <p:extLst>
              <p:ext uri="{D42A27DB-BD31-4B8C-83A1-F6EECF244321}">
                <p14:modId xmlns:p14="http://schemas.microsoft.com/office/powerpoint/2010/main" val="1579011935"/>
              </p:ext>
            </p:extLst>
          </p:nvPr>
        </p:nvGraphicFramePr>
        <p:xfrm>
          <a:off x="215900" y="3035300"/>
          <a:ext cx="11760200" cy="1892300"/>
        </p:xfrm>
        <a:graphic>
          <a:graphicData uri="http://schemas.openxmlformats.org/drawingml/2006/table">
            <a:tbl>
              <a:tblPr/>
              <a:tblGrid>
                <a:gridCol w="1866900"/>
                <a:gridCol w="2317750"/>
                <a:gridCol w="2520950"/>
                <a:gridCol w="2514600"/>
                <a:gridCol w="2540000"/>
              </a:tblGrid>
              <a:tr h="330200">
                <a:tc>
                  <a:txBody>
                    <a:bodyPr>
                      <a:noAutofit/>
                    </a:bodyPr>
                    <a:lstStyle/>
                    <a:p>
                      <a:pPr algn="l" indent="0" marL="0">
                        <a:buNone/>
                      </a:pP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Approved sources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Expert review</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Client-ready output</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302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Corpus request</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pack + task brief</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Draft + evidence trail</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draft + resolved defects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556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OUTPUT</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Versioned source pack</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Cited draft + uncertainty flags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review or defect log</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Authorized client deliverable</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365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team</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lead</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39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RELEASE CONTROL</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Verify permissions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dates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Check citations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evidence gaps</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Validate claims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quality</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Confirm release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approval</a:t>
                      </a:r>
                      <a:endParaRPr lang="en-US" sz="1200" dirty="0">
                        <a:latin typeface="Arial" charset="0"/>
                        <a:ea typeface="Arial" charset="0"/>
                        <a:cs typeface="Arial" charset="0"/>
                      </a:endParaRPr>
                    </a:p>
                  </a:txBody>
                  <a:tcPr marL="76200" marR="76200" marT="31750" marB="3175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cxnSp>
        <p:nvCxnSpPr>
          <p:cNvPr id="10" name="SC_CONNECTOR__forward-1__0"/>
          <p:cNvCxnSpPr/>
          <p:nvPr/>
        </p:nvCxnSpPr>
        <p:spPr>
          <a:xfrm>
            <a:off x="2139950" y="2159000"/>
            <a:ext cx="2197100" cy="0"/>
          </a:xfrm>
          <a:prstGeom prst="line">
            <a:avLst/>
          </a:prstGeom>
          <a:noFill/>
          <a:ln w="19050">
            <a:solidFill>
              <a:srgbClr val="FD5108"/>
            </a:solidFill>
            <a:prstDash val="solid"/>
            <a:round/>
            <a:headEnd type="none"/>
            <a:tailEnd type="triangle" w="lg" len="lg"/>
          </a:ln>
        </p:spPr>
      </p:cxnSp>
      <p:cxnSp>
        <p:nvCxnSpPr>
          <p:cNvPr id="11" name="SC_CONNECTOR__forward-2__0"/>
          <p:cNvCxnSpPr/>
          <p:nvPr/>
        </p:nvCxnSpPr>
        <p:spPr>
          <a:xfrm>
            <a:off x="4997450" y="2159000"/>
            <a:ext cx="2292350" cy="0"/>
          </a:xfrm>
          <a:prstGeom prst="line">
            <a:avLst/>
          </a:prstGeom>
          <a:noFill/>
          <a:ln w="19050">
            <a:solidFill>
              <a:srgbClr val="FD5108"/>
            </a:solidFill>
            <a:prstDash val="solid"/>
            <a:round/>
            <a:headEnd type="none"/>
            <a:tailEnd type="triangle" w="lg" len="lg"/>
          </a:ln>
        </p:spPr>
      </p:cxnSp>
      <p:cxnSp>
        <p:nvCxnSpPr>
          <p:cNvPr id="12" name="SC_CONNECTOR__forward-3__0"/>
          <p:cNvCxnSpPr/>
          <p:nvPr/>
        </p:nvCxnSpPr>
        <p:spPr>
          <a:xfrm>
            <a:off x="7950200" y="2159000"/>
            <a:ext cx="2101850" cy="0"/>
          </a:xfrm>
          <a:prstGeom prst="line">
            <a:avLst/>
          </a:prstGeom>
          <a:noFill/>
          <a:ln w="19050">
            <a:solidFill>
              <a:srgbClr val="FD5108"/>
            </a:solidFill>
            <a:prstDash val="solid"/>
            <a:round/>
            <a:headEnd type="none"/>
            <a:tailEnd type="triangle" w="lg" len="lg"/>
          </a:ln>
        </p:spPr>
      </p:cxnSp>
      <p:sp>
        <p:nvSpPr>
          <p:cNvPr id="13" name="SC_FREEFORM_ROUTE__source-return__0"/>
          <p:cNvSpPr/>
          <p:nvPr/>
        </p:nvSpPr>
        <p:spPr>
          <a:xfrm>
            <a:off x="1809750" y="1612900"/>
            <a:ext cx="2758440" cy="215900"/>
          </a:xfrm>
          <a:custGeom>
            <a:avLst/>
            <a:gdLst/>
            <a:ahLst/>
            <a:cxnLst/>
            <a:rect l="l" t="t" r="r" b="b"/>
            <a:pathLst>
              <a:path w="2758440" h="215900">
                <a:moveTo>
                  <a:pt x="2758440" y="215900"/>
                </a:moveTo>
                <a:lnTo>
                  <a:pt x="2758440" y="0"/>
                </a:lnTo>
                <a:lnTo>
                  <a:pt x="0" y="0"/>
                </a:lnTo>
                <a:lnTo>
                  <a:pt x="0" y="215900"/>
                </a:lnTo>
              </a:path>
            </a:pathLst>
          </a:custGeom>
          <a:solidFill>
            <a:srgbClr val="FFFFFF">
              <a:alpha val="0"/>
            </a:srgbClr>
          </a:solidFill>
          <a:ln w="19050">
            <a:solidFill>
              <a:srgbClr val="FD5108"/>
            </a:solidFill>
            <a:prstDash val="solid"/>
            <a:round/>
            <a:headEnd type="none"/>
            <a:tailEnd type="triangle" w="lg" len="lg"/>
          </a:ln>
        </p:spPr>
      </p:sp>
      <p:sp>
        <p:nvSpPr>
          <p:cNvPr id="14" name="SC_FREEFORM_ROUTE__review-return__0"/>
          <p:cNvSpPr/>
          <p:nvPr/>
        </p:nvSpPr>
        <p:spPr>
          <a:xfrm>
            <a:off x="4832350" y="1612900"/>
            <a:ext cx="2787650" cy="215900"/>
          </a:xfrm>
          <a:custGeom>
            <a:avLst/>
            <a:gdLst/>
            <a:ahLst/>
            <a:cxnLst/>
            <a:rect l="l" t="t" r="r" b="b"/>
            <a:pathLst>
              <a:path w="2787650" h="215900">
                <a:moveTo>
                  <a:pt x="2787650" y="215900"/>
                </a:moveTo>
                <a:lnTo>
                  <a:pt x="2787650" y="0"/>
                </a:lnTo>
                <a:lnTo>
                  <a:pt x="0" y="0"/>
                </a:lnTo>
                <a:lnTo>
                  <a:pt x="0" y="215900"/>
                </a:lnTo>
              </a:path>
            </a:pathLst>
          </a:custGeom>
          <a:solidFill>
            <a:srgbClr val="FFFFFF">
              <a:alpha val="0"/>
            </a:srgbClr>
          </a:solidFill>
          <a:ln w="19050">
            <a:solidFill>
              <a:srgbClr val="FD5108"/>
            </a:solidFill>
            <a:prstDash val="solid"/>
            <a:round/>
            <a:headEnd type="none"/>
            <a:tailEnd type="triangle" w="lg" len="lg"/>
          </a:ln>
        </p:spPr>
      </p:sp>
      <p:sp>
        <p:nvSpPr>
          <p:cNvPr id="15"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Keep expert ownership at every release</a:t>
            </a:r>
            <a:endParaRPr lang="en-US" sz="3200" dirty="0" spc="0"/>
          </a:p>
        </p:txBody>
      </p:sp>
      <p:sp>
        <p:nvSpPr>
          <p:cNvPr id="16"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A controlled path from permissioned evidence to approved client work.</a:t>
            </a:r>
            <a:endParaRPr lang="en-US" sz="1600" dirty="0" spc="0"/>
          </a:p>
        </p:txBody>
      </p:sp>
      <p:sp>
        <p:nvSpPr>
          <p:cNvPr id="17" name="stage-label-sources"/>
          <p:cNvSpPr txBox="1"/>
          <p:nvPr/>
        </p:nvSpPr>
        <p:spPr>
          <a:xfrm>
            <a:off x="603250" y="2635250"/>
            <a:ext cx="2413000" cy="2730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Approved sources</a:t>
            </a:r>
            <a:endParaRPr lang="en-US" sz="1400" dirty="0" spc="0"/>
          </a:p>
        </p:txBody>
      </p:sp>
      <p:sp>
        <p:nvSpPr>
          <p:cNvPr id="18" name="stage-label-draft"/>
          <p:cNvSpPr txBox="1"/>
          <p:nvPr/>
        </p:nvSpPr>
        <p:spPr>
          <a:xfrm>
            <a:off x="3460750" y="2635250"/>
            <a:ext cx="2413000" cy="2730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Grounded draft</a:t>
            </a:r>
            <a:endParaRPr lang="en-US" sz="1400" dirty="0" spc="0"/>
          </a:p>
        </p:txBody>
      </p:sp>
      <p:sp>
        <p:nvSpPr>
          <p:cNvPr id="19" name="stage-label-review"/>
          <p:cNvSpPr txBox="1"/>
          <p:nvPr/>
        </p:nvSpPr>
        <p:spPr>
          <a:xfrm>
            <a:off x="6413500" y="2635250"/>
            <a:ext cx="2413000" cy="2730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Expert review</a:t>
            </a:r>
            <a:endParaRPr lang="en-US" sz="1400" dirty="0" spc="0"/>
          </a:p>
        </p:txBody>
      </p:sp>
      <p:sp>
        <p:nvSpPr>
          <p:cNvPr id="20" name="stage-label-output"/>
          <p:cNvSpPr txBox="1"/>
          <p:nvPr/>
        </p:nvSpPr>
        <p:spPr>
          <a:xfrm>
            <a:off x="9175750" y="2635250"/>
            <a:ext cx="2413000" cy="2730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Client-ready output</a:t>
            </a:r>
            <a:endParaRPr lang="en-US" sz="1400" dirty="0" spc="0"/>
          </a:p>
        </p:txBody>
      </p:sp>
      <p:sp>
        <p:nvSpPr>
          <p:cNvPr id="21" name="source-return-label"/>
          <p:cNvSpPr txBox="1"/>
          <p:nvPr/>
        </p:nvSpPr>
        <p:spPr>
          <a:xfrm>
            <a:off x="2019300" y="1365250"/>
            <a:ext cx="2527300" cy="2095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000" b="1" dirty="0" spc="0">
                <a:solidFill>
                  <a:srgbClr val="000000"/>
                </a:solidFill>
                <a:latin typeface="Arial" pitchFamily="34" charset="0"/>
                <a:ea typeface="Arial" pitchFamily="34" charset="-122"/>
                <a:cs typeface="Arial" pitchFamily="34" charset="-120"/>
              </a:rPr>
              <a:t>Correct sources via exception register</a:t>
            </a:r>
            <a:endParaRPr lang="en-US" sz="1000" dirty="0" spc="0"/>
          </a:p>
        </p:txBody>
      </p:sp>
      <p:sp>
        <p:nvSpPr>
          <p:cNvPr id="22" name="review-return-label"/>
          <p:cNvSpPr txBox="1"/>
          <p:nvPr/>
        </p:nvSpPr>
        <p:spPr>
          <a:xfrm>
            <a:off x="5060950" y="1365250"/>
            <a:ext cx="2571750" cy="2095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000" b="1" dirty="0" spc="0">
                <a:solidFill>
                  <a:srgbClr val="000000"/>
                </a:solidFill>
                <a:latin typeface="Arial" pitchFamily="34" charset="0"/>
                <a:ea typeface="Arial" pitchFamily="34" charset="-122"/>
                <a:cs typeface="Arial" pitchFamily="34" charset="-120"/>
              </a:rPr>
              <a:t>Reject with defect reasons</a:t>
            </a:r>
            <a:endParaRPr lang="en-US" sz="1000" dirty="0" spc="0"/>
          </a:p>
        </p:txBody>
      </p:sp>
      <p:sp>
        <p:nvSpPr>
          <p:cNvPr id="23" name="shared-controls-heading"/>
          <p:cNvSpPr txBox="1"/>
          <p:nvPr/>
        </p:nvSpPr>
        <p:spPr>
          <a:xfrm>
            <a:off x="292100" y="4978400"/>
            <a:ext cx="50165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SHARED CONTROLS</a:t>
            </a:r>
            <a:endParaRPr lang="en-US" sz="1400" dirty="0" spc="0"/>
          </a:p>
        </p:txBody>
      </p:sp>
      <p:sp>
        <p:nvSpPr>
          <p:cNvPr id="24" name="measurement-heading"/>
          <p:cNvSpPr txBox="1"/>
          <p:nvPr/>
        </p:nvSpPr>
        <p:spPr>
          <a:xfrm>
            <a:off x="6350000" y="4978400"/>
            <a:ext cx="55245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MEASUREMENT</a:t>
            </a:r>
            <a:endParaRPr lang="en-US" sz="1400" dirty="0" spc="0"/>
          </a:p>
        </p:txBody>
      </p:sp>
      <p:sp>
        <p:nvSpPr>
          <p:cNvPr id="25"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RELEASE RULE</a:t>
            </a:r>
            <a:endParaRPr lang="en-US" sz="1400" dirty="0" spc="0"/>
          </a:p>
        </p:txBody>
      </p:sp>
      <p:sp>
        <p:nvSpPr>
          <p:cNvPr id="26"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client use without expert and engagement-lead sign-off.</a:t>
            </a:r>
            <a:endParaRPr lang="en-US" sz="1400" dirty="0" spc="0"/>
          </a:p>
        </p:txBody>
      </p:sp>
      <p:sp>
        <p:nvSpPr>
          <p:cNvPr id="27" name="shared-controls-1"/>
          <p:cNvSpPr txBox="1"/>
          <p:nvPr/>
        </p:nvSpPr>
        <p:spPr>
          <a:xfrm>
            <a:off x="552450" y="5226050"/>
            <a:ext cx="5372100" cy="2159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200" dirty="0" spc="0">
                <a:solidFill>
                  <a:srgbClr val="000000"/>
                </a:solidFill>
                <a:latin typeface="Arial" pitchFamily="34" charset="0"/>
                <a:ea typeface="Arial" pitchFamily="34" charset="-122"/>
                <a:cs typeface="Arial" pitchFamily="34" charset="-120"/>
              </a:rPr>
              <a:t>One register records defects, owners and disposition.</a:t>
            </a:r>
            <a:endParaRPr lang="en-US" sz="1200" dirty="0" spc="0"/>
          </a:p>
        </p:txBody>
      </p:sp>
      <p:sp>
        <p:nvSpPr>
          <p:cNvPr id="28" name="shared-controls-2"/>
          <p:cNvSpPr txBox="1"/>
          <p:nvPr/>
        </p:nvSpPr>
        <p:spPr>
          <a:xfrm>
            <a:off x="552450" y="5441950"/>
            <a:ext cx="5372100" cy="2159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200" dirty="0" spc="0">
                <a:solidFill>
                  <a:srgbClr val="000000"/>
                </a:solidFill>
                <a:latin typeface="Arial" pitchFamily="34" charset="0"/>
                <a:ea typeface="Arial" pitchFamily="34" charset="-122"/>
                <a:cs typeface="Arial" pitchFamily="34" charset="-120"/>
              </a:rPr>
              <a:t>Platform team maintains access controls and audit logs.</a:t>
            </a:r>
            <a:endParaRPr lang="en-US" sz="1200" dirty="0" spc="0"/>
          </a:p>
        </p:txBody>
      </p:sp>
      <p:sp>
        <p:nvSpPr>
          <p:cNvPr id="29" name="measurement-1"/>
          <p:cNvSpPr txBox="1"/>
          <p:nvPr/>
        </p:nvSpPr>
        <p:spPr>
          <a:xfrm>
            <a:off x="6591300" y="5226050"/>
            <a:ext cx="5302250" cy="2159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200" dirty="0" spc="0">
                <a:solidFill>
                  <a:srgbClr val="000000"/>
                </a:solidFill>
                <a:latin typeface="Arial" pitchFamily="34" charset="0"/>
                <a:ea typeface="Arial" pitchFamily="34" charset="-122"/>
                <a:cs typeface="Arial" pitchFamily="34" charset="-120"/>
              </a:rPr>
              <a:t>Compare 20 paired tasks with baseline time logs.</a:t>
            </a:r>
            <a:endParaRPr lang="en-US" sz="1200" dirty="0" spc="0"/>
          </a:p>
        </p:txBody>
      </p:sp>
      <p:sp>
        <p:nvSpPr>
          <p:cNvPr id="30" name="measurement-2"/>
          <p:cNvSpPr txBox="1"/>
          <p:nvPr/>
        </p:nvSpPr>
        <p:spPr>
          <a:xfrm>
            <a:off x="6591300" y="5441950"/>
            <a:ext cx="5302250" cy="2159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200" dirty="0" spc="0">
                <a:solidFill>
                  <a:srgbClr val="000000"/>
                </a:solidFill>
                <a:latin typeface="Arial" pitchFamily="34" charset="0"/>
                <a:ea typeface="Arial" pitchFamily="34" charset="-122"/>
                <a:cs typeface="Arial" pitchFamily="34" charset="-120"/>
              </a:rPr>
              <a:t>Verify claim samples and record expert review effort.</a:t>
            </a:r>
            <a:endParaRPr lang="en-US" sz="1200" dirty="0" spc="0"/>
          </a:p>
        </p:txBody>
      </p:sp>
      <p:pic>
        <p:nvPicPr>
          <p:cNvPr id="31" name="stage-icon-sources" descr="remix-file-search-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04950" y="1854200"/>
            <a:ext cx="609600" cy="609600"/>
          </a:xfrm>
          <a:prstGeom prst="rect">
            <a:avLst/>
          </a:prstGeom>
        </p:spPr>
      </p:pic>
      <p:pic>
        <p:nvPicPr>
          <p:cNvPr id="32" name="stage-icon-draft" descr="remix-draft-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2450" y="1854200"/>
            <a:ext cx="609600" cy="609600"/>
          </a:xfrm>
          <a:prstGeom prst="rect">
            <a:avLst/>
          </a:prstGeom>
        </p:spPr>
      </p:pic>
      <p:pic>
        <p:nvPicPr>
          <p:cNvPr id="33" name="stage-icon-review" descr="remix-shield-check-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0" y="1854200"/>
            <a:ext cx="609600" cy="609600"/>
          </a:xfrm>
          <a:prstGeom prst="rect">
            <a:avLst/>
          </a:prstGeom>
        </p:spPr>
      </p:pic>
      <p:pic>
        <p:nvPicPr>
          <p:cNvPr id="34" name="stage-icon-output" descr="remix-send-plane-2-lin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77450" y="1854200"/>
            <a:ext cx="609600" cy="609600"/>
          </a:xfrm>
          <a:prstGeom prst="rect">
            <a:avLst/>
          </a:prstGeom>
        </p:spPr>
      </p:pic>
      <p:sp>
        <p:nvSpPr>
          <p:cNvPr id="3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SlidePoise presentation</dc:title>
  <dc:subject>Editable presentation generated from SlidePoise scene contracts</dc:subject>
  <dc:creator>SlidePoise</dc:creator>
  <cp:lastModifiedBy>SlidePoise</cp:lastModifiedBy>
  <cp:revision>1</cp:revision>
  <dcterms:created xsi:type="dcterms:W3CDTF">2026-09-08T10:52:52Z</dcterms:created>
  <dcterms:modified xsi:type="dcterms:W3CDTF">2026-09-08T10:52:52Z</dcterms:modified>
</cp:coreProperties>
</file>