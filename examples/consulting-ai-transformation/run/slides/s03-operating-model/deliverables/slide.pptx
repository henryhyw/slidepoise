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scenario. Twenty paired tasks represent one research task from each of twenty pilot engagements, with ten tasks at the week-eight interim review. The sampled 95% claim-verification gate measures pilot quality. Every client claim still requires expert sign-off and every client release requires engagement-lead approval.
The two curved feedback paths are editable native freeforms. They preserve the observed direction and curve geometry, but moving the table or its columns in Office does not automatically reattach these paths.
[SlidePoise sources]
Generated target visual: /private/tmp/.slidepoise-rebuild-h51errnw/slides/s03-operating-model/work/accepted-slide.png
Canonical asset remix-file-search-line: /Users/henry/Codes/AI_slide_drafting/examples/consulting-ai-transformation/run/work/icon-cache/file-search/remix-file-search-line.svg
Canonical asset remix-draft-line: /Users/henry/Codes/AI_slide_drafting/examples/consulting-ai-transformation/run/work/icon-cache/draft/remix-draft-line.svg
Canonical asset remix-shield-check-line: /Users/henry/Codes/AI_slide_drafting/examples/consulting-ai-transformation/run/work/icon-cache/shield-check/remix-shield-check-line.svg
Canonical asset remix-send-plane-2-line: /Users/henry/Codes/AI_slide_drafting/examples/consulting-ai-transformation/run/work/icon-cache/send-plane-2/remix-send-plane-2-line.svg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4" Type="http://schemas.openxmlformats.org/officeDocument/2006/relationships/image" Target="../media/image-1-4.svg"/><Relationship Id="rId5" Type="http://schemas.openxmlformats.org/officeDocument/2006/relationships/image" Target="../media/image-1-5.png"/><Relationship Id="rId6" Type="http://schemas.openxmlformats.org/officeDocument/2006/relationships/image" Target="../media/image-1-6.svg"/><Relationship Id="rId7" Type="http://schemas.openxmlformats.org/officeDocument/2006/relationships/image" Target="../media/image-1-7.png"/><Relationship Id="rId8" Type="http://schemas.openxmlformats.org/officeDocument/2006/relationships/image" Target="../media/image-1-8.sv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bottom-divider"/>
          <p:cNvSpPr/>
          <p:nvPr/>
        </p:nvSpPr>
        <p:spPr>
          <a:xfrm>
            <a:off x="5715000" y="4851400"/>
            <a:ext cx="6350" cy="685800"/>
          </a:xfrm>
          <a:prstGeom prst="rect">
            <a:avLst/>
          </a:prstGeom>
          <a:solidFill>
            <a:srgbClr val="B7BCC2"/>
          </a:solidFill>
          <a:ln w="12700">
            <a:solidFill>
              <a:srgbClr val="FFFFFF">
                <a:alpha val="0"/>
              </a:srgbClr>
            </a:solidFill>
            <a:prstDash val="solid"/>
          </a:ln>
        </p:spPr>
      </p:sp>
      <p:sp>
        <p:nvSpPr>
          <p:cNvPr id="3"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4"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5" name="responsibility-matrix"/>
          <p:cNvGraphicFramePr>
            <a:graphicFrameLocks noGrp="1"/>
          </p:cNvGraphicFramePr>
          <p:nvPr>
            <p:extLst>
              <p:ext uri="{D42A27DB-BD31-4B8C-83A1-F6EECF244321}">
                <p14:modId xmlns:p14="http://schemas.microsoft.com/office/powerpoint/2010/main" val="1579011935"/>
              </p:ext>
            </p:extLst>
          </p:nvPr>
        </p:nvGraphicFramePr>
        <p:xfrm>
          <a:off x="215900" y="2832100"/>
          <a:ext cx="11658600" cy="1905000"/>
        </p:xfrm>
        <a:graphic>
          <a:graphicData uri="http://schemas.openxmlformats.org/drawingml/2006/table">
            <a:tbl>
              <a:tblPr/>
              <a:tblGrid>
                <a:gridCol w="1841500"/>
                <a:gridCol w="2444750"/>
                <a:gridCol w="2476500"/>
                <a:gridCol w="2444750"/>
                <a:gridCol w="2451100"/>
              </a:tblGrid>
              <a:tr h="317500">
                <a:tc>
                  <a:txBody>
                    <a:bodyPr>
                      <a:noAutofit/>
                    </a:bodyPr>
                    <a:lstStyle/>
                    <a:p>
                      <a:pPr algn="l" indent="0" marL="0">
                        <a:buNone/>
                      </a:pP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Approved sources</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Grounded draft</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Expert review</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Client-ready output</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68300">
                <a:tc>
                  <a:txBody>
                    <a:bodyPr>
                      <a:noAutofit/>
                    </a:bodyPr>
                    <a:lstStyle/>
                    <a:p>
                      <a:pPr algn="l" indent="0" marL="0">
                        <a:buNone/>
                      </a:pPr>
                      <a:r>
                        <a:rPr lang="en-US" sz="950" b="1" dirty="0">
                          <a:solidFill>
                            <a:srgbClr val="000000"/>
                          </a:solidFill>
                          <a:latin typeface="Arial" pitchFamily="34" charset="0"/>
                          <a:ea typeface="Arial" pitchFamily="34" charset="-122"/>
                          <a:cs typeface="Arial" pitchFamily="34" charset="-120"/>
                        </a:rPr>
                        <a:t>INPUT</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Corpus request</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Source pack + task brief</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Draft + evidence trail</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Signed draft + resolved defects</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68300">
                <a:tc>
                  <a:txBody>
                    <a:bodyPr>
                      <a:noAutofit/>
                    </a:bodyPr>
                    <a:lstStyle/>
                    <a:p>
                      <a:pPr algn="l" indent="0" marL="0">
                        <a:buNone/>
                      </a:pPr>
                      <a:r>
                        <a:rPr lang="en-US" sz="950" b="1" dirty="0">
                          <a:solidFill>
                            <a:srgbClr val="000000"/>
                          </a:solidFill>
                          <a:latin typeface="Arial" pitchFamily="34" charset="0"/>
                          <a:ea typeface="Arial" pitchFamily="34" charset="-122"/>
                          <a:cs typeface="Arial" pitchFamily="34" charset="-120"/>
                        </a:rPr>
                        <a:t>OUTPUT</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Versioned source pack</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Cited draft + uncertainty flags</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Signed review or defect log</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Authorized client deliverable</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68300">
                <a:tc>
                  <a:txBody>
                    <a:bodyPr>
                      <a:noAutofit/>
                    </a:bodyPr>
                    <a:lstStyle/>
                    <a:p>
                      <a:pPr algn="l" indent="0" marL="0">
                        <a:buNone/>
                      </a:pPr>
                      <a:r>
                        <a:rPr lang="en-US" sz="950" b="1" dirty="0">
                          <a:solidFill>
                            <a:srgbClr val="000000"/>
                          </a:solidFill>
                          <a:latin typeface="Arial" pitchFamily="34" charset="0"/>
                          <a:ea typeface="Arial" pitchFamily="34" charset="-122"/>
                          <a:cs typeface="Arial" pitchFamily="34" charset="-120"/>
                        </a:rPr>
                        <a:t>OWNER</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Source steward</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Engagement team</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Expert reviewer</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Engagement lead</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82600">
                <a:tc>
                  <a:txBody>
                    <a:bodyPr>
                      <a:noAutofit/>
                    </a:bodyPr>
                    <a:lstStyle/>
                    <a:p>
                      <a:pPr algn="l" indent="0" marL="0">
                        <a:buNone/>
                      </a:pPr>
                      <a:r>
                        <a:rPr lang="en-US" sz="950" b="1" dirty="0">
                          <a:solidFill>
                            <a:srgbClr val="000000"/>
                          </a:solidFill>
                          <a:latin typeface="Arial" pitchFamily="34" charset="0"/>
                          <a:ea typeface="Arial" pitchFamily="34" charset="-122"/>
                          <a:cs typeface="Arial" pitchFamily="34" charset="-120"/>
                        </a:rPr>
                        <a:t>RELEASE CONTROL</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Verify permissions</a:t>
                      </a:r>
                      <a:endParaRPr lang="en-US" sz="950" dirty="0">
                        <a:latin typeface="Arial" charset="0"/>
                        <a:ea typeface="Arial" charset="0"/>
                        <a:cs typeface="Arial" charset="0"/>
                      </a:endParaRPr>
                    </a:p>
                    <a:p>
                      <a:pPr algn="ctr" indent="0" marL="0">
                        <a:buNone/>
                      </a:pPr>
                      <a:r>
                        <a:rPr lang="en-US" sz="950" dirty="0">
                          <a:solidFill>
                            <a:srgbClr val="000000"/>
                          </a:solidFill>
                          <a:latin typeface="Arial" pitchFamily="34" charset="0"/>
                          <a:ea typeface="Arial" pitchFamily="34" charset="-122"/>
                          <a:cs typeface="Arial" pitchFamily="34" charset="-120"/>
                        </a:rPr>
                        <a:t>and dates</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Check citations</a:t>
                      </a:r>
                      <a:endParaRPr lang="en-US" sz="950" dirty="0">
                        <a:latin typeface="Arial" charset="0"/>
                        <a:ea typeface="Arial" charset="0"/>
                        <a:cs typeface="Arial" charset="0"/>
                      </a:endParaRPr>
                    </a:p>
                    <a:p>
                      <a:pPr algn="ctr" indent="0" marL="0">
                        <a:buNone/>
                      </a:pPr>
                      <a:r>
                        <a:rPr lang="en-US" sz="950" dirty="0">
                          <a:solidFill>
                            <a:srgbClr val="000000"/>
                          </a:solidFill>
                          <a:latin typeface="Arial" pitchFamily="34" charset="0"/>
                          <a:ea typeface="Arial" pitchFamily="34" charset="-122"/>
                          <a:cs typeface="Arial" pitchFamily="34" charset="-120"/>
                        </a:rPr>
                        <a:t>and evidence gaps</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Validate claims</a:t>
                      </a:r>
                      <a:endParaRPr lang="en-US" sz="950" dirty="0">
                        <a:latin typeface="Arial" charset="0"/>
                        <a:ea typeface="Arial" charset="0"/>
                        <a:cs typeface="Arial" charset="0"/>
                      </a:endParaRPr>
                    </a:p>
                    <a:p>
                      <a:pPr algn="ctr" indent="0" marL="0">
                        <a:buNone/>
                      </a:pPr>
                      <a:r>
                        <a:rPr lang="en-US" sz="950" dirty="0">
                          <a:solidFill>
                            <a:srgbClr val="000000"/>
                          </a:solidFill>
                          <a:latin typeface="Arial" pitchFamily="34" charset="0"/>
                          <a:ea typeface="Arial" pitchFamily="34" charset="-122"/>
                          <a:cs typeface="Arial" pitchFamily="34" charset="-120"/>
                        </a:rPr>
                        <a:t>and quality</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950" dirty="0">
                          <a:solidFill>
                            <a:srgbClr val="000000"/>
                          </a:solidFill>
                          <a:latin typeface="Arial" pitchFamily="34" charset="0"/>
                          <a:ea typeface="Arial" pitchFamily="34" charset="-122"/>
                          <a:cs typeface="Arial" pitchFamily="34" charset="-120"/>
                        </a:rPr>
                        <a:t>Confirm release</a:t>
                      </a:r>
                      <a:endParaRPr lang="en-US" sz="950" dirty="0">
                        <a:latin typeface="Arial" charset="0"/>
                        <a:ea typeface="Arial" charset="0"/>
                        <a:cs typeface="Arial" charset="0"/>
                      </a:endParaRPr>
                    </a:p>
                    <a:p>
                      <a:pPr algn="ctr" indent="0" marL="0">
                        <a:buNone/>
                      </a:pPr>
                      <a:r>
                        <a:rPr lang="en-US" sz="950" dirty="0">
                          <a:solidFill>
                            <a:srgbClr val="000000"/>
                          </a:solidFill>
                          <a:latin typeface="Arial" pitchFamily="34" charset="0"/>
                          <a:ea typeface="Arial" pitchFamily="34" charset="-122"/>
                          <a:cs typeface="Arial" pitchFamily="34" charset="-120"/>
                        </a:rPr>
                        <a:t>approval</a:t>
                      </a:r>
                      <a:endParaRPr lang="en-US" sz="95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cxnSp>
        <p:nvCxnSpPr>
          <p:cNvPr id="6" name="SC_CONNECTOR__forward-1__0"/>
          <p:cNvCxnSpPr/>
          <p:nvPr/>
        </p:nvCxnSpPr>
        <p:spPr>
          <a:xfrm>
            <a:off x="1892300" y="1949450"/>
            <a:ext cx="2247900" cy="0"/>
          </a:xfrm>
          <a:prstGeom prst="line">
            <a:avLst/>
          </a:prstGeom>
          <a:noFill/>
          <a:ln w="19050">
            <a:solidFill>
              <a:srgbClr val="FD5108"/>
            </a:solidFill>
            <a:prstDash val="solid"/>
            <a:round/>
            <a:headEnd type="none"/>
            <a:tailEnd type="triangle" w="lg" len="lg"/>
          </a:ln>
        </p:spPr>
      </p:cxnSp>
      <p:cxnSp>
        <p:nvCxnSpPr>
          <p:cNvPr id="7" name="SC_CONNECTOR__forward-2__0"/>
          <p:cNvCxnSpPr/>
          <p:nvPr/>
        </p:nvCxnSpPr>
        <p:spPr>
          <a:xfrm>
            <a:off x="4622800" y="1949450"/>
            <a:ext cx="2660650" cy="0"/>
          </a:xfrm>
          <a:prstGeom prst="line">
            <a:avLst/>
          </a:prstGeom>
          <a:noFill/>
          <a:ln w="19050">
            <a:solidFill>
              <a:srgbClr val="FD5108"/>
            </a:solidFill>
            <a:prstDash val="solid"/>
            <a:round/>
            <a:headEnd type="none"/>
            <a:tailEnd type="triangle" w="lg" len="lg"/>
          </a:ln>
        </p:spPr>
      </p:cxnSp>
      <p:cxnSp>
        <p:nvCxnSpPr>
          <p:cNvPr id="8" name="SC_CONNECTOR__forward-3__0"/>
          <p:cNvCxnSpPr/>
          <p:nvPr/>
        </p:nvCxnSpPr>
        <p:spPr>
          <a:xfrm>
            <a:off x="7766050" y="1949450"/>
            <a:ext cx="2216150" cy="0"/>
          </a:xfrm>
          <a:prstGeom prst="line">
            <a:avLst/>
          </a:prstGeom>
          <a:noFill/>
          <a:ln w="19050">
            <a:solidFill>
              <a:srgbClr val="FD5108"/>
            </a:solidFill>
            <a:prstDash val="solid"/>
            <a:round/>
            <a:headEnd type="none"/>
            <a:tailEnd type="triangle" w="lg" len="lg"/>
          </a:ln>
        </p:spPr>
      </p:cxnSp>
      <p:sp>
        <p:nvSpPr>
          <p:cNvPr id="9"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Keep expert ownership at every release</a:t>
            </a:r>
            <a:endParaRPr lang="en-US" sz="3200" dirty="0" spc="0"/>
          </a:p>
        </p:txBody>
      </p:sp>
      <p:sp>
        <p:nvSpPr>
          <p:cNvPr id="10"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A controlled path from permissioned evidence to approved client work.</a:t>
            </a:r>
            <a:endParaRPr lang="en-US" sz="1600" dirty="0" spc="0"/>
          </a:p>
        </p:txBody>
      </p:sp>
      <p:sp>
        <p:nvSpPr>
          <p:cNvPr id="11" name="stage-label-sources"/>
          <p:cNvSpPr txBox="1"/>
          <p:nvPr/>
        </p:nvSpPr>
        <p:spPr>
          <a:xfrm>
            <a:off x="635000" y="2387600"/>
            <a:ext cx="203200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Approved sources</a:t>
            </a:r>
            <a:endParaRPr lang="en-US" sz="1250" dirty="0" spc="0"/>
          </a:p>
        </p:txBody>
      </p:sp>
      <p:sp>
        <p:nvSpPr>
          <p:cNvPr id="12" name="stage-label-draft"/>
          <p:cNvSpPr txBox="1"/>
          <p:nvPr/>
        </p:nvSpPr>
        <p:spPr>
          <a:xfrm>
            <a:off x="3365500" y="2387600"/>
            <a:ext cx="203200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Grounded draft</a:t>
            </a:r>
            <a:endParaRPr lang="en-US" sz="1250" dirty="0" spc="0"/>
          </a:p>
        </p:txBody>
      </p:sp>
      <p:sp>
        <p:nvSpPr>
          <p:cNvPr id="13" name="stage-label-review"/>
          <p:cNvSpPr txBox="1"/>
          <p:nvPr/>
        </p:nvSpPr>
        <p:spPr>
          <a:xfrm>
            <a:off x="6508750" y="2387600"/>
            <a:ext cx="203200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Expert review</a:t>
            </a:r>
            <a:endParaRPr lang="en-US" sz="1250" dirty="0" spc="0"/>
          </a:p>
        </p:txBody>
      </p:sp>
      <p:sp>
        <p:nvSpPr>
          <p:cNvPr id="14" name="stage-label-output"/>
          <p:cNvSpPr txBox="1"/>
          <p:nvPr/>
        </p:nvSpPr>
        <p:spPr>
          <a:xfrm>
            <a:off x="9207500" y="2387600"/>
            <a:ext cx="203200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Client-ready output</a:t>
            </a:r>
            <a:endParaRPr lang="en-US" sz="1250" dirty="0" spc="0"/>
          </a:p>
        </p:txBody>
      </p:sp>
      <p:sp>
        <p:nvSpPr>
          <p:cNvPr id="15" name="source-return-label"/>
          <p:cNvSpPr txBox="1"/>
          <p:nvPr/>
        </p:nvSpPr>
        <p:spPr>
          <a:xfrm>
            <a:off x="1905000" y="1365250"/>
            <a:ext cx="27305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050" b="1" dirty="0" spc="0">
                <a:solidFill>
                  <a:srgbClr val="000000"/>
                </a:solidFill>
                <a:latin typeface="Arial" pitchFamily="34" charset="0"/>
                <a:ea typeface="Arial" pitchFamily="34" charset="-122"/>
                <a:cs typeface="Arial" pitchFamily="34" charset="-120"/>
              </a:rPr>
              <a:t>Correct sources via exception register</a:t>
            </a:r>
            <a:endParaRPr lang="en-US" sz="1050" dirty="0" spc="0"/>
          </a:p>
        </p:txBody>
      </p:sp>
      <p:sp>
        <p:nvSpPr>
          <p:cNvPr id="16" name="review-return-label"/>
          <p:cNvSpPr txBox="1"/>
          <p:nvPr/>
        </p:nvSpPr>
        <p:spPr>
          <a:xfrm>
            <a:off x="5016500" y="1365250"/>
            <a:ext cx="27305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050" b="1" dirty="0" spc="0">
                <a:solidFill>
                  <a:srgbClr val="000000"/>
                </a:solidFill>
                <a:latin typeface="Arial" pitchFamily="34" charset="0"/>
                <a:ea typeface="Arial" pitchFamily="34" charset="-122"/>
                <a:cs typeface="Arial" pitchFamily="34" charset="-120"/>
              </a:rPr>
              <a:t>Reject with defect reasons</a:t>
            </a:r>
            <a:endParaRPr lang="en-US" sz="1050" dirty="0" spc="0"/>
          </a:p>
        </p:txBody>
      </p:sp>
      <p:sp>
        <p:nvSpPr>
          <p:cNvPr id="17" name="shared-controls-heading"/>
          <p:cNvSpPr txBox="1"/>
          <p:nvPr/>
        </p:nvSpPr>
        <p:spPr>
          <a:xfrm>
            <a:off x="292100" y="4851400"/>
            <a:ext cx="5016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SHARED CONTROLS</a:t>
            </a:r>
            <a:endParaRPr lang="en-US" sz="1250" dirty="0" spc="0"/>
          </a:p>
        </p:txBody>
      </p:sp>
      <p:sp>
        <p:nvSpPr>
          <p:cNvPr id="18" name="shared-controls"/>
          <p:cNvSpPr txBox="1"/>
          <p:nvPr/>
        </p:nvSpPr>
        <p:spPr>
          <a:xfrm>
            <a:off x="292100" y="5092700"/>
            <a:ext cx="5080000" cy="4445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050" dirty="0" spc="0">
                <a:solidFill>
                  <a:srgbClr val="000000"/>
                </a:solidFill>
                <a:latin typeface="Arial" pitchFamily="34" charset="0"/>
                <a:ea typeface="Arial" pitchFamily="34" charset="-122"/>
                <a:cs typeface="Arial" pitchFamily="34" charset="-120"/>
              </a:rPr>
              <a:t>• One register records defects, owners and disposition.</a:t>
            </a:r>
            <a:endParaRPr lang="en-US" sz="1050" dirty="0" spc="0"/>
          </a:p>
          <a:p>
            <a:pPr algn="l" indent="0" marL="0">
              <a:lnSpc>
                <a:spcPct val="115000"/>
              </a:lnSpc>
              <a:buNone/>
              <a:defRPr spc="0"/>
            </a:pPr>
            <a:r>
              <a:rPr lang="en-US" sz="1050" dirty="0" spc="0">
                <a:solidFill>
                  <a:srgbClr val="000000"/>
                </a:solidFill>
                <a:latin typeface="Arial" pitchFamily="34" charset="0"/>
                <a:ea typeface="Arial" pitchFamily="34" charset="-122"/>
                <a:cs typeface="Arial" pitchFamily="34" charset="-120"/>
              </a:rPr>
              <a:t>• Platform team maintains access controls and audit logs.</a:t>
            </a:r>
            <a:endParaRPr lang="en-US" sz="1050" dirty="0" spc="0"/>
          </a:p>
        </p:txBody>
      </p:sp>
      <p:sp>
        <p:nvSpPr>
          <p:cNvPr id="19" name="measurement-heading"/>
          <p:cNvSpPr txBox="1"/>
          <p:nvPr/>
        </p:nvSpPr>
        <p:spPr>
          <a:xfrm>
            <a:off x="6000750" y="4851400"/>
            <a:ext cx="5397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PILOT MEASUREMENT</a:t>
            </a:r>
            <a:endParaRPr lang="en-US" sz="1250" dirty="0" spc="0"/>
          </a:p>
        </p:txBody>
      </p:sp>
      <p:sp>
        <p:nvSpPr>
          <p:cNvPr id="20" name="measurement"/>
          <p:cNvSpPr txBox="1"/>
          <p:nvPr/>
        </p:nvSpPr>
        <p:spPr>
          <a:xfrm>
            <a:off x="6000750" y="5092700"/>
            <a:ext cx="5397500" cy="4445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050" dirty="0" spc="0">
                <a:solidFill>
                  <a:srgbClr val="000000"/>
                </a:solidFill>
                <a:latin typeface="Arial" pitchFamily="34" charset="0"/>
                <a:ea typeface="Arial" pitchFamily="34" charset="-122"/>
                <a:cs typeface="Arial" pitchFamily="34" charset="-120"/>
              </a:rPr>
              <a:t>• Compare 20 paired tasks with baseline time logs.</a:t>
            </a:r>
            <a:endParaRPr lang="en-US" sz="1050" dirty="0" spc="0"/>
          </a:p>
          <a:p>
            <a:pPr algn="l" indent="0" marL="0">
              <a:lnSpc>
                <a:spcPct val="115000"/>
              </a:lnSpc>
              <a:buNone/>
              <a:defRPr spc="0"/>
            </a:pPr>
            <a:r>
              <a:rPr lang="en-US" sz="1050" dirty="0" spc="0">
                <a:solidFill>
                  <a:srgbClr val="000000"/>
                </a:solidFill>
                <a:latin typeface="Arial" pitchFamily="34" charset="0"/>
                <a:ea typeface="Arial" pitchFamily="34" charset="-122"/>
                <a:cs typeface="Arial" pitchFamily="34" charset="-120"/>
              </a:rPr>
              <a:t>• Verify claim samples and record expert review effort.</a:t>
            </a:r>
            <a:endParaRPr lang="en-US" sz="1050" dirty="0" spc="0"/>
          </a:p>
        </p:txBody>
      </p:sp>
      <p:sp>
        <p:nvSpPr>
          <p:cNvPr id="21"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RELEASE RULE</a:t>
            </a:r>
            <a:endParaRPr lang="en-US" sz="1400" dirty="0" spc="0"/>
          </a:p>
        </p:txBody>
      </p:sp>
      <p:sp>
        <p:nvSpPr>
          <p:cNvPr id="22"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client use without expert and engagement-lead sign-off.</a:t>
            </a:r>
            <a:endParaRPr lang="en-US" sz="1400" dirty="0" spc="0"/>
          </a:p>
        </p:txBody>
      </p:sp>
      <p:pic>
        <p:nvPicPr>
          <p:cNvPr id="23" name="stage-icon-sources" descr="remix-file-search-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28750" y="1727200"/>
            <a:ext cx="444500" cy="444500"/>
          </a:xfrm>
          <a:prstGeom prst="rect">
            <a:avLst/>
          </a:prstGeom>
        </p:spPr>
      </p:pic>
      <p:pic>
        <p:nvPicPr>
          <p:cNvPr id="24" name="stage-icon-draft" descr="remix-draft-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59250" y="1727200"/>
            <a:ext cx="444500" cy="444500"/>
          </a:xfrm>
          <a:prstGeom prst="rect">
            <a:avLst/>
          </a:prstGeom>
        </p:spPr>
      </p:pic>
      <p:pic>
        <p:nvPicPr>
          <p:cNvPr id="25" name="stage-icon-review" descr="remix-shield-check-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02500" y="1727200"/>
            <a:ext cx="444500" cy="444500"/>
          </a:xfrm>
          <a:prstGeom prst="rect">
            <a:avLst/>
          </a:prstGeom>
        </p:spPr>
      </p:pic>
      <p:pic>
        <p:nvPicPr>
          <p:cNvPr id="26" name="stage-icon-output" descr="remix-send-plane-2-lin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001250" y="1727200"/>
            <a:ext cx="444500" cy="444500"/>
          </a:xfrm>
          <a:prstGeom prst="rect">
            <a:avLst/>
          </a:prstGeom>
        </p:spPr>
      </p:pic>
      <p:sp>
        <p:nvSpPr>
          <p:cNvPr id="27"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s03-operating-model</dc:title>
  <dc:subject>Editable presentation generated from SlidePoise scene contracts</dc:subject>
  <dc:creator>SlidePoise</dc:creator>
  <cp:lastModifiedBy>SlidePoise</cp:lastModifiedBy>
  <cp:revision>1</cp:revision>
  <dcterms:created xsi:type="dcterms:W3CDTF">2026-09-08T09:04:44Z</dcterms:created>
  <dcterms:modified xsi:type="dcterms:W3CDTF">2026-09-08T09:04:44Z</dcterms:modified>
</cp:coreProperties>
</file>