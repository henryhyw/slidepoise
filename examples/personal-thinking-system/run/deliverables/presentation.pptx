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/Users/henry/Codes/AI_slide_drafting/examples/personal-thinking-system/run/slides/s01-opening/work/accepted-slide.png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/Users/henry/Codes/AI_slide_drafting/examples/personal-thinking-system/run/slides/s02-question/work/accepted-slide.png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/Users/henry/Codes/AI_slide_drafting/examples/personal-thinking-system/run/slides/s03-practice/work/accepted-slide.png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/Users/henry/Codes/AI_slide_drafting/examples/personal-thinking-system/run/slides/s04-trace/work/accepted-slide.png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[SlidePoise sources]
Generated target visual: /Users/henry/Codes/AI_slide_drafting/examples/personal-thinking-system/run/slides/s05-close/work/accepted-slide.png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DFA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footer-rule"/>
          <p:cNvSpPr/>
          <p:nvPr/>
        </p:nvSpPr>
        <p:spPr>
          <a:xfrm>
            <a:off x="2598420" y="6438900"/>
            <a:ext cx="739140" cy="7620"/>
          </a:xfrm>
          <a:prstGeom prst="rect">
            <a:avLst/>
          </a:prstGeom>
          <a:solidFill>
            <a:srgbClr val="77716B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hand-staircase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05600" y="632460"/>
            <a:ext cx="4945380" cy="56007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662940" y="449580"/>
            <a:ext cx="5539740" cy="17907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second</a:t>
            </a:r>
            <a:endParaRPr lang="en-US" sz="11600" dirty="0" spc="0"/>
          </a:p>
        </p:txBody>
      </p:sp>
      <p:sp>
        <p:nvSpPr>
          <p:cNvPr id="6" name="title-second"/>
          <p:cNvSpPr txBox="1"/>
          <p:nvPr/>
        </p:nvSpPr>
        <p:spPr>
          <a:xfrm>
            <a:off x="647700" y="1783080"/>
            <a:ext cx="5326380" cy="19126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thinking</a:t>
            </a:r>
            <a:endParaRPr lang="en-US" sz="11600" dirty="0" spc="0"/>
          </a:p>
        </p:txBody>
      </p:sp>
      <p:sp>
        <p:nvSpPr>
          <p:cNvPr id="7" name="title-third"/>
          <p:cNvSpPr txBox="1"/>
          <p:nvPr/>
        </p:nvSpPr>
        <p:spPr>
          <a:xfrm>
            <a:off x="624840" y="2971800"/>
            <a:ext cx="4739640" cy="2004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16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system</a:t>
            </a:r>
            <a:endParaRPr lang="en-US" sz="11600" dirty="0" spc="0"/>
          </a:p>
        </p:txBody>
      </p:sp>
      <p:sp>
        <p:nvSpPr>
          <p:cNvPr id="8" name="subtitle"/>
          <p:cNvSpPr txBox="1"/>
          <p:nvPr/>
        </p:nvSpPr>
        <p:spPr>
          <a:xfrm>
            <a:off x="655320" y="4953000"/>
            <a:ext cx="5433060" cy="3048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6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with AI without outsourcing a point of view.</a:t>
            </a:r>
            <a:endParaRPr lang="en-US" sz="1600" dirty="0" spc="0"/>
          </a:p>
        </p:txBody>
      </p:sp>
      <p:sp>
        <p:nvSpPr>
          <p:cNvPr id="9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01</a:t>
            </a:r>
            <a:endParaRPr lang="en-US" sz="1200" dirty="0" spc="0"/>
          </a:p>
        </p:txBody>
      </p:sp>
      <p:sp>
        <p:nvSpPr>
          <p:cNvPr id="10" name="essay-label"/>
          <p:cNvSpPr txBox="1"/>
          <p:nvPr/>
        </p:nvSpPr>
        <p:spPr>
          <a:xfrm>
            <a:off x="3771900" y="6301740"/>
            <a:ext cx="2263140" cy="2590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essay in five parts</a:t>
            </a:r>
            <a:endParaRPr lang="en-US" sz="1450" dirty="0" spc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nclusion-rule"/>
          <p:cNvSpPr/>
          <p:nvPr/>
        </p:nvSpPr>
        <p:spPr>
          <a:xfrm>
            <a:off x="5234940" y="5242560"/>
            <a:ext cx="594360" cy="7620"/>
          </a:xfrm>
          <a:prstGeom prst="rect">
            <a:avLst/>
          </a:prstGeom>
          <a:solidFill>
            <a:srgbClr val="8B8882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question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1432560"/>
            <a:ext cx="4076700" cy="4229100"/>
          </a:xfrm>
          <a:prstGeom prst="rect">
            <a:avLst/>
          </a:prstGeom>
        </p:spPr>
      </p:pic>
      <p:sp>
        <p:nvSpPr>
          <p:cNvPr id="5" name="title-first"/>
          <p:cNvSpPr txBox="1"/>
          <p:nvPr/>
        </p:nvSpPr>
        <p:spPr>
          <a:xfrm>
            <a:off x="5204460" y="327660"/>
            <a:ext cx="4663440" cy="1524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Keep the</a:t>
            </a:r>
            <a:endParaRPr lang="en-US" sz="8850" dirty="0" spc="57"/>
          </a:p>
        </p:txBody>
      </p:sp>
      <p:sp>
        <p:nvSpPr>
          <p:cNvPr id="6" name="title-second"/>
          <p:cNvSpPr txBox="1"/>
          <p:nvPr/>
        </p:nvSpPr>
        <p:spPr>
          <a:xfrm>
            <a:off x="5181600" y="1379220"/>
            <a:ext cx="6858000" cy="15163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57"/>
            </a:pPr>
            <a:r>
              <a:rPr lang="en-US" sz="8850" spc="57" kern="0" dirty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 open.</a:t>
            </a:r>
            <a:endParaRPr lang="en-US" sz="8850" dirty="0" spc="57"/>
          </a:p>
        </p:txBody>
      </p:sp>
      <p:sp>
        <p:nvSpPr>
          <p:cNvPr id="7" name="premise"/>
          <p:cNvSpPr txBox="1"/>
          <p:nvPr/>
        </p:nvSpPr>
        <p:spPr>
          <a:xfrm>
            <a:off x="5227320" y="3063240"/>
            <a:ext cx="4922520" cy="3581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0"/>
            </a:pPr>
            <a:r>
              <a:rPr lang="en-US" sz="17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fast answer can close a thought too early.</a:t>
            </a:r>
            <a:endParaRPr lang="en-US" sz="1750" dirty="0" spc="0"/>
          </a:p>
        </p:txBody>
      </p:sp>
      <p:sp>
        <p:nvSpPr>
          <p:cNvPr id="8" name="prompt-first"/>
          <p:cNvSpPr txBox="1"/>
          <p:nvPr/>
        </p:nvSpPr>
        <p:spPr>
          <a:xfrm>
            <a:off x="5219700" y="3870960"/>
            <a:ext cx="379476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am I assuming?</a:t>
            </a:r>
            <a:endParaRPr lang="en-US" sz="2200" dirty="0" spc="0"/>
          </a:p>
        </p:txBody>
      </p:sp>
      <p:sp>
        <p:nvSpPr>
          <p:cNvPr id="9" name="prompt-second"/>
          <p:cNvSpPr txBox="1"/>
          <p:nvPr/>
        </p:nvSpPr>
        <p:spPr>
          <a:xfrm>
            <a:off x="5219700" y="4457700"/>
            <a:ext cx="4663440" cy="4495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2200" i="1" dirty="0" spc="0">
                <a:solidFill>
                  <a:srgbClr val="242321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What would change my mind?</a:t>
            </a:r>
            <a:endParaRPr lang="en-US" sz="2200" dirty="0" spc="0"/>
          </a:p>
        </p:txBody>
      </p:sp>
      <p:sp>
        <p:nvSpPr>
          <p:cNvPr id="10" name="conclusion"/>
          <p:cNvSpPr txBox="1"/>
          <p:nvPr/>
        </p:nvSpPr>
        <p:spPr>
          <a:xfrm>
            <a:off x="5219700" y="5554980"/>
            <a:ext cx="481584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8000"/>
              </a:lnSpc>
              <a:buNone/>
              <a:defRPr spc="6"/>
            </a:pPr>
            <a:r>
              <a:rPr lang="en-US" sz="1400" spc="6" kern="0" dirty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useful conversation begins with a better question.</a:t>
            </a:r>
            <a:endParaRPr lang="en-US" sz="1400" dirty="0" spc="6"/>
          </a:p>
        </p:txBody>
      </p:sp>
      <p:sp>
        <p:nvSpPr>
          <p:cNvPr id="11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02</a:t>
            </a:r>
            <a:endParaRPr lang="en-US" sz="1200" dirty="0" spc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BFAF8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" name="column-rule-one"/>
          <p:cNvSpPr/>
          <p:nvPr/>
        </p:nvSpPr>
        <p:spPr>
          <a:xfrm>
            <a:off x="421386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" name="column-rule-two"/>
          <p:cNvSpPr/>
          <p:nvPr/>
        </p:nvSpPr>
        <p:spPr>
          <a:xfrm>
            <a:off x="7955280" y="2308860"/>
            <a:ext cx="7620" cy="3512820"/>
          </a:xfrm>
          <a:prstGeom prst="rect">
            <a:avLst/>
          </a:prstGeom>
          <a:solidFill>
            <a:srgbClr val="C4C3BE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5" name="collect-collage" descr="editorial_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3063240"/>
            <a:ext cx="3002280" cy="2788920"/>
          </a:xfrm>
          <a:prstGeom prst="rect">
            <a:avLst/>
          </a:prstGeom>
        </p:spPr>
      </p:pic>
      <p:pic>
        <p:nvPicPr>
          <p:cNvPr id="6" name="connect-collage" descr="editorial_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5820" y="3086100"/>
            <a:ext cx="2773680" cy="2872740"/>
          </a:xfrm>
          <a:prstGeom prst="rect">
            <a:avLst/>
          </a:prstGeom>
        </p:spPr>
      </p:pic>
      <p:pic>
        <p:nvPicPr>
          <p:cNvPr id="7" name="challenge-collage" descr="editorial_collag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90560" y="3070860"/>
            <a:ext cx="3177540" cy="2857500"/>
          </a:xfrm>
          <a:prstGeom prst="rect">
            <a:avLst/>
          </a:prstGeom>
        </p:spPr>
      </p:pic>
      <p:sp>
        <p:nvSpPr>
          <p:cNvPr id="8" name="practice-title"/>
          <p:cNvSpPr txBox="1"/>
          <p:nvPr/>
        </p:nvSpPr>
        <p:spPr>
          <a:xfrm>
            <a:off x="464820" y="312420"/>
            <a:ext cx="9555480" cy="1272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316"/>
            </a:pPr>
            <a:r>
              <a:rPr lang="en-US" sz="7000" dirty="0" spc="-316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Collect. Connect. Challenge.</a:t>
            </a:r>
            <a:endParaRPr lang="en-US" sz="7000" dirty="0" spc="-316"/>
          </a:p>
        </p:txBody>
      </p:sp>
      <p:sp>
        <p:nvSpPr>
          <p:cNvPr id="9" name="practice-subtitle"/>
          <p:cNvSpPr txBox="1"/>
          <p:nvPr/>
        </p:nvSpPr>
        <p:spPr>
          <a:xfrm>
            <a:off x="518160" y="1432560"/>
            <a:ext cx="5105400" cy="33528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4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Three moves for a thought worth keeping.</a:t>
            </a:r>
            <a:endParaRPr lang="en-US" sz="1450" dirty="0" spc="0"/>
          </a:p>
        </p:txBody>
      </p:sp>
      <p:sp>
        <p:nvSpPr>
          <p:cNvPr id="10" name="collect-heading"/>
          <p:cNvSpPr txBox="1"/>
          <p:nvPr/>
        </p:nvSpPr>
        <p:spPr>
          <a:xfrm>
            <a:off x="533400" y="2087880"/>
            <a:ext cx="2407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Collect</a:t>
            </a:r>
            <a:endParaRPr lang="en-US" sz="4050" dirty="0" spc="-241"/>
          </a:p>
        </p:txBody>
      </p:sp>
      <p:sp>
        <p:nvSpPr>
          <p:cNvPr id="11" name="connect-heading"/>
          <p:cNvSpPr txBox="1"/>
          <p:nvPr/>
        </p:nvSpPr>
        <p:spPr>
          <a:xfrm>
            <a:off x="4572000" y="2087880"/>
            <a:ext cx="269748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241"/>
            </a:pPr>
            <a:r>
              <a:rPr lang="en-US" sz="4050" dirty="0" spc="-241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Connect</a:t>
            </a:r>
            <a:endParaRPr lang="en-US" sz="4050" dirty="0" spc="-241"/>
          </a:p>
        </p:txBody>
      </p:sp>
      <p:sp>
        <p:nvSpPr>
          <p:cNvPr id="12" name="challenge-heading"/>
          <p:cNvSpPr txBox="1"/>
          <p:nvPr/>
        </p:nvSpPr>
        <p:spPr>
          <a:xfrm>
            <a:off x="8321040" y="2087880"/>
            <a:ext cx="3169920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55"/>
            </a:pPr>
            <a:r>
              <a:rPr lang="en-US" sz="4050" dirty="0" spc="-15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Challenge</a:t>
            </a:r>
            <a:endParaRPr lang="en-US" sz="4050" dirty="0" spc="-155"/>
          </a:p>
        </p:txBody>
      </p:sp>
      <p:sp>
        <p:nvSpPr>
          <p:cNvPr id="13" name="collect-caption"/>
          <p:cNvSpPr txBox="1"/>
          <p:nvPr/>
        </p:nvSpPr>
        <p:spPr>
          <a:xfrm>
            <a:off x="56388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Keep the source close.</a:t>
            </a:r>
            <a:endParaRPr lang="en-US" sz="1050" dirty="0" spc="0"/>
          </a:p>
        </p:txBody>
      </p:sp>
      <p:sp>
        <p:nvSpPr>
          <p:cNvPr id="14" name="connect-caption"/>
          <p:cNvSpPr txBox="1"/>
          <p:nvPr/>
        </p:nvSpPr>
        <p:spPr>
          <a:xfrm>
            <a:off x="4594860" y="2743200"/>
            <a:ext cx="313182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Put distant ideas in contact.</a:t>
            </a:r>
            <a:endParaRPr lang="en-US" sz="1050" dirty="0" spc="0"/>
          </a:p>
        </p:txBody>
      </p:sp>
      <p:sp>
        <p:nvSpPr>
          <p:cNvPr id="15" name="challenge-caption"/>
          <p:cNvSpPr txBox="1"/>
          <p:nvPr/>
        </p:nvSpPr>
        <p:spPr>
          <a:xfrm>
            <a:off x="8328660" y="2743200"/>
            <a:ext cx="335280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05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Ask what the pattern leaves out.</a:t>
            </a:r>
            <a:endParaRPr lang="en-US" sz="1050" dirty="0" spc="0"/>
          </a:p>
        </p:txBody>
      </p:sp>
      <p:sp>
        <p:nvSpPr>
          <p:cNvPr id="16" name="field-note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03</a:t>
            </a:r>
            <a:endParaRPr lang="en-US" sz="1200" dirty="0" spc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9F7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notebook" descr="noteboo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940" y="3680460"/>
            <a:ext cx="2034540" cy="1493520"/>
          </a:xfrm>
          <a:prstGeom prst="rect">
            <a:avLst/>
          </a:prstGeom>
        </p:spPr>
      </p:pic>
      <p:pic>
        <p:nvPicPr>
          <p:cNvPr id="4" name="archive-collage" descr="archive-collag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340" y="891540"/>
            <a:ext cx="2964180" cy="5036820"/>
          </a:xfrm>
          <a:prstGeom prst="rect">
            <a:avLst/>
          </a:prstGeom>
        </p:spPr>
      </p:pic>
      <p:sp>
        <p:nvSpPr>
          <p:cNvPr id="5" name="record-separator-0"/>
          <p:cNvSpPr/>
          <p:nvPr/>
        </p:nvSpPr>
        <p:spPr>
          <a:xfrm>
            <a:off x="5166360" y="131064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1198"/>
                </a:moveTo>
                <a:lnTo>
                  <a:pt x="3573" y="58423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6" name="record-rule-0"/>
          <p:cNvSpPr/>
          <p:nvPr/>
        </p:nvSpPr>
        <p:spPr>
          <a:xfrm>
            <a:off x="4450080" y="225552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531"/>
                </a:moveTo>
                <a:lnTo>
                  <a:pt x="3979317" y="-3531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7" name="record-separator-1"/>
          <p:cNvSpPr/>
          <p:nvPr/>
        </p:nvSpPr>
        <p:spPr>
          <a:xfrm>
            <a:off x="5166360" y="258318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3231"/>
                </a:moveTo>
                <a:lnTo>
                  <a:pt x="3573" y="579808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8" name="record-rule-1"/>
          <p:cNvSpPr/>
          <p:nvPr/>
        </p:nvSpPr>
        <p:spPr>
          <a:xfrm>
            <a:off x="4450080" y="352044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-340"/>
                </a:moveTo>
                <a:lnTo>
                  <a:pt x="3979317" y="-34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9" name="record-separator-2"/>
          <p:cNvSpPr/>
          <p:nvPr/>
        </p:nvSpPr>
        <p:spPr>
          <a:xfrm>
            <a:off x="5166360" y="384810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-40"/>
                </a:moveTo>
                <a:lnTo>
                  <a:pt x="3573" y="58299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0" name="record-rule-2"/>
          <p:cNvSpPr/>
          <p:nvPr/>
        </p:nvSpPr>
        <p:spPr>
          <a:xfrm>
            <a:off x="4450080" y="4785360"/>
            <a:ext cx="3977640" cy="7620"/>
          </a:xfrm>
          <a:custGeom>
            <a:avLst/>
            <a:gdLst/>
            <a:ahLst/>
            <a:cxnLst/>
            <a:rect l="l" t="t" r="r" b="b"/>
            <a:pathLst>
              <a:path w="3977640" h="7620">
                <a:moveTo>
                  <a:pt x="-2042" y="2850"/>
                </a:moveTo>
                <a:lnTo>
                  <a:pt x="3979317" y="2850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1" name="record-separator-3"/>
          <p:cNvSpPr/>
          <p:nvPr/>
        </p:nvSpPr>
        <p:spPr>
          <a:xfrm>
            <a:off x="5166360" y="5113020"/>
            <a:ext cx="7620" cy="586740"/>
          </a:xfrm>
          <a:custGeom>
            <a:avLst/>
            <a:gdLst/>
            <a:ahLst/>
            <a:cxnLst/>
            <a:rect l="l" t="t" r="r" b="b"/>
            <a:pathLst>
              <a:path w="7620" h="586740">
                <a:moveTo>
                  <a:pt x="3573" y="3150"/>
                </a:moveTo>
                <a:lnTo>
                  <a:pt x="3573" y="586189"/>
                </a:lnTo>
              </a:path>
            </a:pathLst>
          </a:custGeom>
          <a:solidFill>
            <a:srgbClr val="FFFFFF">
              <a:alpha val="0"/>
            </a:srgbClr>
          </a:solidFill>
          <a:ln w="7620">
            <a:solidFill>
              <a:srgbClr val="8A8A88"/>
            </a:solidFill>
            <a:prstDash val="solid"/>
            <a:headEnd type="none"/>
            <a:tailEnd type="none"/>
          </a:ln>
        </p:spPr>
      </p:sp>
      <p:sp>
        <p:nvSpPr>
          <p:cNvPr id="12" name="title-first"/>
          <p:cNvSpPr txBox="1"/>
          <p:nvPr/>
        </p:nvSpPr>
        <p:spPr>
          <a:xfrm>
            <a:off x="662940" y="66294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59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Leave</a:t>
            </a:r>
            <a:endParaRPr lang="en-US" sz="5900" dirty="0" spc="0"/>
          </a:p>
        </p:txBody>
      </p:sp>
      <p:sp>
        <p:nvSpPr>
          <p:cNvPr id="13" name="title-second"/>
          <p:cNvSpPr txBox="1"/>
          <p:nvPr/>
        </p:nvSpPr>
        <p:spPr>
          <a:xfrm>
            <a:off x="662940" y="1394460"/>
            <a:ext cx="3535680" cy="838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57"/>
            </a:pPr>
            <a:r>
              <a:rPr lang="en-US" sz="5900" dirty="0" spc="-57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a trace of</a:t>
            </a:r>
            <a:endParaRPr lang="en-US" sz="5900" dirty="0" spc="-57"/>
          </a:p>
        </p:txBody>
      </p:sp>
      <p:sp>
        <p:nvSpPr>
          <p:cNvPr id="14" name="title-third"/>
          <p:cNvSpPr txBox="1"/>
          <p:nvPr/>
        </p:nvSpPr>
        <p:spPr>
          <a:xfrm>
            <a:off x="662940" y="2125980"/>
            <a:ext cx="3680460" cy="899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-195"/>
            </a:pPr>
            <a:r>
              <a:rPr lang="en-US" sz="5900" dirty="0" spc="-195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the thinking.</a:t>
            </a:r>
            <a:endParaRPr lang="en-US" sz="5900" dirty="0" spc="-195"/>
          </a:p>
        </p:txBody>
      </p:sp>
      <p:sp>
        <p:nvSpPr>
          <p:cNvPr id="15" name="caption"/>
          <p:cNvSpPr txBox="1"/>
          <p:nvPr/>
        </p:nvSpPr>
        <p:spPr>
          <a:xfrm>
            <a:off x="662940" y="5364480"/>
            <a:ext cx="3352800" cy="54864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small record makes</a:t>
            </a:r>
            <a:endParaRPr lang="en-US" sz="1300" dirty="0" spc="0"/>
          </a:p>
          <a:p>
            <a:pPr algn="l" indent="0" marL="0">
              <a:lnSpc>
                <a:spcPct val="12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conversation reusable.</a:t>
            </a:r>
            <a:endParaRPr lang="en-US" sz="1300" dirty="0" spc="0"/>
          </a:p>
        </p:txBody>
      </p:sp>
      <p:sp>
        <p:nvSpPr>
          <p:cNvPr id="16" name="record-number-0"/>
          <p:cNvSpPr txBox="1"/>
          <p:nvPr/>
        </p:nvSpPr>
        <p:spPr>
          <a:xfrm>
            <a:off x="4450080" y="125730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01</a:t>
            </a:r>
            <a:endParaRPr lang="en-US" sz="4100" dirty="0" spc="0"/>
          </a:p>
        </p:txBody>
      </p:sp>
      <p:sp>
        <p:nvSpPr>
          <p:cNvPr id="17" name="record-heading-0"/>
          <p:cNvSpPr txBox="1"/>
          <p:nvPr/>
        </p:nvSpPr>
        <p:spPr>
          <a:xfrm>
            <a:off x="5455920" y="125730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Source</a:t>
            </a:r>
            <a:endParaRPr lang="en-US" sz="2100" dirty="0" spc="0"/>
          </a:p>
        </p:txBody>
      </p:sp>
      <p:sp>
        <p:nvSpPr>
          <p:cNvPr id="18" name="record-question-0"/>
          <p:cNvSpPr txBox="1"/>
          <p:nvPr/>
        </p:nvSpPr>
        <p:spPr>
          <a:xfrm>
            <a:off x="5455920" y="165354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did I encounter?</a:t>
            </a:r>
            <a:endParaRPr lang="en-US" sz="1300" dirty="0" spc="0"/>
          </a:p>
        </p:txBody>
      </p:sp>
      <p:sp>
        <p:nvSpPr>
          <p:cNvPr id="19" name="record-number-1"/>
          <p:cNvSpPr txBox="1"/>
          <p:nvPr/>
        </p:nvSpPr>
        <p:spPr>
          <a:xfrm>
            <a:off x="4450080" y="252222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02</a:t>
            </a:r>
            <a:endParaRPr lang="en-US" sz="4100" dirty="0" spc="0"/>
          </a:p>
        </p:txBody>
      </p:sp>
      <p:sp>
        <p:nvSpPr>
          <p:cNvPr id="20" name="record-heading-1"/>
          <p:cNvSpPr txBox="1"/>
          <p:nvPr/>
        </p:nvSpPr>
        <p:spPr>
          <a:xfrm>
            <a:off x="5455920" y="252222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Question</a:t>
            </a:r>
            <a:endParaRPr lang="en-US" sz="2100" dirty="0" spc="0"/>
          </a:p>
        </p:txBody>
      </p:sp>
      <p:sp>
        <p:nvSpPr>
          <p:cNvPr id="21" name="record-question-1"/>
          <p:cNvSpPr txBox="1"/>
          <p:nvPr/>
        </p:nvSpPr>
        <p:spPr>
          <a:xfrm>
            <a:off x="5455920" y="292608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does it unsettle?</a:t>
            </a:r>
            <a:endParaRPr lang="en-US" sz="1300" dirty="0" spc="0"/>
          </a:p>
        </p:txBody>
      </p:sp>
      <p:sp>
        <p:nvSpPr>
          <p:cNvPr id="22" name="record-number-2"/>
          <p:cNvSpPr txBox="1"/>
          <p:nvPr/>
        </p:nvSpPr>
        <p:spPr>
          <a:xfrm>
            <a:off x="4450080" y="378714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03</a:t>
            </a:r>
            <a:endParaRPr lang="en-US" sz="4100" dirty="0" spc="0"/>
          </a:p>
        </p:txBody>
      </p:sp>
      <p:sp>
        <p:nvSpPr>
          <p:cNvPr id="23" name="record-heading-2"/>
          <p:cNvSpPr txBox="1"/>
          <p:nvPr/>
        </p:nvSpPr>
        <p:spPr>
          <a:xfrm>
            <a:off x="5455920" y="378714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Counterargument</a:t>
            </a:r>
            <a:endParaRPr lang="en-US" sz="2100" dirty="0" spc="0"/>
          </a:p>
        </p:txBody>
      </p:sp>
      <p:sp>
        <p:nvSpPr>
          <p:cNvPr id="24" name="record-question-2"/>
          <p:cNvSpPr txBox="1"/>
          <p:nvPr/>
        </p:nvSpPr>
        <p:spPr>
          <a:xfrm>
            <a:off x="5455920" y="419100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is the strongest objection?</a:t>
            </a:r>
            <a:endParaRPr lang="en-US" sz="1300" dirty="0" spc="0"/>
          </a:p>
        </p:txBody>
      </p:sp>
      <p:sp>
        <p:nvSpPr>
          <p:cNvPr id="25" name="record-number-3"/>
          <p:cNvSpPr txBox="1"/>
          <p:nvPr/>
        </p:nvSpPr>
        <p:spPr>
          <a:xfrm>
            <a:off x="4450080" y="5059680"/>
            <a:ext cx="647700" cy="716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4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04</a:t>
            </a:r>
            <a:endParaRPr lang="en-US" sz="4100" dirty="0" spc="0"/>
          </a:p>
        </p:txBody>
      </p:sp>
      <p:sp>
        <p:nvSpPr>
          <p:cNvPr id="26" name="record-heading-3"/>
          <p:cNvSpPr txBox="1"/>
          <p:nvPr/>
        </p:nvSpPr>
        <p:spPr>
          <a:xfrm>
            <a:off x="5455920" y="5059680"/>
            <a:ext cx="3131820" cy="4267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2100" dirty="0" spc="0">
                <a:solidFill>
                  <a:srgbClr val="242321"/>
                </a:solidFill>
                <a:latin typeface="Bodoni 72" pitchFamily="34" charset="0"/>
                <a:ea typeface="Bodoni 72" pitchFamily="34" charset="-122"/>
                <a:cs typeface="Bodoni 72" pitchFamily="34" charset="-120"/>
              </a:rPr>
              <a:t>Decision</a:t>
            </a:r>
            <a:endParaRPr lang="en-US" sz="2100" dirty="0" spc="0"/>
          </a:p>
        </p:txBody>
      </p:sp>
      <p:sp>
        <p:nvSpPr>
          <p:cNvPr id="27" name="record-question-3"/>
          <p:cNvSpPr txBox="1"/>
          <p:nvPr/>
        </p:nvSpPr>
        <p:spPr>
          <a:xfrm>
            <a:off x="5455920" y="5455920"/>
            <a:ext cx="318516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0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will I carry forward?</a:t>
            </a:r>
            <a:endParaRPr lang="en-US" sz="1300" dirty="0" spc="0"/>
          </a:p>
        </p:txBody>
      </p:sp>
      <p:sp>
        <p:nvSpPr>
          <p:cNvPr id="28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04</a:t>
            </a:r>
            <a:endParaRPr lang="en-US" sz="1200" dirty="0" spc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aper-field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9F7F5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" name="signature-collage" descr="signature-collag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32420" y="2331720"/>
            <a:ext cx="3070860" cy="3505200"/>
          </a:xfrm>
          <a:prstGeom prst="rect">
            <a:avLst/>
          </a:prstGeom>
        </p:spPr>
      </p:pic>
      <p:sp>
        <p:nvSpPr>
          <p:cNvPr id="4" name="title-first"/>
          <p:cNvSpPr txBox="1"/>
          <p:nvPr/>
        </p:nvSpPr>
        <p:spPr>
          <a:xfrm>
            <a:off x="1013460" y="64008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point of</a:t>
            </a:r>
            <a:endParaRPr lang="en-US" sz="8600" dirty="0" spc="0"/>
          </a:p>
        </p:txBody>
      </p:sp>
      <p:sp>
        <p:nvSpPr>
          <p:cNvPr id="5" name="title-second"/>
          <p:cNvSpPr txBox="1"/>
          <p:nvPr/>
        </p:nvSpPr>
        <p:spPr>
          <a:xfrm>
            <a:off x="1013460" y="1889760"/>
            <a:ext cx="65608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view is still</a:t>
            </a:r>
            <a:endParaRPr lang="en-US" sz="8600" dirty="0" spc="0"/>
          </a:p>
        </p:txBody>
      </p:sp>
      <p:sp>
        <p:nvSpPr>
          <p:cNvPr id="6" name="title-third"/>
          <p:cNvSpPr txBox="1"/>
          <p:nvPr/>
        </p:nvSpPr>
        <p:spPr>
          <a:xfrm>
            <a:off x="1013460" y="2964180"/>
            <a:ext cx="6560820" cy="15468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8600" dirty="0" spc="0">
                <a:solidFill>
                  <a:srgbClr val="24232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yours.</a:t>
            </a:r>
            <a:endParaRPr lang="en-US" sz="8600" dirty="0" spc="0"/>
          </a:p>
        </p:txBody>
      </p:sp>
      <p:sp>
        <p:nvSpPr>
          <p:cNvPr id="7" name="closing-1"/>
          <p:cNvSpPr txBox="1"/>
          <p:nvPr/>
        </p:nvSpPr>
        <p:spPr>
          <a:xfrm>
            <a:off x="1066800" y="46939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Let the system widen the field.</a:t>
            </a:r>
            <a:endParaRPr lang="en-US" sz="1350" dirty="0" spc="0"/>
          </a:p>
        </p:txBody>
      </p:sp>
      <p:sp>
        <p:nvSpPr>
          <p:cNvPr id="8" name="closing-2"/>
          <p:cNvSpPr txBox="1"/>
          <p:nvPr/>
        </p:nvSpPr>
        <p:spPr>
          <a:xfrm>
            <a:off x="1066800" y="4960620"/>
            <a:ext cx="641604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what deserves to remain.</a:t>
            </a:r>
            <a:endParaRPr lang="en-US" sz="1350" dirty="0" spc="0"/>
          </a:p>
        </p:txBody>
      </p:sp>
      <p:sp>
        <p:nvSpPr>
          <p:cNvPr id="9" name="closing-3"/>
          <p:cNvSpPr txBox="1"/>
          <p:nvPr/>
        </p:nvSpPr>
        <p:spPr>
          <a:xfrm>
            <a:off x="1066800" y="5234940"/>
            <a:ext cx="6522720" cy="34290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350" dirty="0" spc="0">
                <a:solidFill>
                  <a:srgbClr val="24232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thinking system. A first-person responsibility.</a:t>
            </a:r>
            <a:endParaRPr lang="en-US" sz="1350" dirty="0" spc="0"/>
          </a:p>
        </p:txBody>
      </p:sp>
      <p:sp>
        <p:nvSpPr>
          <p:cNvPr id="10" name="folio"/>
          <p:cNvSpPr txBox="1"/>
          <p:nvPr/>
        </p:nvSpPr>
        <p:spPr>
          <a:xfrm>
            <a:off x="655320" y="6324600"/>
            <a:ext cx="2186940" cy="274320"/>
          </a:xfrm>
          <a:prstGeom prst="rect">
            <a:avLst/>
          </a:prstGeom>
          <a:noFill/>
          <a:ln/>
        </p:spPr>
        <p:txBody>
          <a:bodyPr wrap="square" lIns="14576" tIns="14576" rIns="14576" bIns="14576" rtlCol="0" anchor="t">
            <a:noAutofit/>
          </a:bodyPr>
          <a:lstStyle/>
          <a:p>
            <a:pPr algn="l" indent="0" marL="0">
              <a:lnSpc>
                <a:spcPct val="100000"/>
              </a:lnSpc>
              <a:buNone/>
              <a:defRPr spc="0"/>
            </a:pPr>
            <a:r>
              <a:rPr lang="en-US" sz="1200" dirty="0" spc="0">
                <a:solidFill>
                  <a:srgbClr val="242321"/>
                </a:solidFill>
                <a:latin typeface="Andale Mono" pitchFamily="34" charset="0"/>
                <a:ea typeface="Andale Mono" pitchFamily="34" charset="-122"/>
                <a:cs typeface="Andale Mono" pitchFamily="34" charset="-120"/>
              </a:rPr>
              <a:t>FIELD NOTES / 05</a:t>
            </a:r>
            <a:endParaRPr lang="en-US" sz="1200" dirty="0" spc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 second thinking system</dc:title>
  <dc:subject>Editable presentation generated from SlidePoise scene contracts</dc:subject>
  <dc:creator>SlidePoise</dc:creator>
  <cp:lastModifiedBy>SlidePoise</cp:lastModifiedBy>
  <cp:revision>1</cp:revision>
  <dcterms:created xsi:type="dcterms:W3CDTF">2026-09-08T10:56:42Z</dcterms:created>
  <dcterms:modified xsi:type="dcterms:W3CDTF">2026-09-08T10:56:42Z</dcterms:modified>
</cp:coreProperties>
</file>